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588" r:id="rId2"/>
    <p:sldId id="465" r:id="rId3"/>
    <p:sldId id="293" r:id="rId4"/>
    <p:sldId id="466" r:id="rId5"/>
    <p:sldId id="467" r:id="rId6"/>
    <p:sldId id="385" r:id="rId7"/>
    <p:sldId id="294" r:id="rId8"/>
    <p:sldId id="552" r:id="rId9"/>
    <p:sldId id="387" r:id="rId10"/>
    <p:sldId id="260" r:id="rId11"/>
    <p:sldId id="274" r:id="rId12"/>
    <p:sldId id="275" r:id="rId13"/>
    <p:sldId id="564" r:id="rId14"/>
    <p:sldId id="553" r:id="rId15"/>
    <p:sldId id="565" r:id="rId16"/>
    <p:sldId id="736" r:id="rId17"/>
    <p:sldId id="738" r:id="rId18"/>
    <p:sldId id="755" r:id="rId19"/>
    <p:sldId id="555" r:id="rId20"/>
    <p:sldId id="656" r:id="rId21"/>
    <p:sldId id="653" r:id="rId22"/>
    <p:sldId id="752" r:id="rId23"/>
    <p:sldId id="753" r:id="rId24"/>
    <p:sldId id="729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4644" autoAdjust="0"/>
  </p:normalViewPr>
  <p:slideViewPr>
    <p:cSldViewPr snapToGrid="0">
      <p:cViewPr varScale="1">
        <p:scale>
          <a:sx n="82" d="100"/>
          <a:sy n="82" d="100"/>
        </p:scale>
        <p:origin x="10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0ABC0E-CAFB-487B-B26A-7FCA82939F67}" type="datetimeFigureOut">
              <a:rPr lang="ko-KR" altLang="en-US" smtClean="0"/>
              <a:t>2025-09-06</a:t>
            </a:fld>
            <a:endParaRPr lang="ko-KR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ko-KR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C1F590-5CE5-40F2-B377-8F4A687C8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5891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562478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1F590-5CE5-40F2-B377-8F4A687C88BB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47538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1F590-5CE5-40F2-B377-8F4A687C88BB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4712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78F534-BE0B-4982-BEF8-48EE822C23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ko-KR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7D1C9CC-DA55-4FB1-A43C-12C2EDD4FC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ko-KR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3427E55-B8A5-4B18-9BA7-EB5505860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E3086-4A95-43E0-949B-7338784D31F5}" type="datetimeFigureOut">
              <a:rPr lang="ko-KR" altLang="en-US" smtClean="0"/>
              <a:t>2025-09-06</a:t>
            </a:fld>
            <a:endParaRPr lang="ko-KR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8A172F5-1EC4-478F-B45C-DED3415C3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2C67FED-F92E-403B-B5BC-53F9D3C25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6E651-933D-44EA-8EBE-FC58A0E791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1034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E437D1-6A1A-495E-94F3-AD9D753A6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ko-KR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00E54EF-F864-4E89-87AD-1B41FF1A6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ko-KR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BEF66A-F70B-47A3-9A21-EC915291E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E3086-4A95-43E0-949B-7338784D31F5}" type="datetimeFigureOut">
              <a:rPr lang="ko-KR" altLang="en-US" smtClean="0"/>
              <a:t>2025-09-06</a:t>
            </a:fld>
            <a:endParaRPr lang="ko-KR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F3C7FF5-04B9-4F24-96D7-C1D31A477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DE37498-22C1-4389-BC69-A48E7730D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6E651-933D-44EA-8EBE-FC58A0E791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2413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DEE576-D658-4CC1-BDA5-D678A6D7C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ko-KR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2CF2917-72FD-4166-AC49-D43EEDA13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EAC5D24-537A-4A4A-85CA-760036206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E3086-4A95-43E0-949B-7338784D31F5}" type="datetimeFigureOut">
              <a:rPr lang="ko-KR" altLang="en-US" smtClean="0"/>
              <a:t>2025-09-06</a:t>
            </a:fld>
            <a:endParaRPr lang="ko-KR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A663379-D200-46A1-9B19-434047BF9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BDA23A4-A3BB-4E33-9DEF-9F344F401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6E651-933D-44EA-8EBE-FC58A0E791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4736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C03F1A-FB01-4E35-8C82-B589A6B12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ko-KR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95A92A4-9065-4889-901F-4844088981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ko-KR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62929C7-FD80-44EF-994A-55BB7E699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ko-KR" altLang="en-US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66B6E8B-CCB6-42E1-96EF-7FF095438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E3086-4A95-43E0-949B-7338784D31F5}" type="datetimeFigureOut">
              <a:rPr lang="ko-KR" altLang="en-US" smtClean="0"/>
              <a:t>2025-09-06</a:t>
            </a:fld>
            <a:endParaRPr lang="ko-KR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8325ED0-1E91-424F-94A2-216DEB86D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D524947-BED8-4A94-9A4A-301ABF24D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6E651-933D-44EA-8EBE-FC58A0E791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9856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9EFC76-77CE-44DB-A9B4-944B12E31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ko-KR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2112378-E082-4F3B-A63C-B10FCCAF37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57BFB38-D9AD-45C7-9612-A259B9802B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ko-KR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BB0D5FE-0E48-4003-A7AD-8C5635E6B0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418EE45-CAA6-4DE2-9DAD-3BA3EDA05B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ko-KR" altLang="en-US"/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9FBA68A-D6D3-4CD3-9586-A6CCF9AE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E3086-4A95-43E0-949B-7338784D31F5}" type="datetimeFigureOut">
              <a:rPr lang="ko-KR" altLang="en-US" smtClean="0"/>
              <a:t>2025-09-06</a:t>
            </a:fld>
            <a:endParaRPr lang="ko-KR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CF40638-351E-441C-96E2-0CE83041A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D0A3F7C-B4CB-49FC-8AAD-A9C8B603B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6E651-933D-44EA-8EBE-FC58A0E791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0727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636A72-B475-40D5-B24C-B64643465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ko-KR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B9F9270-4E58-4035-9E1A-7CB8A3A10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E3086-4A95-43E0-949B-7338784D31F5}" type="datetimeFigureOut">
              <a:rPr lang="ko-KR" altLang="en-US" smtClean="0"/>
              <a:t>2025-09-06</a:t>
            </a:fld>
            <a:endParaRPr lang="ko-KR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65EE6E1-8C4D-4A92-9579-7906C7581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B93BF4E-610B-48D1-9608-2E750ECE8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6E651-933D-44EA-8EBE-FC58A0E791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8228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19CBE2C-0228-451A-A294-9AB483A88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E3086-4A95-43E0-949B-7338784D31F5}" type="datetimeFigureOut">
              <a:rPr lang="ko-KR" altLang="en-US" smtClean="0"/>
              <a:t>2025-09-06</a:t>
            </a:fld>
            <a:endParaRPr lang="ko-KR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C8BD4CC-4A47-4009-A318-EAD799E2B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F3F0AA4-667A-4159-8F08-C79A95C22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6E651-933D-44EA-8EBE-FC58A0E791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6260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AA2626-2F9A-4B48-AB01-332F009F2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ko-KR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1320611-B02E-4653-912C-0B3A4B243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ko-KR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42F8638-9392-43A0-8585-3054AC6C5A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5DD3854-99A8-4AC3-AEBC-60D7DE8F3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E3086-4A95-43E0-949B-7338784D31F5}" type="datetimeFigureOut">
              <a:rPr lang="ko-KR" altLang="en-US" smtClean="0"/>
              <a:t>2025-09-06</a:t>
            </a:fld>
            <a:endParaRPr lang="ko-KR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9943689-CC1B-4673-B0EB-0BDAB3788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0104942-4720-405B-BCDE-845F50FE4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6E651-933D-44EA-8EBE-FC58A0E791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658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D25095-39C2-4DEC-8B50-6A17F8DA3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ko-KR" altLang="en-US"/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7537EF7-DDB2-4C86-9AAC-71B7BB9F89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E74FFA8-BCD5-4410-ABBD-ED27D03261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44544BF-F986-4F49-948C-1F54C4F70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E3086-4A95-43E0-949B-7338784D31F5}" type="datetimeFigureOut">
              <a:rPr lang="ko-KR" altLang="en-US" smtClean="0"/>
              <a:t>2025-09-06</a:t>
            </a:fld>
            <a:endParaRPr lang="ko-KR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3BE7E1A-DFF0-4C0A-A89A-21C01D628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B60A67B-EAEE-4D14-AAA5-408E6155A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6E651-933D-44EA-8EBE-FC58A0E791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7844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A4CAB3-9172-4F99-8A0E-B7633AAEE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ko-KR" altLang="en-US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CE199FA-4A7C-46E2-BA15-91EFC8D857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ko-KR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96B3B27-8509-4730-90D1-E43CC4100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E3086-4A95-43E0-949B-7338784D31F5}" type="datetimeFigureOut">
              <a:rPr lang="ko-KR" altLang="en-US" smtClean="0"/>
              <a:t>2025-09-06</a:t>
            </a:fld>
            <a:endParaRPr lang="ko-KR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5576095-5FEE-42B2-AD23-35F167CD5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1EA0204-3E7B-485B-B408-82AB8165E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6E651-933D-44EA-8EBE-FC58A0E791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2728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8F0CFB0-9A78-4807-9964-08A674AF2E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ko-KR" altLang="en-US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7C8568C-6BC5-44B2-98B0-E6E0AE80FE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ko-KR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5711F59-3A19-4C6D-AD07-CFF37C86D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E3086-4A95-43E0-949B-7338784D31F5}" type="datetimeFigureOut">
              <a:rPr lang="ko-KR" altLang="en-US" smtClean="0"/>
              <a:t>2025-09-06</a:t>
            </a:fld>
            <a:endParaRPr lang="ko-KR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43BFB67-5CB7-4D4B-BFA5-9C717DF70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F423773-4BBC-449F-A697-0C9B5FBCE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6E651-933D-44EA-8EBE-FC58A0E791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6594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8F434FB-F625-4A47-AC6C-00B864F33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ko-KR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F16A75F-4DBD-4A19-A04F-34E105429D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ko-KR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2B2BCED-3DA9-4B1C-A4C6-A9AFE6C58C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8E3086-4A95-43E0-949B-7338784D31F5}" type="datetimeFigureOut">
              <a:rPr lang="ko-KR" altLang="en-US" smtClean="0"/>
              <a:t>2025-09-06</a:t>
            </a:fld>
            <a:endParaRPr lang="ko-KR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6EBFB11-3A8B-4F6F-81EB-D0405B501E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B310092-1AF3-4574-819D-A84D7934F7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06E651-933D-44EA-8EBE-FC58A0E791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0981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kyobobook.co.kr/product/detailViewKor.laf?mallGb=KOR&amp;ejkGb=KOR&amp;barcode=9788968669552" TargetMode="Externa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5" Type="http://schemas.openxmlformats.org/officeDocument/2006/relationships/hyperlink" Target="http://www.kyobobook.co.kr/product/detailViewKor.laf?ejkGb=KOR&amp;mallGb=KOR&amp;barcode=9791190123952&amp;orderClick=LEa&amp;Kc=" TargetMode="External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search.kyobobook.co.kr/search?keyword=%EB%B0%95%EC%9C%A0%EA%B2%BD&amp;chrcCode=1115264913" TargetMode="External"/><Relationship Id="rId3" Type="http://schemas.openxmlformats.org/officeDocument/2006/relationships/hyperlink" Target="http://www.kyobobook.co.kr/product/detailViewKor.laf?mallGb=KOR&amp;ejkGb=KOR&amp;barcode=9788968669552" TargetMode="External"/><Relationship Id="rId7" Type="http://schemas.openxmlformats.org/officeDocument/2006/relationships/hyperlink" Target="https://search.kyobobook.co.kr/search?keyword=%EB%9D%BC%EC%84%A0%EC%95%84&amp;chrcCode=1115248701" TargetMode="Externa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hyperlink" Target="http://www.kyobobook.co.kr/product/detailViewKor.laf?ejkGb=KOR&amp;mallGb=KOR&amp;barcode=9791190123952&amp;orderClick=LEa&amp;Kc=" TargetMode="External"/><Relationship Id="rId4" Type="http://schemas.openxmlformats.org/officeDocument/2006/relationships/image" Target="../media/image9.jpeg"/><Relationship Id="rId9" Type="http://schemas.openxmlformats.org/officeDocument/2006/relationships/hyperlink" Target="https://search.kyobobook.co.kr/search?keyword=%ED%95%9C%EA%B5%AD%EB%B0%A9%EC%86%A1%ED%86%B5%EC%8B%A0%EB%8C%80%ED%95%99%EA%B5%90%EC%B6%9C%ED%8C%90%EB%AC%B8%ED%99%94%EC%9B%90&amp;pbcmCode=PB07439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kyobobook.co.kr/product/detailViewKor.laf?ejkGb=KOR&amp;mallGb=KOR&amp;barcode=9791190123952&amp;orderClick=LEa&amp;Kc=" TargetMode="Externa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7.xml"/><Relationship Id="rId5" Type="http://schemas.openxmlformats.org/officeDocument/2006/relationships/hyperlink" Target="http://www.kyobobook.co.kr/product/detailViewKor.laf?ejkGb=KOR&amp;mallGb=KOR&amp;barcode=9791190123952&amp;orderClick=LEa&amp;Kc=" TargetMode="External"/><Relationship Id="rId4" Type="http://schemas.openxmlformats.org/officeDocument/2006/relationships/image" Target="../media/image9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D5A16902-CF67-4DD7-9D2F-3D2781472974}"/>
              </a:ext>
            </a:extLst>
          </p:cNvPr>
          <p:cNvSpPr/>
          <p:nvPr/>
        </p:nvSpPr>
        <p:spPr>
          <a:xfrm>
            <a:off x="0" y="34531"/>
            <a:ext cx="12192000" cy="7021002"/>
          </a:xfrm>
          <a:prstGeom prst="rect">
            <a:avLst/>
          </a:prstGeom>
          <a:solidFill>
            <a:srgbClr val="6C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DCCE82-A10B-40D8-86F8-A0054CEE805E}"/>
              </a:ext>
            </a:extLst>
          </p:cNvPr>
          <p:cNvSpPr txBox="1"/>
          <p:nvPr/>
        </p:nvSpPr>
        <p:spPr>
          <a:xfrm>
            <a:off x="3118550" y="1363529"/>
            <a:ext cx="5689695" cy="11835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ko-KR" altLang="en-US" sz="5400" b="1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시니어창업연구</a:t>
            </a:r>
            <a:endParaRPr lang="en-US" altLang="ko-KR" sz="5400" b="1" kern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사각형: 둥근 모서리 28">
            <a:extLst>
              <a:ext uri="{FF2B5EF4-FFF2-40B4-BE49-F238E27FC236}">
                <a16:creationId xmlns:a16="http://schemas.microsoft.com/office/drawing/2014/main" id="{C308A976-B055-4431-AAAE-1AA83F027693}"/>
              </a:ext>
            </a:extLst>
          </p:cNvPr>
          <p:cNvSpPr/>
          <p:nvPr/>
        </p:nvSpPr>
        <p:spPr>
          <a:xfrm>
            <a:off x="830529" y="693589"/>
            <a:ext cx="1298654" cy="20755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algn="ctr">
              <a:lnSpc>
                <a:spcPct val="85000"/>
              </a:lnSpc>
            </a:pPr>
            <a:r>
              <a:rPr lang="en-US" altLang="ko-KR" sz="1400" spc="-8" dirty="0">
                <a:solidFill>
                  <a:srgbClr val="00508F"/>
                </a:solidFill>
                <a:latin typeface="+mj-ea"/>
              </a:rPr>
              <a:t>2025. 09. 06</a:t>
            </a:r>
            <a:endParaRPr lang="ko-KR" altLang="en-US" sz="1400" spc="-8" dirty="0">
              <a:solidFill>
                <a:srgbClr val="00508F"/>
              </a:solidFill>
              <a:latin typeface="+mj-ea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BE54098A-7A57-4677-BE9D-91A0A79FCE0A}"/>
              </a:ext>
            </a:extLst>
          </p:cNvPr>
          <p:cNvSpPr txBox="1">
            <a:spLocks/>
          </p:cNvSpPr>
          <p:nvPr/>
        </p:nvSpPr>
        <p:spPr>
          <a:xfrm>
            <a:off x="3118550" y="3537944"/>
            <a:ext cx="3238765" cy="683144"/>
          </a:xfrm>
          <a:prstGeom prst="rect">
            <a:avLst/>
          </a:prstGeom>
        </p:spPr>
        <p:txBody>
          <a:bodyPr vert="horz" lIns="74295" tIns="37148" rIns="74295" bIns="37148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1138" spc="-4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6D546B2D-F320-4DA8-86F5-F402784456CF}"/>
              </a:ext>
            </a:extLst>
          </p:cNvPr>
          <p:cNvSpPr txBox="1">
            <a:spLocks/>
          </p:cNvSpPr>
          <p:nvPr/>
        </p:nvSpPr>
        <p:spPr>
          <a:xfrm>
            <a:off x="4158191" y="4101687"/>
            <a:ext cx="3238765" cy="375780"/>
          </a:xfrm>
          <a:prstGeom prst="rect">
            <a:avLst/>
          </a:prstGeom>
        </p:spPr>
        <p:txBody>
          <a:bodyPr vert="horz" lIns="74295" tIns="37148" rIns="74295" bIns="37148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400" spc="-8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담당 교수 </a:t>
            </a:r>
            <a:r>
              <a:rPr lang="en-US" altLang="ko-KR" sz="2400" spc="-8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2400" spc="-8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박흥진</a:t>
            </a:r>
            <a:endParaRPr lang="ko-KR" altLang="en-US" sz="2400" spc="-4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D76FF242-BD9F-4336-AEA0-96993767A7FB}"/>
              </a:ext>
            </a:extLst>
          </p:cNvPr>
          <p:cNvSpPr txBox="1">
            <a:spLocks/>
          </p:cNvSpPr>
          <p:nvPr/>
        </p:nvSpPr>
        <p:spPr>
          <a:xfrm>
            <a:off x="7653425" y="4101687"/>
            <a:ext cx="4282105" cy="2522141"/>
          </a:xfrm>
          <a:prstGeom prst="rect">
            <a:avLst/>
          </a:prstGeom>
        </p:spPr>
        <p:txBody>
          <a:bodyPr vert="horz" lIns="74295" tIns="37148" rIns="74295" bIns="37148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00000"/>
              </a:lnSpc>
            </a:pPr>
            <a:r>
              <a:rPr lang="ko-KR" altLang="en-US" sz="2681" b="1" spc="-244" dirty="0">
                <a:solidFill>
                  <a:schemeClr val="bg1"/>
                </a:solidFill>
                <a:latin typeface="+mn-ea"/>
                <a:ea typeface="+mn-ea"/>
              </a:rPr>
              <a:t>세종대학교 공공정책대학원 </a:t>
            </a:r>
            <a:endParaRPr lang="en-US" altLang="ko-KR" sz="2681" b="1" spc="-244" dirty="0">
              <a:solidFill>
                <a:schemeClr val="bg1"/>
              </a:solidFill>
              <a:latin typeface="+mn-ea"/>
              <a:ea typeface="+mn-ea"/>
            </a:endParaRPr>
          </a:p>
          <a:p>
            <a:pPr algn="r">
              <a:lnSpc>
                <a:spcPct val="100000"/>
              </a:lnSpc>
            </a:pPr>
            <a:r>
              <a:rPr lang="ko-KR" altLang="en-US" sz="2681" b="1" spc="-244" dirty="0">
                <a:solidFill>
                  <a:schemeClr val="bg1"/>
                </a:solidFill>
                <a:latin typeface="+mn-ea"/>
                <a:ea typeface="+mn-ea"/>
              </a:rPr>
              <a:t>시니어창업 학과</a:t>
            </a:r>
            <a:endParaRPr lang="en-US" altLang="ko-KR" sz="2681" b="1" spc="-244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E69FE2C-1746-4740-961B-A10D40E353E0}"/>
              </a:ext>
            </a:extLst>
          </p:cNvPr>
          <p:cNvSpPr/>
          <p:nvPr/>
        </p:nvSpPr>
        <p:spPr>
          <a:xfrm>
            <a:off x="4008952" y="2971686"/>
            <a:ext cx="42821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마케팅관리</a:t>
            </a:r>
            <a:r>
              <a:rPr lang="en-US" altLang="ko-KR" sz="24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1.  </a:t>
            </a:r>
            <a:r>
              <a:rPr lang="ko-KR" altLang="en-US" sz="24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마케팅 개관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FB8EEE6-A9C7-522B-F696-9F2D3751B6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8334" y="292234"/>
            <a:ext cx="1191208" cy="36274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F7FE94B4-D369-563C-FA3F-8C7F54D63F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185" y="5736817"/>
            <a:ext cx="1714754" cy="85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566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1513681" y="2159422"/>
            <a:ext cx="9164638" cy="2539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lnSpc>
                <a:spcPct val="150000"/>
              </a:lnSpc>
              <a:defRPr/>
            </a:pPr>
            <a:r>
              <a:rPr lang="ko-KR" altLang="en-US" sz="1600" dirty="0">
                <a:solidFill>
                  <a:srgbClr val="33352F"/>
                </a:solidFill>
                <a:latin typeface="+mj-lt"/>
                <a:cs typeface="Arial" panose="020B0604020202020204" pitchFamily="34" charset="0"/>
              </a:rPr>
              <a:t>수업 콘텐츠 및 학습자료는 개인 </a:t>
            </a:r>
            <a:r>
              <a:rPr lang="en-US" altLang="ko-KR" sz="1600" dirty="0">
                <a:solidFill>
                  <a:srgbClr val="33352F"/>
                </a:solidFill>
                <a:latin typeface="+mj-lt"/>
                <a:cs typeface="Arial" panose="020B0604020202020204" pitchFamily="34" charset="0"/>
              </a:rPr>
              <a:t>SNS </a:t>
            </a:r>
            <a:r>
              <a:rPr lang="ko-KR" altLang="en-US" sz="1600" dirty="0">
                <a:solidFill>
                  <a:srgbClr val="33352F"/>
                </a:solidFill>
                <a:latin typeface="+mj-lt"/>
                <a:cs typeface="Arial" panose="020B0604020202020204" pitchFamily="34" charset="0"/>
              </a:rPr>
              <a:t>및 동영상 채널에 </a:t>
            </a:r>
            <a:endParaRPr lang="en-US" altLang="ko-KR" sz="1600" dirty="0">
              <a:solidFill>
                <a:srgbClr val="33352F"/>
              </a:solidFill>
              <a:latin typeface="+mj-lt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1600" b="1" dirty="0">
                <a:solidFill>
                  <a:schemeClr val="tx2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공유 및 업로드를 금지하며 수업자료에 대한 재편집 또는 </a:t>
            </a:r>
            <a:endParaRPr lang="en-US" altLang="ko-KR" sz="1600" b="1" dirty="0">
              <a:solidFill>
                <a:schemeClr val="tx2">
                  <a:lumMod val="50000"/>
                </a:schemeClr>
              </a:solidFill>
              <a:latin typeface="+mj-lt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1600" b="1" dirty="0">
                <a:solidFill>
                  <a:schemeClr val="tx2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동영상 </a:t>
            </a:r>
            <a:r>
              <a:rPr lang="en-US" altLang="ko-KR" sz="1600" b="1" dirty="0">
                <a:solidFill>
                  <a:schemeClr val="tx2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2</a:t>
            </a:r>
            <a:r>
              <a:rPr lang="ko-KR" altLang="en-US" sz="1600" b="1" dirty="0">
                <a:solidFill>
                  <a:schemeClr val="tx2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차 생산과 공유를 금지</a:t>
            </a:r>
            <a:r>
              <a:rPr lang="ko-KR" altLang="en-US" sz="1600" dirty="0">
                <a:solidFill>
                  <a:schemeClr val="tx2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합니다</a:t>
            </a:r>
            <a:r>
              <a:rPr lang="en-US" altLang="ko-KR" sz="1600" dirty="0">
                <a:solidFill>
                  <a:schemeClr val="tx2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. </a:t>
            </a:r>
          </a:p>
          <a:p>
            <a:pPr algn="ctr">
              <a:lnSpc>
                <a:spcPct val="150000"/>
              </a:lnSpc>
              <a:defRPr/>
            </a:pPr>
            <a:endParaRPr lang="en-US" altLang="ko-KR" sz="1600" dirty="0">
              <a:solidFill>
                <a:schemeClr val="tx2">
                  <a:lumMod val="50000"/>
                </a:schemeClr>
              </a:solidFill>
              <a:latin typeface="+mj-lt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1400" dirty="0">
                <a:solidFill>
                  <a:srgbClr val="33352F"/>
                </a:solidFill>
                <a:cs typeface="Arial" panose="020B0604020202020204" pitchFamily="34" charset="0"/>
              </a:rPr>
              <a:t>본 </a:t>
            </a:r>
            <a:r>
              <a:rPr lang="ko-KR" altLang="en-US" sz="1400" dirty="0" err="1">
                <a:solidFill>
                  <a:srgbClr val="33352F"/>
                </a:solidFill>
                <a:cs typeface="Arial" panose="020B0604020202020204" pitchFamily="34" charset="0"/>
              </a:rPr>
              <a:t>콘텐츠의</a:t>
            </a:r>
            <a:r>
              <a:rPr lang="ko-KR" altLang="en-US" sz="1400" dirty="0">
                <a:solidFill>
                  <a:srgbClr val="33352F"/>
                </a:solidFill>
                <a:cs typeface="Arial" panose="020B0604020202020204" pitchFamily="34" charset="0"/>
              </a:rPr>
              <a:t> 저작권은 담당교수에게 있으며</a:t>
            </a:r>
            <a:r>
              <a:rPr lang="en-US" altLang="ko-KR" sz="1400" dirty="0">
                <a:solidFill>
                  <a:srgbClr val="33352F"/>
                </a:solidFill>
                <a:cs typeface="Arial" panose="020B0604020202020204" pitchFamily="34" charset="0"/>
              </a:rPr>
              <a:t>,</a:t>
            </a:r>
          </a:p>
          <a:p>
            <a:pPr algn="ctr">
              <a:lnSpc>
                <a:spcPct val="150000"/>
              </a:lnSpc>
              <a:defRPr/>
            </a:pPr>
            <a:r>
              <a:rPr lang="ko-KR" altLang="en-US" sz="1400" dirty="0">
                <a:solidFill>
                  <a:srgbClr val="33352F"/>
                </a:solidFill>
                <a:cs typeface="Arial" panose="020B0604020202020204" pitchFamily="34" charset="0"/>
              </a:rPr>
              <a:t>상업적 용도로 판매하거나 불법 다운로드 하는 등의 경우에는</a:t>
            </a:r>
            <a:r>
              <a:rPr lang="en-US" altLang="ko-KR" sz="1400" dirty="0">
                <a:solidFill>
                  <a:srgbClr val="33352F"/>
                </a:solidFill>
                <a:cs typeface="Arial" panose="020B0604020202020204" pitchFamily="34" charset="0"/>
              </a:rPr>
              <a:t> </a:t>
            </a:r>
          </a:p>
          <a:p>
            <a:pPr algn="ctr">
              <a:lnSpc>
                <a:spcPct val="150000"/>
              </a:lnSpc>
              <a:defRPr/>
            </a:pPr>
            <a:r>
              <a:rPr lang="ko-KR" altLang="en-US" sz="1400" dirty="0">
                <a:solidFill>
                  <a:srgbClr val="33352F"/>
                </a:solidFill>
                <a:cs typeface="Arial" panose="020B0604020202020204" pitchFamily="34" charset="0"/>
              </a:rPr>
              <a:t>저작권법에 따라 법적 책임을 질 수 있습니다</a:t>
            </a:r>
            <a:r>
              <a:rPr lang="en-US" altLang="ko-KR" sz="1400" dirty="0">
                <a:solidFill>
                  <a:srgbClr val="33352F"/>
                </a:solidFill>
                <a:cs typeface="Arial" panose="020B0604020202020204" pitchFamily="34" charset="0"/>
              </a:rPr>
              <a:t>.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50" t="41605" r="4577" b="41975"/>
          <a:stretch/>
        </p:blipFill>
        <p:spPr>
          <a:xfrm>
            <a:off x="10864735" y="329420"/>
            <a:ext cx="960867" cy="248146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184AFDF-FD30-417A-A590-82CC4F1C35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72207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F6AA6B2-6183-4738-8678-7A7A0DC3667B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CA45805-15AE-4842-A90D-538922C07B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8334" y="292234"/>
            <a:ext cx="1191208" cy="362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342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41"/>
    </mc:Choice>
    <mc:Fallback xmlns="">
      <p:transition spd="slow" advTm="1004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순서도: 처리 18"/>
          <p:cNvSpPr/>
          <p:nvPr/>
        </p:nvSpPr>
        <p:spPr>
          <a:xfrm>
            <a:off x="4562822" y="1870103"/>
            <a:ext cx="7629178" cy="3583046"/>
          </a:xfrm>
          <a:prstGeom prst="flowChartProcess">
            <a:avLst/>
          </a:prstGeom>
          <a:solidFill>
            <a:schemeClr val="bg1"/>
          </a:solidFill>
          <a:ln>
            <a:noFill/>
          </a:ln>
          <a:effectLst>
            <a:outerShdw blurRad="304800" algn="ctr" rotWithShape="0">
              <a:schemeClr val="bg1">
                <a:lumMod val="50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1381879" y="1248432"/>
            <a:ext cx="3500421" cy="677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3400" b="1" spc="-300" dirty="0">
                <a:solidFill>
                  <a:srgbClr val="33352F"/>
                </a:solidFill>
              </a:rPr>
              <a:t>목차</a:t>
            </a:r>
            <a:endParaRPr lang="ko-KR" altLang="en-US" sz="3400" spc="-3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41413" y="4691087"/>
            <a:ext cx="449718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7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제</a:t>
            </a:r>
            <a:r>
              <a:rPr lang="en-US" altLang="ko-KR" sz="17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</a:t>
            </a:r>
            <a:r>
              <a:rPr lang="ko-KR" altLang="en-US" sz="17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강</a:t>
            </a:r>
            <a:r>
              <a:rPr lang="en-US" altLang="ko-KR" sz="17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_</a:t>
            </a:r>
            <a:r>
              <a:rPr lang="ko-KR" altLang="en-US" sz="17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마케팅의 정의 및 마케팅 프로세스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5201151" y="2158327"/>
            <a:ext cx="780638" cy="780638"/>
            <a:chOff x="5321305" y="1271138"/>
            <a:chExt cx="1022416" cy="1022416"/>
          </a:xfrm>
          <a:solidFill>
            <a:schemeClr val="bg2">
              <a:lumMod val="75000"/>
            </a:schemeClr>
          </a:solidFill>
        </p:grpSpPr>
        <p:sp>
          <p:nvSpPr>
            <p:cNvPr id="6" name="순서도: 연결자 5"/>
            <p:cNvSpPr/>
            <p:nvPr/>
          </p:nvSpPr>
          <p:spPr>
            <a:xfrm>
              <a:off x="5321305" y="1271138"/>
              <a:ext cx="1022416" cy="1022416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95018" y="1459003"/>
              <a:ext cx="646686" cy="646686"/>
            </a:xfrm>
            <a:prstGeom prst="rect">
              <a:avLst/>
            </a:prstGeom>
            <a:grpFill/>
          </p:spPr>
        </p:pic>
      </p:grpSp>
      <p:grpSp>
        <p:nvGrpSpPr>
          <p:cNvPr id="10" name="그룹 9"/>
          <p:cNvGrpSpPr/>
          <p:nvPr/>
        </p:nvGrpSpPr>
        <p:grpSpPr>
          <a:xfrm>
            <a:off x="5190346" y="3313053"/>
            <a:ext cx="780638" cy="780638"/>
            <a:chOff x="5321305" y="2956925"/>
            <a:chExt cx="1022416" cy="1022416"/>
          </a:xfrm>
          <a:solidFill>
            <a:schemeClr val="bg2">
              <a:lumMod val="75000"/>
            </a:schemeClr>
          </a:solidFill>
        </p:grpSpPr>
        <p:sp>
          <p:nvSpPr>
            <p:cNvPr id="24" name="순서도: 연결자 23"/>
            <p:cNvSpPr/>
            <p:nvPr/>
          </p:nvSpPr>
          <p:spPr>
            <a:xfrm>
              <a:off x="5321305" y="2956925"/>
              <a:ext cx="1022416" cy="1022416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06659" y="3147074"/>
              <a:ext cx="646686" cy="646686"/>
            </a:xfrm>
            <a:prstGeom prst="rect">
              <a:avLst/>
            </a:prstGeom>
            <a:grpFill/>
          </p:spPr>
        </p:pic>
      </p:grpSp>
      <p:grpSp>
        <p:nvGrpSpPr>
          <p:cNvPr id="11" name="그룹 10"/>
          <p:cNvGrpSpPr/>
          <p:nvPr/>
        </p:nvGrpSpPr>
        <p:grpSpPr>
          <a:xfrm>
            <a:off x="5201151" y="4462201"/>
            <a:ext cx="780638" cy="780638"/>
            <a:chOff x="5321304" y="4681334"/>
            <a:chExt cx="1022416" cy="1022416"/>
          </a:xfrm>
          <a:solidFill>
            <a:schemeClr val="bg2">
              <a:lumMod val="75000"/>
            </a:schemeClr>
          </a:solidFill>
        </p:grpSpPr>
        <p:sp>
          <p:nvSpPr>
            <p:cNvPr id="28" name="순서도: 연결자 27"/>
            <p:cNvSpPr/>
            <p:nvPr/>
          </p:nvSpPr>
          <p:spPr>
            <a:xfrm>
              <a:off x="5321304" y="4681334"/>
              <a:ext cx="1022416" cy="1022416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06659" y="4885825"/>
              <a:ext cx="646686" cy="646686"/>
            </a:xfrm>
            <a:prstGeom prst="rect">
              <a:avLst/>
            </a:prstGeom>
            <a:grpFill/>
          </p:spPr>
        </p:pic>
      </p:grpSp>
      <p:sp>
        <p:nvSpPr>
          <p:cNvPr id="23" name="TextBox 22"/>
          <p:cNvSpPr txBox="1"/>
          <p:nvPr/>
        </p:nvSpPr>
        <p:spPr>
          <a:xfrm>
            <a:off x="6441413" y="3526400"/>
            <a:ext cx="449718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7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시니어창업연구</a:t>
            </a:r>
            <a:r>
              <a:rPr lang="en-US" altLang="ko-KR" sz="17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_</a:t>
            </a:r>
            <a:r>
              <a:rPr lang="ko-KR" altLang="en-US" sz="17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강의소개</a:t>
            </a:r>
            <a:endParaRPr lang="en-US" altLang="ko-KR" sz="17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41413" y="2376020"/>
            <a:ext cx="449718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7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인사</a:t>
            </a:r>
          </a:p>
        </p:txBody>
      </p:sp>
      <p:sp>
        <p:nvSpPr>
          <p:cNvPr id="18" name="직사각형 17"/>
          <p:cNvSpPr/>
          <p:nvPr/>
        </p:nvSpPr>
        <p:spPr>
          <a:xfrm rot="5400000">
            <a:off x="-3017520" y="3017520"/>
            <a:ext cx="6858000" cy="82296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50" t="41605" r="4577" b="41975"/>
          <a:stretch/>
        </p:blipFill>
        <p:spPr>
          <a:xfrm>
            <a:off x="10864735" y="329420"/>
            <a:ext cx="960867" cy="248146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3D62DC8-3513-4F58-8619-71266BBBFF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72207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F6AA6B2-6183-4738-8678-7A7A0DC3667B}" type="slidenum">
              <a:rPr lang="ko-KR" altLang="en-US" smtClean="0"/>
              <a:pPr/>
              <a:t>3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AEB6D90E-FEDA-44BF-9364-BFD64A1061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78334" y="292234"/>
            <a:ext cx="1191208" cy="362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070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622"/>
    </mc:Choice>
    <mc:Fallback xmlns="">
      <p:transition spd="slow" advTm="25622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50" t="41605" r="4577" b="41975"/>
          <a:stretch/>
        </p:blipFill>
        <p:spPr>
          <a:xfrm>
            <a:off x="10662231" y="331304"/>
            <a:ext cx="1196621" cy="30903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88451" y="1194703"/>
            <a:ext cx="1935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spc="500" dirty="0">
                <a:solidFill>
                  <a:schemeClr val="tx2">
                    <a:lumMod val="75000"/>
                  </a:schemeClr>
                </a:solidFill>
              </a:rPr>
              <a:t>CONTENTS</a:t>
            </a:r>
            <a:endParaRPr lang="ko-KR" altLang="en-US" sz="1400" b="1" spc="5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421124" y="2110708"/>
            <a:ext cx="2581348" cy="3906981"/>
          </a:xfrm>
          <a:prstGeom prst="roundRect">
            <a:avLst>
              <a:gd name="adj" fmla="val 449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1072466" y="2186286"/>
            <a:ext cx="1351875" cy="12475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6600" spc="300" dirty="0">
                <a:solidFill>
                  <a:srgbClr val="3D3D3D"/>
                </a:solidFill>
                <a:latin typeface="Elephant" panose="02020904090505020303" pitchFamily="18" charset="0"/>
                <a:ea typeface="+mj-ea"/>
              </a:rPr>
              <a:t>01</a:t>
            </a:r>
            <a:endParaRPr lang="en-US" altLang="ko-KR" sz="4600" spc="300" dirty="0">
              <a:solidFill>
                <a:srgbClr val="3D3D3D"/>
              </a:solidFill>
              <a:latin typeface="Elephant" panose="02020904090505020303" pitchFamily="18" charset="0"/>
              <a:ea typeface="+mj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536345" y="3649590"/>
            <a:ext cx="2409499" cy="448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ko-KR" altLang="en-US" sz="2000" b="1" spc="-150" dirty="0">
                <a:solidFill>
                  <a:srgbClr val="33352F"/>
                </a:solidFill>
                <a:latin typeface="+mn-ea"/>
              </a:rPr>
              <a:t>인사</a:t>
            </a:r>
            <a:endParaRPr lang="ko-KR" altLang="en-US" sz="2000" b="1" dirty="0"/>
          </a:p>
        </p:txBody>
      </p:sp>
      <p:sp>
        <p:nvSpPr>
          <p:cNvPr id="40" name="모서리가 둥근 직사각형 39"/>
          <p:cNvSpPr/>
          <p:nvPr/>
        </p:nvSpPr>
        <p:spPr>
          <a:xfrm>
            <a:off x="3256973" y="2110708"/>
            <a:ext cx="2581348" cy="3906981"/>
          </a:xfrm>
          <a:prstGeom prst="roundRect">
            <a:avLst>
              <a:gd name="adj" fmla="val 4495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/>
          <p:cNvSpPr txBox="1"/>
          <p:nvPr/>
        </p:nvSpPr>
        <p:spPr>
          <a:xfrm>
            <a:off x="3849171" y="2177903"/>
            <a:ext cx="1523849" cy="12475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6600" spc="300" dirty="0">
                <a:solidFill>
                  <a:schemeClr val="tx2">
                    <a:lumMod val="75000"/>
                  </a:schemeClr>
                </a:solidFill>
                <a:latin typeface="Elephant" panose="02020904090505020303" pitchFamily="18" charset="0"/>
                <a:ea typeface="+mj-ea"/>
              </a:rPr>
              <a:t>02</a:t>
            </a:r>
            <a:endParaRPr lang="en-US" altLang="ko-KR" sz="4600" spc="300" dirty="0">
              <a:solidFill>
                <a:schemeClr val="tx2">
                  <a:lumMod val="75000"/>
                </a:schemeClr>
              </a:solidFill>
              <a:latin typeface="Elephant" panose="02020904090505020303" pitchFamily="18" charset="0"/>
              <a:ea typeface="+mj-ea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3444501" y="3425424"/>
            <a:ext cx="2409499" cy="448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ko-KR" altLang="en-US" sz="2000" b="1" spc="-15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강좌소개</a:t>
            </a:r>
            <a:r>
              <a:rPr lang="en-US" altLang="ko-KR" sz="2000" b="1" dirty="0">
                <a:solidFill>
                  <a:schemeClr val="tx2">
                    <a:lumMod val="75000"/>
                  </a:schemeClr>
                </a:solidFill>
              </a:rPr>
              <a:t>.</a:t>
            </a:r>
            <a:endParaRPr lang="ko-KR" altLang="en-US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3275276" y="4097918"/>
            <a:ext cx="2581348" cy="15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b="1" spc="-8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강의 목표</a:t>
            </a:r>
            <a:endParaRPr lang="en-US" altLang="ko-KR" sz="1600" b="1" spc="-8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b="1" spc="-8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교재</a:t>
            </a:r>
            <a:r>
              <a:rPr lang="en-US" altLang="ko-KR" sz="1600" b="1" spc="-8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_ </a:t>
            </a:r>
            <a:r>
              <a:rPr lang="ko-KR" altLang="en-US" sz="1600" b="1" spc="-8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책</a:t>
            </a:r>
            <a:r>
              <a:rPr lang="en-US" altLang="ko-KR" sz="1600" b="1" spc="-8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_</a:t>
            </a:r>
            <a:r>
              <a:rPr lang="ko-KR" altLang="en-US" sz="1600" b="1" spc="-8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논문</a:t>
            </a:r>
            <a:r>
              <a:rPr lang="en-US" altLang="ko-KR" sz="1600" b="1" spc="-8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_</a:t>
            </a:r>
            <a:r>
              <a:rPr lang="ko-KR" altLang="en-US" sz="1600" b="1" spc="-8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기타자료</a:t>
            </a:r>
            <a:r>
              <a:rPr lang="en-US" altLang="ko-KR" sz="1600" b="1" spc="-8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b="1" spc="-8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과제</a:t>
            </a:r>
            <a:r>
              <a:rPr lang="en-US" altLang="ko-KR" sz="1600" b="1" spc="-8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b="1" spc="-8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시험</a:t>
            </a:r>
            <a:endParaRPr lang="en-US" altLang="ko-KR" sz="1600" b="1" spc="-8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52" name="모서리가 둥근 직사각형 51"/>
          <p:cNvSpPr/>
          <p:nvPr/>
        </p:nvSpPr>
        <p:spPr>
          <a:xfrm>
            <a:off x="6117838" y="2110708"/>
            <a:ext cx="2930858" cy="3906981"/>
          </a:xfrm>
          <a:prstGeom prst="roundRect">
            <a:avLst>
              <a:gd name="adj" fmla="val 449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/>
          <p:cNvSpPr txBox="1"/>
          <p:nvPr/>
        </p:nvSpPr>
        <p:spPr>
          <a:xfrm>
            <a:off x="6786059" y="2186285"/>
            <a:ext cx="1518280" cy="12475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6600" spc="300" dirty="0">
                <a:solidFill>
                  <a:srgbClr val="3D3D3D"/>
                </a:solidFill>
                <a:latin typeface="Elephant" panose="02020904090505020303" pitchFamily="18" charset="0"/>
                <a:ea typeface="+mj-ea"/>
              </a:rPr>
              <a:t>03</a:t>
            </a:r>
            <a:endParaRPr lang="en-US" altLang="ko-KR" sz="4600" spc="300" dirty="0">
              <a:solidFill>
                <a:srgbClr val="3D3D3D"/>
              </a:solidFill>
              <a:latin typeface="Elephant" panose="02020904090505020303" pitchFamily="18" charset="0"/>
              <a:ea typeface="+mj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6430519" y="3425424"/>
            <a:ext cx="2409499" cy="448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ko-KR" altLang="en-US" sz="2000" b="1" spc="-150" dirty="0">
                <a:solidFill>
                  <a:srgbClr val="33352F"/>
                </a:solidFill>
                <a:latin typeface="+mn-ea"/>
              </a:rPr>
              <a:t>강의계획서</a:t>
            </a:r>
            <a:r>
              <a:rPr lang="en-US" altLang="ko-KR" sz="2000" b="1" dirty="0"/>
              <a:t>.</a:t>
            </a:r>
            <a:endParaRPr lang="ko-KR" altLang="en-US" sz="2000" b="1" dirty="0"/>
          </a:p>
        </p:txBody>
      </p:sp>
      <p:sp>
        <p:nvSpPr>
          <p:cNvPr id="55" name="직사각형 54"/>
          <p:cNvSpPr/>
          <p:nvPr/>
        </p:nvSpPr>
        <p:spPr>
          <a:xfrm>
            <a:off x="993873" y="4139538"/>
            <a:ext cx="1769738" cy="9182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ko-KR" altLang="en-US" b="1" spc="-8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학생</a:t>
            </a:r>
            <a:endParaRPr lang="en-US" altLang="ko-KR" b="1" spc="-8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 marL="171450" indent="-171450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ko-KR" altLang="en-US" b="1" spc="-8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교수</a:t>
            </a:r>
            <a:r>
              <a:rPr lang="en-US" altLang="ko-KR" b="1" spc="-8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  <p:sp>
        <p:nvSpPr>
          <p:cNvPr id="57" name="모서리가 둥근 직사각형 56"/>
          <p:cNvSpPr/>
          <p:nvPr/>
        </p:nvSpPr>
        <p:spPr>
          <a:xfrm>
            <a:off x="9152923" y="2098869"/>
            <a:ext cx="2581348" cy="3906981"/>
          </a:xfrm>
          <a:prstGeom prst="roundRect">
            <a:avLst>
              <a:gd name="adj" fmla="val 449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TextBox 57"/>
          <p:cNvSpPr txBox="1"/>
          <p:nvPr/>
        </p:nvSpPr>
        <p:spPr>
          <a:xfrm>
            <a:off x="9691398" y="2186284"/>
            <a:ext cx="1504398" cy="12475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6600" spc="300" dirty="0">
                <a:solidFill>
                  <a:schemeClr val="tx2">
                    <a:lumMod val="75000"/>
                  </a:schemeClr>
                </a:solidFill>
                <a:latin typeface="Elephant" panose="02020904090505020303" pitchFamily="18" charset="0"/>
                <a:ea typeface="+mj-ea"/>
              </a:rPr>
              <a:t>04</a:t>
            </a:r>
            <a:endParaRPr lang="en-US" altLang="ko-KR" sz="4600" spc="300" dirty="0">
              <a:solidFill>
                <a:schemeClr val="tx2">
                  <a:lumMod val="75000"/>
                </a:schemeClr>
              </a:solidFill>
              <a:latin typeface="Elephant" panose="02020904090505020303" pitchFamily="18" charset="0"/>
              <a:ea typeface="+mj-ea"/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9361377" y="3509380"/>
            <a:ext cx="2409499" cy="448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ko-KR" altLang="en-US" sz="2000" b="1" spc="-15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제</a:t>
            </a:r>
            <a:r>
              <a:rPr lang="en-US" altLang="ko-KR" sz="2000" b="1" spc="-15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1</a:t>
            </a:r>
            <a:r>
              <a:rPr lang="ko-KR" altLang="en-US" sz="2000" b="1" spc="-15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강 강의</a:t>
            </a:r>
            <a:r>
              <a:rPr lang="en-US" altLang="ko-KR" sz="2000" b="1" dirty="0">
                <a:solidFill>
                  <a:schemeClr val="tx2">
                    <a:lumMod val="75000"/>
                  </a:schemeClr>
                </a:solidFill>
              </a:rPr>
              <a:t>.</a:t>
            </a:r>
            <a:endParaRPr lang="ko-KR" altLang="en-US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9216602" y="4097918"/>
            <a:ext cx="2424116" cy="7347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ko-KR" altLang="en-US" sz="1400" b="1" spc="-8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마케팅의 정의 및 프로세스</a:t>
            </a:r>
            <a:endParaRPr lang="en-US" altLang="ko-KR" sz="1400" b="1" spc="-8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>
              <a:lnSpc>
                <a:spcPct val="160000"/>
              </a:lnSpc>
            </a:pPr>
            <a:endParaRPr lang="en-US" altLang="ko-KR" sz="1400" b="1" spc="-8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390B92B-1045-4F7A-B8D3-B7EB7B0F62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72207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F6AA6B2-6183-4738-8678-7A7A0DC3667B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7CA51660-9340-4C4D-A8D9-D0DADA7D0E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8334" y="292234"/>
            <a:ext cx="1191208" cy="362745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1EC083E7-F469-4821-8A33-6B09F78BE859}"/>
              </a:ext>
            </a:extLst>
          </p:cNvPr>
          <p:cNvSpPr/>
          <p:nvPr/>
        </p:nvSpPr>
        <p:spPr>
          <a:xfrm>
            <a:off x="6167756" y="3885590"/>
            <a:ext cx="2985167" cy="2120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60000"/>
              </a:lnSpc>
              <a:buFont typeface="Wingdings" panose="05000000000000000000" pitchFamily="2" charset="2"/>
              <a:buChar char="u"/>
            </a:pPr>
            <a:r>
              <a:rPr lang="ko-KR" altLang="en-US" sz="1200" b="1" spc="-8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주교재</a:t>
            </a:r>
            <a:r>
              <a:rPr lang="ko-KR" altLang="en-US" sz="12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ko-KR" sz="12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  <a:r>
              <a:rPr lang="ko-KR" altLang="en-US" sz="12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마케팅 브레인</a:t>
            </a:r>
            <a:r>
              <a:rPr lang="en-US" altLang="ko-KR" sz="12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_</a:t>
            </a:r>
            <a:r>
              <a:rPr lang="ko-KR" altLang="en-US" sz="12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김지헌 저</a:t>
            </a:r>
            <a:r>
              <a:rPr lang="en-US" altLang="ko-KR" sz="12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</a:p>
          <a:p>
            <a:pPr marL="171450" indent="-171450">
              <a:lnSpc>
                <a:spcPct val="160000"/>
              </a:lnSpc>
              <a:buFont typeface="Wingdings" panose="05000000000000000000" pitchFamily="2" charset="2"/>
              <a:buChar char="u"/>
            </a:pPr>
            <a:r>
              <a:rPr lang="ko-KR" altLang="en-US" sz="12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부교재 </a:t>
            </a:r>
            <a:r>
              <a:rPr lang="en-US" altLang="ko-KR" sz="12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Kotler</a:t>
            </a:r>
            <a:r>
              <a:rPr lang="ko-KR" altLang="en-US" sz="12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의 마케팅원리</a:t>
            </a:r>
            <a:r>
              <a:rPr lang="en-US" altLang="ko-KR" sz="12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_16</a:t>
            </a:r>
            <a:r>
              <a:rPr lang="ko-KR" altLang="en-US" sz="12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판</a:t>
            </a:r>
            <a:endParaRPr lang="en-US" altLang="ko-KR" sz="1200" b="1" spc="-8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171450" indent="-171450">
              <a:lnSpc>
                <a:spcPct val="160000"/>
              </a:lnSpc>
              <a:buFont typeface="Wingdings" panose="05000000000000000000" pitchFamily="2" charset="2"/>
              <a:buChar char="u"/>
            </a:pPr>
            <a:r>
              <a:rPr lang="en-US" altLang="ko-KR" sz="12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          </a:t>
            </a:r>
            <a:r>
              <a:rPr lang="ko-KR" altLang="en-US" sz="12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마케팅론</a:t>
            </a:r>
            <a:r>
              <a:rPr lang="en-US" altLang="ko-KR" sz="12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_</a:t>
            </a:r>
            <a:r>
              <a:rPr lang="ko-KR" altLang="en-US" sz="12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박유경</a:t>
            </a:r>
            <a:endParaRPr lang="en-US" altLang="ko-KR" sz="1200" b="1" spc="-8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171450" indent="-171450">
              <a:lnSpc>
                <a:spcPct val="160000"/>
              </a:lnSpc>
              <a:buFont typeface="Wingdings" panose="05000000000000000000" pitchFamily="2" charset="2"/>
              <a:buChar char="u"/>
            </a:pPr>
            <a:endParaRPr lang="en-US" altLang="ko-KR" sz="1200" b="1" spc="-8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171450" indent="-171450">
              <a:lnSpc>
                <a:spcPct val="160000"/>
              </a:lnSpc>
              <a:buFont typeface="Wingdings" panose="05000000000000000000" pitchFamily="2" charset="2"/>
              <a:buChar char="u"/>
            </a:pPr>
            <a:r>
              <a:rPr lang="ko-KR" altLang="en-US" sz="12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과제 </a:t>
            </a:r>
            <a:r>
              <a:rPr lang="en-US" altLang="ko-KR" sz="12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1) </a:t>
            </a:r>
            <a:r>
              <a:rPr lang="ko-KR" altLang="en-US" sz="12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논문</a:t>
            </a:r>
            <a:r>
              <a:rPr lang="en-US" altLang="ko-KR" sz="12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ko-KR" altLang="en-US" sz="12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제시</a:t>
            </a:r>
            <a:endParaRPr lang="en-US" altLang="ko-KR" sz="1200" b="1" spc="-8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60000"/>
              </a:lnSpc>
            </a:pPr>
            <a:r>
              <a:rPr lang="en-US" altLang="ko-KR" sz="12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           2) </a:t>
            </a:r>
            <a:r>
              <a:rPr lang="ko-KR" altLang="en-US" sz="12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자신의 회사</a:t>
            </a:r>
            <a:r>
              <a:rPr lang="en-US" altLang="ko-KR" sz="12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ko-KR" altLang="en-US" sz="12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마케팅전략</a:t>
            </a:r>
            <a:r>
              <a:rPr lang="en-US" altLang="ko-KR" sz="12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_</a:t>
            </a:r>
            <a:r>
              <a:rPr lang="ko-KR" altLang="en-US" sz="12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전술 </a:t>
            </a:r>
            <a:endParaRPr lang="en-US" altLang="ko-KR" sz="1200" b="1" spc="-8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171450" indent="-171450">
              <a:lnSpc>
                <a:spcPct val="160000"/>
              </a:lnSpc>
              <a:buFont typeface="Wingdings" panose="05000000000000000000" pitchFamily="2" charset="2"/>
              <a:buChar char="u"/>
            </a:pPr>
            <a:r>
              <a:rPr lang="ko-KR" altLang="en-US" sz="12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시험 </a:t>
            </a:r>
            <a:r>
              <a:rPr lang="en-US" altLang="ko-KR" sz="12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  <a:r>
              <a:rPr lang="ko-KR" altLang="en-US" sz="12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중간고사</a:t>
            </a:r>
            <a:r>
              <a:rPr lang="en-US" altLang="ko-KR" sz="12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12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기말고사</a:t>
            </a:r>
            <a:endParaRPr lang="en-US" altLang="ko-KR" sz="1200" b="1" spc="-8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50823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186"/>
    </mc:Choice>
    <mc:Fallback xmlns="">
      <p:transition spd="slow" advTm="56186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1553567" y="2015984"/>
            <a:ext cx="3052300" cy="2576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5000" spc="300" dirty="0">
                <a:solidFill>
                  <a:schemeClr val="tx2">
                    <a:lumMod val="7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01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6590780" y="3916637"/>
            <a:ext cx="4409739" cy="13017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800" spc="-8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학생</a:t>
            </a:r>
            <a:r>
              <a:rPr lang="en-US" altLang="ko-KR" sz="2800" spc="-8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800" spc="-8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교수</a:t>
            </a:r>
            <a:r>
              <a:rPr lang="en-US" altLang="ko-KR" sz="2800" spc="-8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6958" y="1861260"/>
            <a:ext cx="8967122" cy="991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5400" b="1" spc="-150" dirty="0">
                <a:solidFill>
                  <a:srgbClr val="3D3D3D"/>
                </a:solidFill>
                <a:latin typeface="+mj-ea"/>
                <a:ea typeface="+mj-ea"/>
              </a:rPr>
              <a:t>인사</a:t>
            </a:r>
            <a:r>
              <a:rPr lang="en-US" altLang="ko-KR" sz="5400" b="1" spc="-150" dirty="0">
                <a:solidFill>
                  <a:srgbClr val="3D3D3D"/>
                </a:solidFill>
                <a:latin typeface="+mj-ea"/>
                <a:ea typeface="+mj-ea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5407629" y="2107161"/>
            <a:ext cx="0" cy="2757557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6790AC1-D279-47F7-9091-55BEA63DDF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72207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F6AA6B2-6183-4738-8678-7A7A0DC3667B}" type="slidenum">
              <a:rPr lang="ko-KR" altLang="en-US" smtClean="0"/>
              <a:pPr/>
              <a:t>5</a:t>
            </a:fld>
            <a:endParaRPr lang="ko-KR" altLang="en-US" sz="1100" dirty="0"/>
          </a:p>
        </p:txBody>
      </p:sp>
      <p:sp>
        <p:nvSpPr>
          <p:cNvPr id="10" name="직사각형 9"/>
          <p:cNvSpPr/>
          <p:nvPr/>
        </p:nvSpPr>
        <p:spPr>
          <a:xfrm rot="5400000">
            <a:off x="-3017520" y="3017520"/>
            <a:ext cx="6858000" cy="82296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50" t="41605" r="4577" b="41975"/>
          <a:stretch/>
        </p:blipFill>
        <p:spPr>
          <a:xfrm>
            <a:off x="10864735" y="329420"/>
            <a:ext cx="960867" cy="24814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D04FFE1-7874-43EC-9B59-53FED0235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8334" y="292234"/>
            <a:ext cx="1191208" cy="362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203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28"/>
    </mc:Choice>
    <mc:Fallback xmlns="">
      <p:transition spd="slow" advTm="1728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1553567" y="2015984"/>
            <a:ext cx="3052300" cy="2576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5000" spc="300" dirty="0">
                <a:solidFill>
                  <a:schemeClr val="tx2">
                    <a:lumMod val="7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02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6454996" y="3085769"/>
            <a:ext cx="4409739" cy="17789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500" spc="-8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강의개요</a:t>
            </a:r>
            <a:endParaRPr lang="en-US" altLang="ko-KR" sz="1500" spc="-8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500" spc="-8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교재</a:t>
            </a:r>
            <a:r>
              <a:rPr lang="en-US" altLang="ko-KR" sz="1500" spc="-8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_ </a:t>
            </a:r>
            <a:r>
              <a:rPr lang="ko-KR" altLang="en-US" sz="1500" spc="-8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책</a:t>
            </a:r>
            <a:r>
              <a:rPr lang="en-US" altLang="ko-KR" sz="1500" spc="-8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_</a:t>
            </a:r>
            <a:r>
              <a:rPr lang="ko-KR" altLang="en-US" sz="1500" spc="-8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논문</a:t>
            </a:r>
            <a:r>
              <a:rPr lang="en-US" altLang="ko-KR" sz="1500" spc="-8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_</a:t>
            </a:r>
            <a:r>
              <a:rPr lang="ko-KR" altLang="en-US" sz="1500" spc="-8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기타자료</a:t>
            </a:r>
            <a:endParaRPr lang="en-US" altLang="ko-KR" sz="1500" spc="-8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500" spc="-8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강의계획서</a:t>
            </a:r>
            <a:r>
              <a:rPr lang="en-US" altLang="ko-KR" sz="1500" spc="-8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500" spc="-8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과제</a:t>
            </a:r>
            <a:r>
              <a:rPr lang="en-US" altLang="ko-KR" sz="1500" spc="-8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500" spc="-8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시험</a:t>
            </a:r>
            <a:endParaRPr lang="en-US" altLang="ko-KR" sz="1500" spc="-8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16958" y="1861260"/>
            <a:ext cx="8967122" cy="991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5400" b="1" spc="-150" dirty="0">
                <a:solidFill>
                  <a:srgbClr val="3D3D3D"/>
                </a:solidFill>
                <a:latin typeface="+mj-ea"/>
                <a:ea typeface="+mj-ea"/>
              </a:rPr>
              <a:t>강좌소개</a:t>
            </a:r>
            <a:r>
              <a:rPr lang="en-US" altLang="ko-KR" sz="5400" b="1" spc="-150" dirty="0">
                <a:solidFill>
                  <a:srgbClr val="3D3D3D"/>
                </a:solidFill>
                <a:latin typeface="+mj-ea"/>
                <a:ea typeface="+mj-ea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5407629" y="2107161"/>
            <a:ext cx="0" cy="2757557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6790AC1-D279-47F7-9091-55BEA63DDF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72207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F6AA6B2-6183-4738-8678-7A7A0DC3667B}" type="slidenum">
              <a:rPr lang="ko-KR" altLang="en-US" smtClean="0"/>
              <a:pPr/>
              <a:t>6</a:t>
            </a:fld>
            <a:endParaRPr lang="ko-KR" altLang="en-US" sz="1100" dirty="0"/>
          </a:p>
        </p:txBody>
      </p:sp>
      <p:sp>
        <p:nvSpPr>
          <p:cNvPr id="10" name="직사각형 9"/>
          <p:cNvSpPr/>
          <p:nvPr/>
        </p:nvSpPr>
        <p:spPr>
          <a:xfrm rot="5400000">
            <a:off x="-3017520" y="3017520"/>
            <a:ext cx="6858000" cy="82296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50" t="41605" r="4577" b="41975"/>
          <a:stretch/>
        </p:blipFill>
        <p:spPr>
          <a:xfrm>
            <a:off x="10864735" y="329420"/>
            <a:ext cx="960867" cy="24814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D04FFE1-7874-43EC-9B59-53FED0235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8334" y="292234"/>
            <a:ext cx="1191208" cy="362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909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54"/>
    </mc:Choice>
    <mc:Fallback xmlns="">
      <p:transition spd="slow" advTm="2354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677865" y="346417"/>
            <a:ext cx="1935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 spc="500" dirty="0">
                <a:solidFill>
                  <a:srgbClr val="FF6405"/>
                </a:solidFill>
              </a:rPr>
              <a:t>CHAPTER</a:t>
            </a:r>
            <a:endParaRPr lang="ko-KR" altLang="en-US" sz="1400" spc="500" dirty="0">
              <a:solidFill>
                <a:srgbClr val="FF6405"/>
              </a:solidFill>
            </a:endParaRPr>
          </a:p>
        </p:txBody>
      </p:sp>
      <p:cxnSp>
        <p:nvCxnSpPr>
          <p:cNvPr id="7" name="직선 연결선 6"/>
          <p:cNvCxnSpPr/>
          <p:nvPr/>
        </p:nvCxnSpPr>
        <p:spPr>
          <a:xfrm>
            <a:off x="643467" y="654194"/>
            <a:ext cx="0" cy="961971"/>
          </a:xfrm>
          <a:prstGeom prst="line">
            <a:avLst/>
          </a:prstGeom>
          <a:ln w="38100">
            <a:solidFill>
              <a:srgbClr val="FF640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10270730" y="6244800"/>
            <a:ext cx="1076325" cy="0"/>
          </a:xfrm>
          <a:prstGeom prst="line">
            <a:avLst/>
          </a:prstGeom>
          <a:ln w="38100">
            <a:solidFill>
              <a:srgbClr val="FF640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8610600" y="652821"/>
            <a:ext cx="3176719" cy="804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</a:pPr>
            <a:r>
              <a:rPr lang="ko-KR" altLang="en-US" sz="4000" b="1" spc="-30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강의계획안</a:t>
            </a:r>
            <a:endParaRPr lang="ko-KR" altLang="en-US" sz="4000" b="1" spc="-3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EA451D8-E76D-4FD9-964E-A3926D959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9137A71-B61B-4C9B-94F5-E5910E5A1E5E}" type="slidenum">
              <a:rPr lang="ko-KR" altLang="en-US" smtClean="0"/>
              <a:pPr/>
              <a:t>7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6B3A2711-5F62-4B8C-8D1D-859B23A553F4}"/>
              </a:ext>
            </a:extLst>
          </p:cNvPr>
          <p:cNvSpPr txBox="1">
            <a:spLocks/>
          </p:cNvSpPr>
          <p:nvPr/>
        </p:nvSpPr>
        <p:spPr>
          <a:xfrm>
            <a:off x="1031264" y="943897"/>
            <a:ext cx="5885108" cy="5595015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ko-KR" sz="1350" b="1" dirty="0">
                <a:solidFill>
                  <a:srgbClr val="000000"/>
                </a:solidFill>
                <a:latin typeface="+mj-lt"/>
              </a:rPr>
              <a:t>1.</a:t>
            </a:r>
            <a:r>
              <a:rPr lang="ko-KR" altLang="en-US" sz="1350" b="1" dirty="0">
                <a:solidFill>
                  <a:srgbClr val="000000"/>
                </a:solidFill>
                <a:latin typeface="+mj-lt"/>
              </a:rPr>
              <a:t> </a:t>
            </a:r>
            <a:r>
              <a:rPr lang="ko-KR" altLang="en-US" sz="1350" b="1" dirty="0">
                <a:solidFill>
                  <a:srgbClr val="000000"/>
                </a:solidFill>
                <a:latin typeface="+mj-lt"/>
                <a:ea typeface="명조"/>
              </a:rPr>
              <a:t>과목명</a:t>
            </a:r>
            <a:r>
              <a:rPr lang="en-US" altLang="ko-KR" sz="1350" b="1" dirty="0">
                <a:solidFill>
                  <a:srgbClr val="000000"/>
                </a:solidFill>
                <a:latin typeface="+mj-lt"/>
                <a:ea typeface="명조"/>
              </a:rPr>
              <a:t>:  </a:t>
            </a:r>
            <a:r>
              <a:rPr lang="ko-KR" altLang="en-US" sz="1350" b="1" dirty="0">
                <a:solidFill>
                  <a:srgbClr val="000000"/>
                </a:solidFill>
                <a:highlight>
                  <a:srgbClr val="FFFF00"/>
                </a:highlight>
                <a:latin typeface="+mj-lt"/>
                <a:ea typeface="명조"/>
              </a:rPr>
              <a:t>시니어창업 연구</a:t>
            </a:r>
            <a:r>
              <a:rPr lang="en-US" altLang="ko-KR" sz="1350" b="1" dirty="0">
                <a:solidFill>
                  <a:srgbClr val="000000"/>
                </a:solidFill>
                <a:highlight>
                  <a:srgbClr val="FFFF00"/>
                </a:highlight>
                <a:latin typeface="+mj-lt"/>
                <a:ea typeface="명조"/>
              </a:rPr>
              <a:t>(3</a:t>
            </a:r>
            <a:r>
              <a:rPr lang="ko-KR" altLang="en-US" sz="1350" b="1" dirty="0">
                <a:solidFill>
                  <a:srgbClr val="000000"/>
                </a:solidFill>
                <a:highlight>
                  <a:srgbClr val="FFFF00"/>
                </a:highlight>
                <a:latin typeface="+mj-lt"/>
                <a:ea typeface="명조"/>
              </a:rPr>
              <a:t>학점</a:t>
            </a:r>
            <a:r>
              <a:rPr lang="en-US" altLang="ko-KR" sz="1350" b="1" dirty="0">
                <a:solidFill>
                  <a:srgbClr val="000000"/>
                </a:solidFill>
                <a:highlight>
                  <a:srgbClr val="FFFF00"/>
                </a:highlight>
                <a:latin typeface="+mj-lt"/>
                <a:ea typeface="명조"/>
              </a:rPr>
              <a:t>) / 2025</a:t>
            </a:r>
            <a:r>
              <a:rPr lang="ko-KR" altLang="en-US" sz="1350" b="1" dirty="0">
                <a:solidFill>
                  <a:srgbClr val="000000"/>
                </a:solidFill>
                <a:highlight>
                  <a:srgbClr val="FFFF00"/>
                </a:highlight>
                <a:latin typeface="+mj-lt"/>
                <a:ea typeface="명조"/>
              </a:rPr>
              <a:t>년</a:t>
            </a:r>
            <a:r>
              <a:rPr lang="en-US" altLang="ko-KR" sz="1350" b="1" dirty="0">
                <a:solidFill>
                  <a:srgbClr val="000000"/>
                </a:solidFill>
                <a:highlight>
                  <a:srgbClr val="FFFF00"/>
                </a:highlight>
                <a:latin typeface="+mj-lt"/>
                <a:ea typeface="명조"/>
              </a:rPr>
              <a:t> 2</a:t>
            </a:r>
            <a:r>
              <a:rPr lang="ko-KR" altLang="en-US" sz="1350" b="1" dirty="0">
                <a:solidFill>
                  <a:srgbClr val="000000"/>
                </a:solidFill>
                <a:highlight>
                  <a:srgbClr val="FFFF00"/>
                </a:highlight>
                <a:latin typeface="+mj-lt"/>
                <a:ea typeface="명조"/>
              </a:rPr>
              <a:t>학기</a:t>
            </a:r>
            <a:endParaRPr lang="ko-KR" altLang="en-US" sz="1350" b="1" dirty="0">
              <a:solidFill>
                <a:srgbClr val="000000"/>
              </a:solidFill>
              <a:highlight>
                <a:srgbClr val="FFFF00"/>
              </a:highlight>
              <a:latin typeface="+mj-lt"/>
            </a:endParaRPr>
          </a:p>
          <a:p>
            <a:pPr marL="0" indent="0" algn="just">
              <a:lnSpc>
                <a:spcPct val="160000"/>
              </a:lnSpc>
              <a:spcBef>
                <a:spcPts val="0"/>
              </a:spcBef>
              <a:buNone/>
            </a:pPr>
            <a:r>
              <a:rPr lang="en-US" altLang="ko-KR" sz="1350" b="1" dirty="0">
                <a:solidFill>
                  <a:srgbClr val="000000"/>
                </a:solidFill>
                <a:latin typeface="+mj-lt"/>
                <a:ea typeface="명조"/>
              </a:rPr>
              <a:t>2 . </a:t>
            </a:r>
            <a:r>
              <a:rPr lang="ko-KR" altLang="en-US" sz="1350" b="1" dirty="0">
                <a:solidFill>
                  <a:srgbClr val="000000"/>
                </a:solidFill>
                <a:latin typeface="+mj-lt"/>
                <a:ea typeface="명조"/>
              </a:rPr>
              <a:t>담당교수</a:t>
            </a:r>
            <a:r>
              <a:rPr lang="en-US" altLang="ko-KR" sz="1350" b="1" dirty="0">
                <a:solidFill>
                  <a:srgbClr val="000000"/>
                </a:solidFill>
                <a:latin typeface="+mj-lt"/>
                <a:ea typeface="명조"/>
              </a:rPr>
              <a:t>: </a:t>
            </a:r>
            <a:r>
              <a:rPr lang="ko-KR" altLang="en-US" sz="1350" b="1" dirty="0">
                <a:solidFill>
                  <a:srgbClr val="000000"/>
                </a:solidFill>
                <a:latin typeface="+mj-lt"/>
                <a:ea typeface="명조"/>
              </a:rPr>
              <a:t>박 흥진 </a:t>
            </a:r>
            <a:r>
              <a:rPr lang="en-US" altLang="ko-KR" sz="1350" b="1" dirty="0">
                <a:solidFill>
                  <a:srgbClr val="000000"/>
                </a:solidFill>
                <a:latin typeface="+mj-lt"/>
                <a:ea typeface="명조"/>
              </a:rPr>
              <a:t>(010-3738-6027)</a:t>
            </a:r>
            <a:r>
              <a:rPr lang="ko-KR" altLang="en-US" sz="1350" b="1" dirty="0">
                <a:solidFill>
                  <a:srgbClr val="000000"/>
                </a:solidFill>
                <a:latin typeface="+mj-lt"/>
                <a:ea typeface="명조"/>
              </a:rPr>
              <a:t> </a:t>
            </a:r>
            <a:r>
              <a:rPr lang="ko-KR" altLang="en-US" sz="1350" b="1" dirty="0" err="1">
                <a:solidFill>
                  <a:srgbClr val="000000"/>
                </a:solidFill>
                <a:latin typeface="+mj-lt"/>
                <a:ea typeface="명조"/>
              </a:rPr>
              <a:t>광개토관</a:t>
            </a:r>
            <a:r>
              <a:rPr lang="ko-KR" altLang="en-US" sz="1350" b="1" dirty="0">
                <a:solidFill>
                  <a:srgbClr val="000000"/>
                </a:solidFill>
                <a:latin typeface="+mj-lt"/>
                <a:ea typeface="명조"/>
              </a:rPr>
              <a:t> </a:t>
            </a:r>
            <a:r>
              <a:rPr lang="en-US" altLang="ko-KR" sz="1350" b="1" dirty="0">
                <a:solidFill>
                  <a:srgbClr val="000000"/>
                </a:solidFill>
                <a:latin typeface="+mj-lt"/>
                <a:ea typeface="명조"/>
              </a:rPr>
              <a:t>811</a:t>
            </a:r>
            <a:r>
              <a:rPr lang="ko-KR" altLang="en-US" sz="1350" b="1" dirty="0">
                <a:solidFill>
                  <a:srgbClr val="000000"/>
                </a:solidFill>
                <a:latin typeface="+mj-lt"/>
                <a:ea typeface="명조"/>
              </a:rPr>
              <a:t>호</a:t>
            </a:r>
            <a:endParaRPr lang="ko-KR" altLang="en-US" sz="1350" b="1" dirty="0">
              <a:solidFill>
                <a:srgbClr val="000000"/>
              </a:solidFill>
              <a:latin typeface="+mj-lt"/>
            </a:endParaRPr>
          </a:p>
          <a:p>
            <a:pPr marL="0" indent="0" algn="just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ko-KR" sz="1350" b="1" dirty="0">
                <a:solidFill>
                  <a:srgbClr val="000000"/>
                </a:solidFill>
                <a:latin typeface="+mj-lt"/>
                <a:ea typeface="명조"/>
              </a:rPr>
              <a:t>3. </a:t>
            </a:r>
            <a:r>
              <a:rPr lang="ko-KR" altLang="en-US" sz="1350" b="1" dirty="0">
                <a:solidFill>
                  <a:srgbClr val="000000"/>
                </a:solidFill>
                <a:latin typeface="+mj-lt"/>
                <a:ea typeface="명조"/>
              </a:rPr>
              <a:t>시간 및 장소</a:t>
            </a:r>
            <a:r>
              <a:rPr lang="en-US" altLang="ko-KR" sz="1350" b="1" dirty="0">
                <a:solidFill>
                  <a:srgbClr val="000000"/>
                </a:solidFill>
                <a:latin typeface="+mj-lt"/>
                <a:ea typeface="명조"/>
              </a:rPr>
              <a:t>: </a:t>
            </a:r>
            <a:r>
              <a:rPr lang="ko-KR" altLang="en-US" sz="1350" b="1" dirty="0">
                <a:solidFill>
                  <a:srgbClr val="000000"/>
                </a:solidFill>
                <a:latin typeface="+mj-lt"/>
                <a:ea typeface="명조"/>
              </a:rPr>
              <a:t>토 </a:t>
            </a:r>
            <a:r>
              <a:rPr lang="en-US" altLang="ko-KR" sz="1350" b="1" dirty="0">
                <a:solidFill>
                  <a:srgbClr val="000000"/>
                </a:solidFill>
                <a:latin typeface="+mj-lt"/>
                <a:ea typeface="명조"/>
              </a:rPr>
              <a:t>09:00-12:00 / </a:t>
            </a:r>
            <a:r>
              <a:rPr lang="ko-KR" altLang="en-US" sz="1350" b="1" dirty="0" err="1">
                <a:solidFill>
                  <a:srgbClr val="000000"/>
                </a:solidFill>
                <a:latin typeface="+mj-lt"/>
                <a:ea typeface="명조"/>
              </a:rPr>
              <a:t>광개토관</a:t>
            </a:r>
            <a:r>
              <a:rPr lang="ko-KR" altLang="en-US" sz="1350" b="1" dirty="0">
                <a:solidFill>
                  <a:srgbClr val="000000"/>
                </a:solidFill>
                <a:latin typeface="+mj-lt"/>
                <a:ea typeface="명조"/>
              </a:rPr>
              <a:t> </a:t>
            </a:r>
            <a:r>
              <a:rPr lang="en-US" altLang="ko-KR" sz="1350" b="1" dirty="0">
                <a:solidFill>
                  <a:srgbClr val="000000"/>
                </a:solidFill>
                <a:latin typeface="+mj-lt"/>
                <a:ea typeface="명조"/>
              </a:rPr>
              <a:t>801</a:t>
            </a:r>
            <a:r>
              <a:rPr lang="ko-KR" altLang="en-US" sz="1350" b="1" dirty="0">
                <a:solidFill>
                  <a:srgbClr val="000000"/>
                </a:solidFill>
                <a:latin typeface="+mj-lt"/>
                <a:ea typeface="명조"/>
              </a:rPr>
              <a:t>호</a:t>
            </a:r>
            <a:r>
              <a:rPr lang="en-US" altLang="ko-KR" sz="1350" b="1" dirty="0">
                <a:solidFill>
                  <a:srgbClr val="000000"/>
                </a:solidFill>
                <a:latin typeface="+mj-lt"/>
                <a:ea typeface="명조"/>
              </a:rPr>
              <a:t> </a:t>
            </a:r>
            <a:endParaRPr lang="ko-KR" altLang="en-US" sz="1350" b="1" dirty="0">
              <a:highlight>
                <a:srgbClr val="808080"/>
              </a:highlight>
              <a:latin typeface="+mj-lt"/>
            </a:endParaRPr>
          </a:p>
          <a:p>
            <a:pPr marL="0" indent="0" algn="just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ko-KR" sz="1350" b="1" dirty="0">
                <a:solidFill>
                  <a:srgbClr val="000000"/>
                </a:solidFill>
                <a:latin typeface="+mj-lt"/>
                <a:ea typeface="명조"/>
              </a:rPr>
              <a:t>4. </a:t>
            </a:r>
            <a:r>
              <a:rPr lang="ko-KR" altLang="en-US" sz="1350" b="1" dirty="0">
                <a:solidFill>
                  <a:srgbClr val="000000"/>
                </a:solidFill>
                <a:latin typeface="+mj-lt"/>
                <a:ea typeface="명조"/>
              </a:rPr>
              <a:t>목표</a:t>
            </a:r>
            <a:r>
              <a:rPr lang="en-US" altLang="ko-KR" sz="1350" b="1" dirty="0">
                <a:solidFill>
                  <a:srgbClr val="000000"/>
                </a:solidFill>
                <a:latin typeface="+mj-lt"/>
                <a:ea typeface="명조"/>
              </a:rPr>
              <a:t>:   </a:t>
            </a:r>
            <a:r>
              <a:rPr lang="ko-KR" altLang="en-US" sz="1350" b="1" dirty="0">
                <a:solidFill>
                  <a:srgbClr val="000000"/>
                </a:solidFill>
                <a:latin typeface="+mj-lt"/>
                <a:ea typeface="명조"/>
              </a:rPr>
              <a:t>경영학의 중요 전공분야인 </a:t>
            </a:r>
            <a:r>
              <a:rPr lang="ko-KR" altLang="en-US" sz="1350" b="1" dirty="0">
                <a:solidFill>
                  <a:srgbClr val="000000"/>
                </a:solidFill>
                <a:highlight>
                  <a:srgbClr val="FFFF00"/>
                </a:highlight>
                <a:latin typeface="+mj-lt"/>
                <a:ea typeface="명조"/>
              </a:rPr>
              <a:t>마케팅</a:t>
            </a:r>
            <a:r>
              <a:rPr lang="ko-KR" altLang="en-US" sz="1350" b="1" dirty="0">
                <a:solidFill>
                  <a:srgbClr val="000000"/>
                </a:solidFill>
                <a:latin typeface="+mj-lt"/>
                <a:ea typeface="명조"/>
              </a:rPr>
              <a:t>을 이해하고 응용</a:t>
            </a:r>
            <a:r>
              <a:rPr lang="en-US" altLang="ko-KR" sz="1350" b="1" dirty="0">
                <a:solidFill>
                  <a:srgbClr val="000000"/>
                </a:solidFill>
                <a:latin typeface="+mj-lt"/>
                <a:ea typeface="명조"/>
              </a:rPr>
              <a:t>.</a:t>
            </a:r>
          </a:p>
          <a:p>
            <a:pPr marL="0" indent="0" algn="just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+mj-lt"/>
                <a:ea typeface="명조"/>
              </a:rPr>
              <a:t>           </a:t>
            </a:r>
            <a:r>
              <a:rPr lang="en-US" altLang="ko-KR" sz="1350" b="1" dirty="0">
                <a:solidFill>
                  <a:srgbClr val="000000"/>
                </a:solidFill>
                <a:latin typeface="+mj-lt"/>
                <a:ea typeface="명조"/>
              </a:rPr>
              <a:t>- </a:t>
            </a:r>
            <a:r>
              <a:rPr lang="ko-KR" altLang="en-US" sz="1350" b="1" dirty="0">
                <a:solidFill>
                  <a:srgbClr val="000000"/>
                </a:solidFill>
                <a:latin typeface="+mj-lt"/>
                <a:ea typeface="명조"/>
              </a:rPr>
              <a:t>마케팅 원리의 뼈대를 이야기하고 설명하고 응용 할 수 있다</a:t>
            </a:r>
            <a:r>
              <a:rPr lang="en-US" altLang="ko-KR" sz="1350" b="1" dirty="0">
                <a:solidFill>
                  <a:srgbClr val="000000"/>
                </a:solidFill>
                <a:latin typeface="+mj-lt"/>
                <a:ea typeface="명조"/>
              </a:rPr>
              <a:t>.</a:t>
            </a:r>
          </a:p>
          <a:p>
            <a:pPr marL="0" indent="0" algn="just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ko-KR" sz="1350" b="1" dirty="0">
                <a:solidFill>
                  <a:srgbClr val="000000"/>
                </a:solidFill>
                <a:latin typeface="+mj-lt"/>
                <a:ea typeface="명조"/>
              </a:rPr>
              <a:t>5. </a:t>
            </a:r>
            <a:r>
              <a:rPr lang="ko-KR" altLang="en-US" sz="1350" b="1" dirty="0">
                <a:solidFill>
                  <a:srgbClr val="000000"/>
                </a:solidFill>
                <a:latin typeface="+mj-lt"/>
                <a:ea typeface="명조"/>
              </a:rPr>
              <a:t>교재 </a:t>
            </a:r>
            <a:r>
              <a:rPr lang="en-US" altLang="ko-KR" sz="1350" b="1" dirty="0">
                <a:solidFill>
                  <a:srgbClr val="000000"/>
                </a:solidFill>
                <a:latin typeface="+mj-lt"/>
                <a:ea typeface="명조"/>
              </a:rPr>
              <a:t>:   </a:t>
            </a:r>
            <a:r>
              <a:rPr lang="en-US" altLang="ko-KR" sz="14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명조"/>
              </a:rPr>
              <a:t>-</a:t>
            </a:r>
            <a:r>
              <a:rPr lang="ko-KR" altLang="en-US" sz="14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명조"/>
              </a:rPr>
              <a:t> </a:t>
            </a:r>
            <a:r>
              <a:rPr lang="en-US" altLang="ko-KR" sz="14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명조"/>
              </a:rPr>
              <a:t>Kotler</a:t>
            </a:r>
            <a:r>
              <a:rPr lang="ko-KR" altLang="en-US" sz="14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명조"/>
              </a:rPr>
              <a:t>의 마케팅 원리</a:t>
            </a:r>
            <a:r>
              <a:rPr lang="en-US" altLang="ko-KR" sz="14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명조"/>
              </a:rPr>
              <a:t>_</a:t>
            </a:r>
            <a:r>
              <a:rPr lang="ko-KR" altLang="en-US" sz="14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명조"/>
              </a:rPr>
              <a:t>시그마프레스</a:t>
            </a:r>
            <a:endParaRPr lang="en-US" altLang="ko-KR" sz="1350" b="1" dirty="0">
              <a:solidFill>
                <a:srgbClr val="000000"/>
              </a:solidFill>
              <a:latin typeface="+mj-lt"/>
              <a:ea typeface="명조"/>
            </a:endParaRPr>
          </a:p>
          <a:p>
            <a:pPr marL="0" indent="0" algn="just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ko-KR" sz="1350" b="1" dirty="0">
                <a:solidFill>
                  <a:srgbClr val="000000"/>
                </a:solidFill>
                <a:latin typeface="+mj-lt"/>
                <a:ea typeface="명조"/>
              </a:rPr>
              <a:t>6</a:t>
            </a:r>
            <a:r>
              <a:rPr lang="en-US" altLang="ko-KR" sz="1350" b="1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j-lt"/>
                <a:ea typeface="명조"/>
              </a:rPr>
              <a:t> .</a:t>
            </a:r>
            <a:r>
              <a:rPr lang="ko-KR" altLang="en-US" sz="1350" b="1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j-lt"/>
                <a:ea typeface="명조"/>
              </a:rPr>
              <a:t>부교재</a:t>
            </a:r>
            <a:r>
              <a:rPr lang="en-US" altLang="ko-KR" sz="1350" b="1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j-lt"/>
                <a:ea typeface="명조"/>
              </a:rPr>
              <a:t> - </a:t>
            </a:r>
            <a:r>
              <a:rPr lang="ko-KR" altLang="en-US" sz="1350" b="1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j-lt"/>
                <a:ea typeface="명조"/>
              </a:rPr>
              <a:t>마케팅 브레인</a:t>
            </a:r>
            <a:r>
              <a:rPr lang="en-US" altLang="ko-KR" sz="1350" b="1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j-lt"/>
                <a:ea typeface="명조"/>
              </a:rPr>
              <a:t>_</a:t>
            </a:r>
            <a:r>
              <a:rPr lang="ko-KR" altLang="en-US" sz="1350" b="1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j-lt"/>
                <a:ea typeface="명조"/>
              </a:rPr>
              <a:t>김지헌 저</a:t>
            </a:r>
            <a:r>
              <a:rPr lang="en-US" altLang="ko-KR" sz="1350" b="1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j-lt"/>
                <a:ea typeface="명조"/>
              </a:rPr>
              <a:t>.</a:t>
            </a:r>
          </a:p>
          <a:p>
            <a:pPr marL="0" indent="0" algn="just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ko-KR" sz="1350" b="1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j-lt"/>
                <a:ea typeface="명조"/>
              </a:rPr>
              <a:t>             </a:t>
            </a:r>
            <a:r>
              <a:rPr lang="en-US" altLang="ko-KR" sz="1350" b="1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j-lt"/>
              </a:rPr>
              <a:t>              </a:t>
            </a:r>
            <a:endParaRPr lang="ko-KR" altLang="en-US" sz="1350" b="1" dirty="0">
              <a:solidFill>
                <a:srgbClr val="000000"/>
              </a:solidFill>
              <a:latin typeface="+mj-lt"/>
            </a:endParaRPr>
          </a:p>
          <a:p>
            <a:pPr marL="0" indent="0" algn="just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ko-KR" sz="1350" b="1" dirty="0">
                <a:solidFill>
                  <a:srgbClr val="000000"/>
                </a:solidFill>
                <a:latin typeface="+mj-lt"/>
                <a:ea typeface="명조"/>
              </a:rPr>
              <a:t>7. </a:t>
            </a:r>
            <a:r>
              <a:rPr lang="ko-KR" altLang="en-US" sz="1350" b="1" dirty="0">
                <a:solidFill>
                  <a:srgbClr val="000000"/>
                </a:solidFill>
                <a:latin typeface="+mj-lt"/>
                <a:ea typeface="명조"/>
              </a:rPr>
              <a:t>평가 </a:t>
            </a:r>
            <a:r>
              <a:rPr lang="en-US" altLang="ko-KR" sz="1350" b="1" dirty="0">
                <a:solidFill>
                  <a:srgbClr val="000000"/>
                </a:solidFill>
                <a:latin typeface="+mj-lt"/>
                <a:ea typeface="명조"/>
              </a:rPr>
              <a:t>:    </a:t>
            </a:r>
            <a:r>
              <a:rPr lang="ko-KR" altLang="en-US" sz="1350" b="1" dirty="0">
                <a:solidFill>
                  <a:srgbClr val="000000"/>
                </a:solidFill>
                <a:latin typeface="+mj-lt"/>
                <a:ea typeface="명조"/>
              </a:rPr>
              <a:t>중간시험</a:t>
            </a:r>
            <a:r>
              <a:rPr lang="en-US" altLang="ko-KR" sz="1350" b="1" dirty="0">
                <a:solidFill>
                  <a:srgbClr val="000000"/>
                </a:solidFill>
                <a:latin typeface="+mj-lt"/>
                <a:ea typeface="명조"/>
              </a:rPr>
              <a:t>(30%) </a:t>
            </a:r>
            <a:r>
              <a:rPr lang="ko-KR" altLang="en-US" sz="1350" b="1" dirty="0">
                <a:solidFill>
                  <a:srgbClr val="000000"/>
                </a:solidFill>
                <a:latin typeface="+mj-lt"/>
                <a:ea typeface="명조"/>
              </a:rPr>
              <a:t>기말시험</a:t>
            </a:r>
            <a:r>
              <a:rPr lang="en-US" altLang="ko-KR" sz="1350" b="1" dirty="0">
                <a:solidFill>
                  <a:srgbClr val="000000"/>
                </a:solidFill>
                <a:latin typeface="+mj-lt"/>
                <a:ea typeface="명조"/>
              </a:rPr>
              <a:t>(30%) </a:t>
            </a:r>
            <a:r>
              <a:rPr lang="ko-KR" altLang="en-US" sz="1350" b="1" dirty="0">
                <a:solidFill>
                  <a:srgbClr val="000000"/>
                </a:solidFill>
                <a:latin typeface="+mj-lt"/>
                <a:ea typeface="명조"/>
              </a:rPr>
              <a:t>출석</a:t>
            </a:r>
            <a:r>
              <a:rPr lang="en-US" altLang="ko-KR" sz="1350" b="1" dirty="0">
                <a:solidFill>
                  <a:srgbClr val="000000"/>
                </a:solidFill>
                <a:latin typeface="+mj-lt"/>
                <a:ea typeface="명조"/>
              </a:rPr>
              <a:t>(10%) </a:t>
            </a:r>
            <a:r>
              <a:rPr lang="ko-KR" altLang="en-US" sz="1350" b="1" dirty="0">
                <a:solidFill>
                  <a:srgbClr val="000000"/>
                </a:solidFill>
                <a:latin typeface="+mj-lt"/>
                <a:ea typeface="명조"/>
              </a:rPr>
              <a:t>과제</a:t>
            </a:r>
            <a:r>
              <a:rPr lang="en-US" altLang="ko-KR" sz="1350" b="1" dirty="0">
                <a:solidFill>
                  <a:srgbClr val="000000"/>
                </a:solidFill>
                <a:latin typeface="+mj-lt"/>
                <a:ea typeface="명조"/>
              </a:rPr>
              <a:t>(30%)</a:t>
            </a:r>
            <a:endParaRPr lang="ko-KR" altLang="en-US" sz="1350" b="1" dirty="0">
              <a:solidFill>
                <a:srgbClr val="000000"/>
              </a:solidFill>
              <a:latin typeface="+mj-lt"/>
            </a:endParaRPr>
          </a:p>
          <a:p>
            <a:pPr marL="0" indent="0" algn="just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ko-KR" sz="1350" b="1" dirty="0">
                <a:solidFill>
                  <a:srgbClr val="000000"/>
                </a:solidFill>
                <a:latin typeface="+mj-lt"/>
                <a:ea typeface="명조"/>
              </a:rPr>
              <a:t>8. </a:t>
            </a:r>
            <a:r>
              <a:rPr lang="ko-KR" altLang="en-US" sz="1350" b="1" dirty="0">
                <a:solidFill>
                  <a:srgbClr val="000000"/>
                </a:solidFill>
                <a:latin typeface="+mj-lt"/>
                <a:ea typeface="명조"/>
              </a:rPr>
              <a:t>시험    </a:t>
            </a:r>
            <a:r>
              <a:rPr lang="en-US" altLang="ko-KR" sz="1350" b="1" dirty="0">
                <a:solidFill>
                  <a:srgbClr val="000000"/>
                </a:solidFill>
                <a:latin typeface="+mj-lt"/>
                <a:ea typeface="명조"/>
              </a:rPr>
              <a:t>– </a:t>
            </a:r>
            <a:r>
              <a:rPr lang="ko-KR" altLang="en-US" sz="1350" b="1" dirty="0">
                <a:solidFill>
                  <a:srgbClr val="000000"/>
                </a:solidFill>
                <a:highlight>
                  <a:srgbClr val="FFFF00"/>
                </a:highlight>
                <a:latin typeface="+mj-lt"/>
                <a:ea typeface="명조"/>
              </a:rPr>
              <a:t>객관식</a:t>
            </a:r>
            <a:r>
              <a:rPr lang="en-US" altLang="ko-KR" sz="1350" b="1" dirty="0">
                <a:solidFill>
                  <a:srgbClr val="000000"/>
                </a:solidFill>
                <a:highlight>
                  <a:srgbClr val="FFFF00"/>
                </a:highlight>
                <a:latin typeface="+mj-lt"/>
                <a:ea typeface="명조"/>
              </a:rPr>
              <a:t>, </a:t>
            </a:r>
            <a:r>
              <a:rPr lang="ko-KR" altLang="en-US" sz="1350" b="1" dirty="0">
                <a:solidFill>
                  <a:srgbClr val="000000"/>
                </a:solidFill>
                <a:highlight>
                  <a:srgbClr val="FFFF00"/>
                </a:highlight>
                <a:latin typeface="+mj-lt"/>
                <a:ea typeface="명조"/>
              </a:rPr>
              <a:t>단답형</a:t>
            </a:r>
            <a:r>
              <a:rPr lang="en-US" altLang="ko-KR" sz="1350" b="1" dirty="0">
                <a:solidFill>
                  <a:srgbClr val="000000"/>
                </a:solidFill>
                <a:highlight>
                  <a:srgbClr val="FFFF00"/>
                </a:highlight>
                <a:latin typeface="+mj-lt"/>
                <a:ea typeface="명조"/>
              </a:rPr>
              <a:t>, </a:t>
            </a:r>
            <a:r>
              <a:rPr lang="ko-KR" altLang="en-US" sz="1350" b="1" dirty="0">
                <a:solidFill>
                  <a:srgbClr val="000000"/>
                </a:solidFill>
                <a:highlight>
                  <a:srgbClr val="FFFF00"/>
                </a:highlight>
                <a:latin typeface="+mj-lt"/>
                <a:ea typeface="명조"/>
              </a:rPr>
              <a:t>오픈 북</a:t>
            </a:r>
            <a:r>
              <a:rPr lang="en-US" altLang="ko-KR" sz="1350" b="1" dirty="0">
                <a:solidFill>
                  <a:srgbClr val="000000"/>
                </a:solidFill>
                <a:highlight>
                  <a:srgbClr val="FFFF00"/>
                </a:highlight>
                <a:latin typeface="+mj-lt"/>
                <a:ea typeface="명조"/>
              </a:rPr>
              <a:t>, </a:t>
            </a:r>
            <a:r>
              <a:rPr lang="ko-KR" altLang="en-US" sz="1350" b="1" dirty="0">
                <a:solidFill>
                  <a:srgbClr val="000000"/>
                </a:solidFill>
                <a:highlight>
                  <a:srgbClr val="FFFF00"/>
                </a:highlight>
                <a:latin typeface="+mj-lt"/>
                <a:ea typeface="명조"/>
              </a:rPr>
              <a:t>문제해결형</a:t>
            </a:r>
            <a:r>
              <a:rPr lang="en-US" altLang="ko-KR" sz="1350" b="1" dirty="0">
                <a:solidFill>
                  <a:srgbClr val="000000"/>
                </a:solidFill>
                <a:highlight>
                  <a:srgbClr val="FFFF00"/>
                </a:highlight>
                <a:latin typeface="+mj-lt"/>
                <a:ea typeface="명조"/>
              </a:rPr>
              <a:t> </a:t>
            </a:r>
            <a:r>
              <a:rPr lang="ko-KR" altLang="en-US" sz="1350" b="1" dirty="0">
                <a:solidFill>
                  <a:srgbClr val="000000"/>
                </a:solidFill>
                <a:highlight>
                  <a:srgbClr val="FFFF00"/>
                </a:highlight>
                <a:latin typeface="+mj-lt"/>
                <a:ea typeface="명조"/>
              </a:rPr>
              <a:t>등등</a:t>
            </a:r>
            <a:endParaRPr lang="ko-KR" altLang="en-US" sz="1350" b="1" dirty="0">
              <a:solidFill>
                <a:srgbClr val="000000"/>
              </a:solidFill>
              <a:highlight>
                <a:srgbClr val="FFFF00"/>
              </a:highlight>
              <a:latin typeface="+mj-lt"/>
            </a:endParaRPr>
          </a:p>
          <a:p>
            <a:pPr marL="0" indent="0" algn="just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ko-KR" sz="1350" b="1" dirty="0">
                <a:solidFill>
                  <a:srgbClr val="000000"/>
                </a:solidFill>
                <a:latin typeface="+mj-lt"/>
                <a:ea typeface="명조"/>
              </a:rPr>
              <a:t>9. </a:t>
            </a:r>
            <a:r>
              <a:rPr lang="ko-KR" altLang="en-US" sz="1350" b="1" dirty="0">
                <a:solidFill>
                  <a:srgbClr val="000000"/>
                </a:solidFill>
                <a:latin typeface="+mj-lt"/>
                <a:ea typeface="명조"/>
              </a:rPr>
              <a:t>과제    </a:t>
            </a:r>
            <a:r>
              <a:rPr lang="en-US" altLang="ko-KR" sz="1350" b="1" dirty="0">
                <a:solidFill>
                  <a:srgbClr val="000000"/>
                </a:solidFill>
                <a:latin typeface="+mj-lt"/>
                <a:ea typeface="명조"/>
              </a:rPr>
              <a:t>– </a:t>
            </a:r>
            <a:r>
              <a:rPr lang="ko-KR" altLang="en-US" sz="1350" b="1" dirty="0">
                <a:solidFill>
                  <a:srgbClr val="000000"/>
                </a:solidFill>
                <a:latin typeface="+mj-lt"/>
                <a:ea typeface="명조"/>
              </a:rPr>
              <a:t>마케팅 논문 </a:t>
            </a:r>
            <a:r>
              <a:rPr lang="en-US" altLang="ko-KR" sz="1350" b="1" dirty="0">
                <a:solidFill>
                  <a:srgbClr val="000000"/>
                </a:solidFill>
                <a:latin typeface="+mj-lt"/>
                <a:ea typeface="명조"/>
              </a:rPr>
              <a:t>_ </a:t>
            </a:r>
            <a:r>
              <a:rPr lang="ko-KR" altLang="en-US" sz="1350" b="1" dirty="0">
                <a:solidFill>
                  <a:srgbClr val="000000"/>
                </a:solidFill>
                <a:latin typeface="+mj-lt"/>
                <a:ea typeface="명조"/>
              </a:rPr>
              <a:t>읽고 이해한 내용 설명 작성 제출</a:t>
            </a:r>
            <a:endParaRPr lang="en-US" altLang="ko-KR" sz="1350" b="1" dirty="0">
              <a:solidFill>
                <a:srgbClr val="000000"/>
              </a:solidFill>
              <a:latin typeface="+mj-lt"/>
              <a:ea typeface="명조"/>
            </a:endParaRPr>
          </a:p>
          <a:p>
            <a:pPr marL="0" indent="0" algn="just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ko-KR" sz="1350" b="1" dirty="0">
                <a:solidFill>
                  <a:srgbClr val="000000"/>
                </a:solidFill>
                <a:latin typeface="+mj-lt"/>
                <a:ea typeface="명조"/>
              </a:rPr>
              <a:t>                 -&gt;</a:t>
            </a:r>
            <a:r>
              <a:rPr lang="ko-KR" altLang="en-US" sz="1350" b="1" dirty="0">
                <a:solidFill>
                  <a:srgbClr val="000000"/>
                </a:solidFill>
                <a:latin typeface="+mj-lt"/>
                <a:ea typeface="명조"/>
              </a:rPr>
              <a:t>총 </a:t>
            </a:r>
            <a:r>
              <a:rPr lang="en-US" altLang="ko-KR" sz="1350" b="1" dirty="0">
                <a:solidFill>
                  <a:srgbClr val="000000"/>
                </a:solidFill>
                <a:latin typeface="+mj-lt"/>
                <a:ea typeface="명조"/>
              </a:rPr>
              <a:t>2</a:t>
            </a:r>
            <a:r>
              <a:rPr lang="ko-KR" altLang="en-US" sz="1350" b="1" dirty="0">
                <a:solidFill>
                  <a:srgbClr val="000000"/>
                </a:solidFill>
                <a:latin typeface="+mj-lt"/>
                <a:ea typeface="명조"/>
              </a:rPr>
              <a:t>개 </a:t>
            </a:r>
            <a:r>
              <a:rPr lang="en-US" altLang="ko-KR" sz="1350" b="1" dirty="0">
                <a:solidFill>
                  <a:srgbClr val="000000"/>
                </a:solidFill>
                <a:latin typeface="+mj-lt"/>
                <a:ea typeface="명조"/>
              </a:rPr>
              <a:t>(1</a:t>
            </a:r>
            <a:r>
              <a:rPr lang="ko-KR" altLang="en-US" sz="1350" b="1" dirty="0">
                <a:solidFill>
                  <a:srgbClr val="000000"/>
                </a:solidFill>
                <a:latin typeface="+mj-lt"/>
                <a:ea typeface="명조"/>
              </a:rPr>
              <a:t>개는 제시</a:t>
            </a:r>
            <a:r>
              <a:rPr lang="en-US" altLang="ko-KR" sz="1350" b="1" dirty="0">
                <a:solidFill>
                  <a:srgbClr val="000000"/>
                </a:solidFill>
                <a:latin typeface="+mj-lt"/>
                <a:ea typeface="명조"/>
              </a:rPr>
              <a:t>, 1</a:t>
            </a:r>
            <a:r>
              <a:rPr lang="ko-KR" altLang="en-US" sz="1350" b="1" dirty="0">
                <a:solidFill>
                  <a:srgbClr val="000000"/>
                </a:solidFill>
                <a:latin typeface="+mj-lt"/>
                <a:ea typeface="명조"/>
              </a:rPr>
              <a:t>개는 개별</a:t>
            </a:r>
            <a:r>
              <a:rPr lang="en-US" altLang="ko-KR" sz="1350" b="1" dirty="0">
                <a:solidFill>
                  <a:srgbClr val="000000"/>
                </a:solidFill>
                <a:latin typeface="+mj-lt"/>
                <a:ea typeface="명조"/>
              </a:rPr>
              <a:t>)</a:t>
            </a:r>
          </a:p>
          <a:p>
            <a:pPr marL="0" indent="0" algn="just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ko-KR" sz="1350" b="1" dirty="0">
                <a:solidFill>
                  <a:srgbClr val="000000"/>
                </a:solidFill>
                <a:latin typeface="+mj-lt"/>
                <a:ea typeface="명조"/>
              </a:rPr>
              <a:t>                 -&gt;1)</a:t>
            </a:r>
            <a:r>
              <a:rPr lang="ko-KR" altLang="en-US" sz="1350" b="1" dirty="0">
                <a:solidFill>
                  <a:srgbClr val="000000"/>
                </a:solidFill>
                <a:latin typeface="+mj-lt"/>
                <a:ea typeface="명조"/>
              </a:rPr>
              <a:t>연구모형 설명</a:t>
            </a:r>
            <a:r>
              <a:rPr lang="en-US" altLang="ko-KR" sz="1350" b="1" dirty="0">
                <a:solidFill>
                  <a:srgbClr val="000000"/>
                </a:solidFill>
                <a:latin typeface="+mj-lt"/>
                <a:ea typeface="명조"/>
              </a:rPr>
              <a:t>2)</a:t>
            </a:r>
            <a:r>
              <a:rPr lang="ko-KR" altLang="en-US" sz="1350" b="1" dirty="0">
                <a:solidFill>
                  <a:srgbClr val="000000"/>
                </a:solidFill>
                <a:latin typeface="+mj-lt"/>
                <a:ea typeface="명조"/>
              </a:rPr>
              <a:t>연구결과</a:t>
            </a:r>
            <a:r>
              <a:rPr lang="en-US" altLang="ko-KR" sz="1350" b="1" dirty="0">
                <a:solidFill>
                  <a:srgbClr val="000000"/>
                </a:solidFill>
                <a:latin typeface="+mj-lt"/>
                <a:ea typeface="명조"/>
              </a:rPr>
              <a:t>3)</a:t>
            </a:r>
            <a:r>
              <a:rPr lang="ko-KR" altLang="en-US" sz="1350" b="1" dirty="0">
                <a:solidFill>
                  <a:srgbClr val="000000"/>
                </a:solidFill>
                <a:latin typeface="+mj-lt"/>
                <a:ea typeface="명조"/>
              </a:rPr>
              <a:t>시사점</a:t>
            </a:r>
            <a:r>
              <a:rPr lang="en-US" altLang="ko-KR" sz="1350" b="1" dirty="0">
                <a:solidFill>
                  <a:srgbClr val="000000"/>
                </a:solidFill>
                <a:latin typeface="+mj-lt"/>
                <a:ea typeface="명조"/>
              </a:rPr>
              <a:t>(</a:t>
            </a:r>
            <a:r>
              <a:rPr lang="ko-KR" altLang="en-US" sz="1350" b="1" dirty="0">
                <a:solidFill>
                  <a:srgbClr val="000000"/>
                </a:solidFill>
                <a:latin typeface="+mj-lt"/>
                <a:ea typeface="명조"/>
              </a:rPr>
              <a:t>학문적</a:t>
            </a:r>
            <a:r>
              <a:rPr lang="en-US" altLang="ko-KR" sz="1350" b="1" dirty="0">
                <a:solidFill>
                  <a:srgbClr val="000000"/>
                </a:solidFill>
                <a:latin typeface="+mj-lt"/>
                <a:ea typeface="명조"/>
              </a:rPr>
              <a:t>,</a:t>
            </a:r>
            <a:r>
              <a:rPr lang="ko-KR" altLang="en-US" sz="1350" b="1" dirty="0">
                <a:solidFill>
                  <a:srgbClr val="000000"/>
                </a:solidFill>
                <a:latin typeface="+mj-lt"/>
                <a:ea typeface="명조"/>
              </a:rPr>
              <a:t>실무적</a:t>
            </a:r>
            <a:r>
              <a:rPr lang="en-US" altLang="ko-KR" sz="1350" b="1" dirty="0">
                <a:solidFill>
                  <a:srgbClr val="000000"/>
                </a:solidFill>
                <a:latin typeface="+mj-lt"/>
                <a:ea typeface="명조"/>
              </a:rPr>
              <a:t>)</a:t>
            </a:r>
          </a:p>
          <a:p>
            <a:pPr marL="0" indent="0" algn="just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ko-KR" sz="1350" b="1" dirty="0">
                <a:solidFill>
                  <a:srgbClr val="000000"/>
                </a:solidFill>
                <a:latin typeface="+mj-lt"/>
              </a:rPr>
              <a:t>             - </a:t>
            </a:r>
            <a:r>
              <a:rPr lang="ko-KR" altLang="en-US" sz="1350" b="1" dirty="0">
                <a:solidFill>
                  <a:srgbClr val="000000"/>
                </a:solidFill>
                <a:latin typeface="+mj-lt"/>
              </a:rPr>
              <a:t>마케팅의 개관에 따른 </a:t>
            </a:r>
            <a:r>
              <a:rPr lang="en-US" altLang="ko-KR" sz="1350" b="1" dirty="0">
                <a:solidFill>
                  <a:srgbClr val="000000"/>
                </a:solidFill>
                <a:latin typeface="+mj-lt"/>
              </a:rPr>
              <a:t>1)</a:t>
            </a:r>
            <a:r>
              <a:rPr lang="ko-KR" altLang="en-US" sz="1350" b="1" dirty="0">
                <a:solidFill>
                  <a:srgbClr val="000000"/>
                </a:solidFill>
                <a:latin typeface="+mj-lt"/>
              </a:rPr>
              <a:t>사업계획서 작성</a:t>
            </a:r>
            <a:r>
              <a:rPr lang="en-US" altLang="ko-KR" sz="1350" b="1" dirty="0">
                <a:solidFill>
                  <a:srgbClr val="000000"/>
                </a:solidFill>
                <a:latin typeface="+mj-lt"/>
              </a:rPr>
              <a:t>_2)</a:t>
            </a:r>
            <a:r>
              <a:rPr lang="ko-KR" altLang="en-US" sz="1350" b="1" dirty="0">
                <a:solidFill>
                  <a:srgbClr val="000000"/>
                </a:solidFill>
                <a:latin typeface="+mj-lt"/>
              </a:rPr>
              <a:t>조별토의</a:t>
            </a:r>
            <a:r>
              <a:rPr lang="en-US" altLang="ko-KR" sz="1350" b="1" dirty="0">
                <a:solidFill>
                  <a:srgbClr val="000000"/>
                </a:solidFill>
                <a:latin typeface="+mj-lt"/>
              </a:rPr>
              <a:t>_</a:t>
            </a:r>
          </a:p>
          <a:p>
            <a:pPr marL="0" indent="0" algn="just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ko-KR" sz="1350" b="1" dirty="0">
                <a:solidFill>
                  <a:srgbClr val="000000"/>
                </a:solidFill>
                <a:latin typeface="+mj-lt"/>
              </a:rPr>
              <a:t>                                             - </a:t>
            </a:r>
            <a:r>
              <a:rPr lang="ko-KR" altLang="en-US" sz="1350" b="1" dirty="0">
                <a:solidFill>
                  <a:srgbClr val="000000"/>
                </a:solidFill>
                <a:latin typeface="+mj-lt"/>
              </a:rPr>
              <a:t>마지막주 최종발표 </a:t>
            </a:r>
            <a:r>
              <a:rPr lang="en-US" altLang="ko-KR" sz="1350" b="1" dirty="0">
                <a:solidFill>
                  <a:srgbClr val="000000"/>
                </a:solidFill>
                <a:latin typeface="+mj-lt"/>
              </a:rPr>
              <a:t>3)</a:t>
            </a:r>
            <a:r>
              <a:rPr lang="ko-KR" altLang="en-US" sz="1350" b="1" dirty="0">
                <a:solidFill>
                  <a:srgbClr val="000000"/>
                </a:solidFill>
                <a:latin typeface="+mj-lt"/>
              </a:rPr>
              <a:t>제출</a:t>
            </a:r>
          </a:p>
          <a:p>
            <a:pPr marL="0" indent="0" algn="just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ko-KR" sz="1350" b="1" dirty="0">
                <a:solidFill>
                  <a:srgbClr val="000000"/>
                </a:solidFill>
                <a:latin typeface="+mj-lt"/>
                <a:ea typeface="명조"/>
              </a:rPr>
              <a:t>10. </a:t>
            </a:r>
            <a:r>
              <a:rPr lang="ko-KR" altLang="en-US" sz="1350" b="1" dirty="0">
                <a:solidFill>
                  <a:srgbClr val="000000"/>
                </a:solidFill>
                <a:latin typeface="+mj-lt"/>
                <a:ea typeface="명조"/>
              </a:rPr>
              <a:t>출석  </a:t>
            </a:r>
            <a:r>
              <a:rPr lang="en-US" altLang="ko-KR" sz="1350" b="1" dirty="0">
                <a:solidFill>
                  <a:srgbClr val="000000"/>
                </a:solidFill>
                <a:latin typeface="+mj-lt"/>
                <a:ea typeface="명조"/>
              </a:rPr>
              <a:t>– </a:t>
            </a:r>
            <a:r>
              <a:rPr lang="ko-KR" altLang="en-US" sz="1350" b="1" dirty="0">
                <a:solidFill>
                  <a:srgbClr val="000000"/>
                </a:solidFill>
                <a:latin typeface="+mj-lt"/>
                <a:ea typeface="명조"/>
              </a:rPr>
              <a:t>출석 해주세요</a:t>
            </a:r>
            <a:r>
              <a:rPr lang="en-US" altLang="ko-KR" sz="1350" b="1" dirty="0">
                <a:solidFill>
                  <a:srgbClr val="000000"/>
                </a:solidFill>
                <a:latin typeface="+mj-lt"/>
                <a:ea typeface="명조"/>
              </a:rPr>
              <a:t>. ………….?</a:t>
            </a:r>
            <a:endParaRPr lang="ko-KR" altLang="en-US" sz="1350" b="1" dirty="0">
              <a:solidFill>
                <a:srgbClr val="000000"/>
              </a:solidFill>
              <a:latin typeface="+mj-lt"/>
            </a:endParaRPr>
          </a:p>
          <a:p>
            <a:pPr marL="0" indent="0" algn="just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ko-KR" sz="1350" b="1" dirty="0">
                <a:solidFill>
                  <a:srgbClr val="000000"/>
                </a:solidFill>
                <a:latin typeface="+mj-lt"/>
                <a:ea typeface="명조"/>
              </a:rPr>
              <a:t>                 </a:t>
            </a:r>
            <a:endParaRPr lang="ko-KR" altLang="en-US" sz="1350" dirty="0">
              <a:solidFill>
                <a:srgbClr val="000000"/>
              </a:solidFill>
              <a:latin typeface="명조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D726612-627A-4F4B-AA1D-FA53DF3C0AB1}"/>
              </a:ext>
            </a:extLst>
          </p:cNvPr>
          <p:cNvSpPr/>
          <p:nvPr/>
        </p:nvSpPr>
        <p:spPr>
          <a:xfrm rot="5400000">
            <a:off x="-3017520" y="3017520"/>
            <a:ext cx="6858000" cy="82296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Picture 2" descr="Kotler의 마케팅 원리(16판)">
            <a:extLst>
              <a:ext uri="{FF2B5EF4-FFF2-40B4-BE49-F238E27FC236}">
                <a16:creationId xmlns:a16="http://schemas.microsoft.com/office/drawing/2014/main" id="{12B00247-411F-81E6-C991-3870E0381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6684" y="2224087"/>
            <a:ext cx="1885950" cy="2409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4">
            <a:extLst>
              <a:ext uri="{FF2B5EF4-FFF2-40B4-BE49-F238E27FC236}">
                <a16:creationId xmlns:a16="http://schemas.microsoft.com/office/drawing/2014/main" id="{394BD0E1-D3A6-4E24-9C28-B26B10B404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1796" y="4809738"/>
            <a:ext cx="2369597" cy="969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317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400" b="0" i="0" u="none" strike="noStrike" cap="none" normalizeH="0" baseline="0" dirty="0">
                <a:ln>
                  <a:noFill/>
                </a:ln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  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             </a:t>
            </a:r>
            <a:endParaRPr kumimoji="0" lang="ko-KR" altLang="ko-KR" sz="1800" b="1" i="0" u="none" strike="noStrike" cap="none" normalizeH="0" baseline="0" dirty="0">
              <a:ln>
                <a:noFill/>
              </a:ln>
              <a:solidFill>
                <a:srgbClr val="3A60DF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rgbClr val="3A60D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Kotler의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rgbClr val="3A60D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마케팅 원리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16판</a:t>
            </a:r>
            <a:endParaRPr kumimoji="0" lang="ko-KR" altLang="ko-KR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  <a:hlinkClick r:id="rId3"/>
              </a:rPr>
              <a:t>Philip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  <a:hlinkClick r:id="rId3"/>
              </a:rPr>
              <a:t>Kotler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 , 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  <a:hlinkClick r:id="rId3"/>
              </a:rPr>
              <a:t>Gary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  <a:hlinkClick r:id="rId3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  <a:hlinkClick r:id="rId3"/>
              </a:rPr>
              <a:t>Armstrong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 지음 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|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 </a:t>
            </a:r>
            <a:endParaRPr kumimoji="0" lang="en-US" altLang="ko-KR" sz="900" b="0" i="0" u="none" strike="noStrike" cap="none" normalizeH="0" baseline="0" dirty="0">
              <a:ln>
                <a:noFill/>
              </a:ln>
              <a:solidFill>
                <a:srgbClr val="777777"/>
              </a:solidFill>
              <a:effectLst/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  <a:hlinkClick r:id="rId3"/>
              </a:rPr>
              <a:t>안광호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 , 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  <a:hlinkClick r:id="rId3"/>
              </a:rPr>
              <a:t>유창조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 , 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  <a:hlinkClick r:id="rId3"/>
              </a:rPr>
              <a:t>전승우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 옮김 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|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 </a:t>
            </a:r>
            <a:endParaRPr kumimoji="0" lang="en-US" altLang="ko-KR" sz="900" b="0" i="0" u="none" strike="noStrike" cap="none" normalizeH="0" baseline="0" dirty="0">
              <a:ln>
                <a:noFill/>
              </a:ln>
              <a:solidFill>
                <a:srgbClr val="777777"/>
              </a:solidFill>
              <a:effectLst/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  <a:hlinkClick r:id="rId3"/>
              </a:rPr>
              <a:t>시그마프레스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 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|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 2017년 08월 25일 출간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7" descr="마케팅 브레인">
            <a:extLst>
              <a:ext uri="{FF2B5EF4-FFF2-40B4-BE49-F238E27FC236}">
                <a16:creationId xmlns:a16="http://schemas.microsoft.com/office/drawing/2014/main" id="{E495C903-0CF9-BE06-9EA1-536C1AE235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7330" y="1777163"/>
            <a:ext cx="1876425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5DF03B4-C755-3BB4-4608-F8EB89EF348A}"/>
              </a:ext>
            </a:extLst>
          </p:cNvPr>
          <p:cNvSpPr txBox="1"/>
          <p:nvPr/>
        </p:nvSpPr>
        <p:spPr>
          <a:xfrm>
            <a:off x="9736818" y="4925154"/>
            <a:ext cx="214414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b="1" i="0" dirty="0">
                <a:solidFill>
                  <a:srgbClr val="3A60DF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마케팅 브레인 </a:t>
            </a:r>
          </a:p>
          <a:p>
            <a:pPr algn="l"/>
            <a:r>
              <a:rPr lang="ko-KR" altLang="en-US" sz="1200" b="0" i="0" u="none" strike="noStrike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  <a:hlinkClick r:id="rId5"/>
              </a:rPr>
              <a:t>김지헌</a:t>
            </a:r>
            <a:r>
              <a:rPr lang="ko-KR" altLang="en-US" sz="1200" b="0" i="0" dirty="0">
                <a:solidFill>
                  <a:srgbClr val="777777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 지음 </a:t>
            </a:r>
            <a:r>
              <a:rPr lang="en-US" altLang="ko-KR" sz="1200" b="0" i="0" dirty="0">
                <a:solidFill>
                  <a:srgbClr val="AAAAAA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|</a:t>
            </a:r>
            <a:r>
              <a:rPr lang="ko-KR" altLang="en-US" sz="1200" b="0" i="0" dirty="0">
                <a:solidFill>
                  <a:srgbClr val="777777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 </a:t>
            </a:r>
            <a:r>
              <a:rPr lang="ko-KR" altLang="en-US" sz="1200" b="0" i="0" u="none" strike="noStrike" dirty="0" err="1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  <a:hlinkClick r:id="rId5"/>
              </a:rPr>
              <a:t>갈매나무</a:t>
            </a:r>
            <a:r>
              <a:rPr lang="ko-KR" altLang="en-US" sz="1200" b="0" i="0" dirty="0">
                <a:solidFill>
                  <a:srgbClr val="777777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 </a:t>
            </a:r>
            <a:r>
              <a:rPr lang="en-US" altLang="ko-KR" sz="1200" b="0" i="0" dirty="0">
                <a:solidFill>
                  <a:srgbClr val="AAAAAA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|</a:t>
            </a:r>
          </a:p>
          <a:p>
            <a:pPr algn="l"/>
            <a:r>
              <a:rPr lang="ko-KR" altLang="en-US" sz="1200" b="0" i="0" dirty="0">
                <a:solidFill>
                  <a:srgbClr val="777777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 </a:t>
            </a:r>
            <a:r>
              <a:rPr lang="en-US" altLang="ko-KR" sz="1200" b="0" i="0" dirty="0">
                <a:solidFill>
                  <a:srgbClr val="777777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2021</a:t>
            </a:r>
            <a:r>
              <a:rPr lang="ko-KR" altLang="en-US" sz="1200" b="0" i="0" dirty="0">
                <a:solidFill>
                  <a:srgbClr val="777777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년 </a:t>
            </a:r>
            <a:r>
              <a:rPr lang="en-US" altLang="ko-KR" sz="1200" b="0" i="0" dirty="0">
                <a:solidFill>
                  <a:srgbClr val="777777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03</a:t>
            </a:r>
            <a:r>
              <a:rPr lang="ko-KR" altLang="en-US" sz="1200" b="0" i="0" dirty="0">
                <a:solidFill>
                  <a:srgbClr val="777777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월 </a:t>
            </a:r>
            <a:r>
              <a:rPr lang="en-US" altLang="ko-KR" sz="1200" b="0" i="0" dirty="0">
                <a:solidFill>
                  <a:srgbClr val="777777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25</a:t>
            </a:r>
            <a:r>
              <a:rPr lang="ko-KR" altLang="en-US" sz="1200" b="0" i="0" dirty="0">
                <a:solidFill>
                  <a:srgbClr val="777777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일 출간</a:t>
            </a:r>
          </a:p>
        </p:txBody>
      </p:sp>
    </p:spTree>
    <p:extLst>
      <p:ext uri="{BB962C8B-B14F-4D97-AF65-F5344CB8AC3E}">
        <p14:creationId xmlns:p14="http://schemas.microsoft.com/office/powerpoint/2010/main" val="2413280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6103"/>
    </mc:Choice>
    <mc:Fallback xmlns="">
      <p:transition spd="slow" advTm="306103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677865" y="346417"/>
            <a:ext cx="1935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 spc="500" dirty="0">
                <a:solidFill>
                  <a:srgbClr val="FF6405"/>
                </a:solidFill>
              </a:rPr>
              <a:t>CHAPTER</a:t>
            </a:r>
            <a:endParaRPr lang="ko-KR" altLang="en-US" sz="1400" spc="500" dirty="0">
              <a:solidFill>
                <a:srgbClr val="FF6405"/>
              </a:solidFill>
            </a:endParaRPr>
          </a:p>
        </p:txBody>
      </p:sp>
      <p:cxnSp>
        <p:nvCxnSpPr>
          <p:cNvPr id="7" name="직선 연결선 6"/>
          <p:cNvCxnSpPr/>
          <p:nvPr/>
        </p:nvCxnSpPr>
        <p:spPr>
          <a:xfrm>
            <a:off x="643467" y="654194"/>
            <a:ext cx="0" cy="961971"/>
          </a:xfrm>
          <a:prstGeom prst="line">
            <a:avLst/>
          </a:prstGeom>
          <a:ln w="38100">
            <a:solidFill>
              <a:srgbClr val="FF640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10270730" y="6244800"/>
            <a:ext cx="1076325" cy="0"/>
          </a:xfrm>
          <a:prstGeom prst="line">
            <a:avLst/>
          </a:prstGeom>
          <a:ln w="38100">
            <a:solidFill>
              <a:srgbClr val="FF640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4324621" y="152400"/>
            <a:ext cx="3176719" cy="804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</a:pPr>
            <a:r>
              <a:rPr lang="ko-KR" altLang="en-US" sz="4000" b="1" spc="-30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부교재</a:t>
            </a:r>
            <a:endParaRPr lang="ko-KR" altLang="en-US" sz="4000" b="1" spc="-3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EA451D8-E76D-4FD9-964E-A3926D959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9137A71-B61B-4C9B-94F5-E5910E5A1E5E}" type="slidenum">
              <a:rPr lang="ko-KR" altLang="en-US" smtClean="0"/>
              <a:pPr/>
              <a:t>8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D726612-627A-4F4B-AA1D-FA53DF3C0AB1}"/>
              </a:ext>
            </a:extLst>
          </p:cNvPr>
          <p:cNvSpPr/>
          <p:nvPr/>
        </p:nvSpPr>
        <p:spPr>
          <a:xfrm rot="5400000">
            <a:off x="-3017520" y="3017520"/>
            <a:ext cx="6858000" cy="82296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Picture 2" descr="Kotler의 마케팅 원리(16판)">
            <a:extLst>
              <a:ext uri="{FF2B5EF4-FFF2-40B4-BE49-F238E27FC236}">
                <a16:creationId xmlns:a16="http://schemas.microsoft.com/office/drawing/2014/main" id="{0ECAD275-BE17-439E-AA81-5CF69974C3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7848" y="1918341"/>
            <a:ext cx="2236304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4">
            <a:extLst>
              <a:ext uri="{FF2B5EF4-FFF2-40B4-BE49-F238E27FC236}">
                <a16:creationId xmlns:a16="http://schemas.microsoft.com/office/drawing/2014/main" id="{2F29D0F9-6F87-4E61-BF49-9486E6D614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7848" y="4877848"/>
            <a:ext cx="2369597" cy="969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317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400" b="0" i="0" u="none" strike="noStrike" cap="none" normalizeH="0" baseline="0" dirty="0">
                <a:ln>
                  <a:noFill/>
                </a:ln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  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             </a:t>
            </a:r>
            <a:endParaRPr kumimoji="0" lang="ko-KR" altLang="ko-KR" sz="1800" b="1" i="0" u="none" strike="noStrike" cap="none" normalizeH="0" baseline="0" dirty="0">
              <a:ln>
                <a:noFill/>
              </a:ln>
              <a:solidFill>
                <a:srgbClr val="3A60DF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rgbClr val="3A60D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Kotler의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rgbClr val="3A60D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마케팅 원리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16판</a:t>
            </a:r>
            <a:endParaRPr kumimoji="0" lang="ko-KR" altLang="ko-KR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  <a:hlinkClick r:id="rId3"/>
              </a:rPr>
              <a:t>Philip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  <a:hlinkClick r:id="rId3"/>
              </a:rPr>
              <a:t>Kotler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 , 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  <a:hlinkClick r:id="rId3"/>
              </a:rPr>
              <a:t>Gary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  <a:hlinkClick r:id="rId3"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  <a:hlinkClick r:id="rId3"/>
              </a:rPr>
              <a:t>Armstrong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 지음 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|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 </a:t>
            </a:r>
            <a:endParaRPr kumimoji="0" lang="en-US" altLang="ko-KR" sz="900" b="0" i="0" u="none" strike="noStrike" cap="none" normalizeH="0" baseline="0" dirty="0">
              <a:ln>
                <a:noFill/>
              </a:ln>
              <a:solidFill>
                <a:srgbClr val="777777"/>
              </a:solidFill>
              <a:effectLst/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  <a:hlinkClick r:id="rId3"/>
              </a:rPr>
              <a:t>안광호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 , 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  <a:hlinkClick r:id="rId3"/>
              </a:rPr>
              <a:t>유창조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 , 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  <a:hlinkClick r:id="rId3"/>
              </a:rPr>
              <a:t>전승우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 옮김 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|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 </a:t>
            </a:r>
            <a:endParaRPr kumimoji="0" lang="en-US" altLang="ko-KR" sz="900" b="0" i="0" u="none" strike="noStrike" cap="none" normalizeH="0" baseline="0" dirty="0">
              <a:ln>
                <a:noFill/>
              </a:ln>
              <a:solidFill>
                <a:srgbClr val="777777"/>
              </a:solidFill>
              <a:effectLst/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666666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  <a:hlinkClick r:id="rId3"/>
              </a:rPr>
              <a:t>시그마프레스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 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|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돋움" panose="020B0600000101010101" pitchFamily="50" charset="-127"/>
                <a:ea typeface="돋움" panose="020B0600000101010101" pitchFamily="50" charset="-127"/>
              </a:rPr>
              <a:t> 2017년 08월 25일 출간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103" name="Picture 7" descr="마케팅 브레인">
            <a:extLst>
              <a:ext uri="{FF2B5EF4-FFF2-40B4-BE49-F238E27FC236}">
                <a16:creationId xmlns:a16="http://schemas.microsoft.com/office/drawing/2014/main" id="{41B3EB27-4FC7-47F2-8F83-ECFF473D93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5563" y="1918341"/>
            <a:ext cx="1876425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1635A95-6C2D-43C9-97AD-60AD2453DFC8}"/>
              </a:ext>
            </a:extLst>
          </p:cNvPr>
          <p:cNvSpPr txBox="1"/>
          <p:nvPr/>
        </p:nvSpPr>
        <p:spPr>
          <a:xfrm>
            <a:off x="1875563" y="4993264"/>
            <a:ext cx="214414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b="1" i="0" dirty="0">
                <a:solidFill>
                  <a:srgbClr val="3A60DF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마케팅 브레인 </a:t>
            </a:r>
          </a:p>
          <a:p>
            <a:pPr algn="l"/>
            <a:r>
              <a:rPr lang="ko-KR" altLang="en-US" sz="1200" b="0" i="0" u="none" strike="noStrike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  <a:hlinkClick r:id="rId5"/>
              </a:rPr>
              <a:t>김지헌</a:t>
            </a:r>
            <a:r>
              <a:rPr lang="ko-KR" altLang="en-US" sz="1200" b="0" i="0" dirty="0">
                <a:solidFill>
                  <a:srgbClr val="777777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 지음 </a:t>
            </a:r>
            <a:r>
              <a:rPr lang="en-US" altLang="ko-KR" sz="1200" b="0" i="0" dirty="0">
                <a:solidFill>
                  <a:srgbClr val="AAAAAA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|</a:t>
            </a:r>
            <a:r>
              <a:rPr lang="ko-KR" altLang="en-US" sz="1200" b="0" i="0" dirty="0">
                <a:solidFill>
                  <a:srgbClr val="777777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 </a:t>
            </a:r>
            <a:r>
              <a:rPr lang="ko-KR" altLang="en-US" sz="1200" b="0" i="0" u="none" strike="noStrike" dirty="0" err="1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  <a:hlinkClick r:id="rId5"/>
              </a:rPr>
              <a:t>갈매나무</a:t>
            </a:r>
            <a:r>
              <a:rPr lang="ko-KR" altLang="en-US" sz="1200" b="0" i="0" dirty="0">
                <a:solidFill>
                  <a:srgbClr val="777777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 </a:t>
            </a:r>
            <a:r>
              <a:rPr lang="en-US" altLang="ko-KR" sz="1200" b="0" i="0" dirty="0">
                <a:solidFill>
                  <a:srgbClr val="AAAAAA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|</a:t>
            </a:r>
          </a:p>
          <a:p>
            <a:pPr algn="l"/>
            <a:r>
              <a:rPr lang="ko-KR" altLang="en-US" sz="1200" b="0" i="0" dirty="0">
                <a:solidFill>
                  <a:srgbClr val="777777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 </a:t>
            </a:r>
            <a:r>
              <a:rPr lang="en-US" altLang="ko-KR" sz="1200" b="0" i="0" dirty="0">
                <a:solidFill>
                  <a:srgbClr val="777777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2021</a:t>
            </a:r>
            <a:r>
              <a:rPr lang="ko-KR" altLang="en-US" sz="1200" b="0" i="0" dirty="0">
                <a:solidFill>
                  <a:srgbClr val="777777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년 </a:t>
            </a:r>
            <a:r>
              <a:rPr lang="en-US" altLang="ko-KR" sz="1200" b="0" i="0" dirty="0">
                <a:solidFill>
                  <a:srgbClr val="777777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03</a:t>
            </a:r>
            <a:r>
              <a:rPr lang="ko-KR" altLang="en-US" sz="1200" b="0" i="0" dirty="0">
                <a:solidFill>
                  <a:srgbClr val="777777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월 </a:t>
            </a:r>
            <a:r>
              <a:rPr lang="en-US" altLang="ko-KR" sz="1200" b="0" i="0" dirty="0">
                <a:solidFill>
                  <a:srgbClr val="777777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25</a:t>
            </a:r>
            <a:r>
              <a:rPr lang="ko-KR" altLang="en-US" sz="1200" b="0" i="0" dirty="0">
                <a:solidFill>
                  <a:srgbClr val="777777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일 출간</a:t>
            </a:r>
          </a:p>
        </p:txBody>
      </p:sp>
      <p:pic>
        <p:nvPicPr>
          <p:cNvPr id="2050" name="Picture 2" descr="마케팅론 (25-1학기) 대표 이미지">
            <a:extLst>
              <a:ext uri="{FF2B5EF4-FFF2-40B4-BE49-F238E27FC236}">
                <a16:creationId xmlns:a16="http://schemas.microsoft.com/office/drawing/2014/main" id="{97C25101-3AF0-7809-49F3-DB00FAFF20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291" y="1918342"/>
            <a:ext cx="2094983" cy="2959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B912CD7-AAA5-C629-7A7E-FBA98E4CA916}"/>
              </a:ext>
            </a:extLst>
          </p:cNvPr>
          <p:cNvSpPr txBox="1"/>
          <p:nvPr/>
        </p:nvSpPr>
        <p:spPr>
          <a:xfrm>
            <a:off x="8305584" y="4989397"/>
            <a:ext cx="3196748" cy="8560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25"/>
              </a:lnSpc>
              <a:spcAft>
                <a:spcPts val="750"/>
              </a:spcAft>
              <a:buNone/>
            </a:pPr>
            <a:r>
              <a:rPr lang="ko-KR" altLang="en-US" sz="16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  <a:hlinkClick r:id="rId7"/>
              </a:rPr>
              <a:t>라선아</a:t>
            </a:r>
            <a:r>
              <a:rPr lang="ko-KR" altLang="en-US" sz="16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 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, </a:t>
            </a:r>
            <a:r>
              <a:rPr lang="ko-KR" altLang="en-US" sz="16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  <a:hlinkClick r:id="rId8"/>
              </a:rPr>
              <a:t>박유경</a:t>
            </a:r>
            <a:r>
              <a:rPr lang="ko-KR" altLang="en-US" sz="16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 저자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(</a:t>
            </a:r>
            <a:r>
              <a:rPr lang="ko-KR" altLang="en-US" sz="16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글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)</a:t>
            </a:r>
          </a:p>
          <a:p>
            <a:pPr algn="l" fontAlgn="ctr">
              <a:lnSpc>
                <a:spcPts val="1650"/>
              </a:lnSpc>
              <a:spcAft>
                <a:spcPts val="1575"/>
              </a:spcAft>
              <a:buNone/>
            </a:pPr>
            <a:r>
              <a:rPr lang="ko-KR" altLang="en-US" sz="1600" b="0" i="0" u="none" strike="noStrike" dirty="0" err="1">
                <a:solidFill>
                  <a:srgbClr val="767676"/>
                </a:solidFill>
                <a:effectLst/>
                <a:latin typeface="Roboto" panose="02000000000000000000" pitchFamily="2" charset="0"/>
                <a:hlinkClick r:id="rId9"/>
              </a:rPr>
              <a:t>한국방송통신대학교출판문화원</a:t>
            </a:r>
            <a:r>
              <a:rPr lang="ko-KR" altLang="en-US" sz="1600" b="0" i="0" dirty="0">
                <a:solidFill>
                  <a:srgbClr val="767676"/>
                </a:solidFill>
                <a:effectLst/>
                <a:latin typeface="Roboto" panose="02000000000000000000" pitchFamily="2" charset="0"/>
              </a:rPr>
              <a:t> </a:t>
            </a:r>
            <a:r>
              <a:rPr lang="en-US" altLang="ko-KR" sz="1600" b="0" i="0" dirty="0">
                <a:solidFill>
                  <a:srgbClr val="767676"/>
                </a:solidFill>
                <a:effectLst/>
                <a:latin typeface="Roboto" panose="02000000000000000000" pitchFamily="2" charset="0"/>
              </a:rPr>
              <a:t>· 2024</a:t>
            </a:r>
            <a:r>
              <a:rPr lang="ko-KR" altLang="en-US" sz="1600" b="0" i="0" dirty="0">
                <a:solidFill>
                  <a:srgbClr val="767676"/>
                </a:solidFill>
                <a:effectLst/>
                <a:latin typeface="Roboto" panose="02000000000000000000" pitchFamily="2" charset="0"/>
              </a:rPr>
              <a:t>년 </a:t>
            </a:r>
            <a:r>
              <a:rPr lang="en-US" altLang="ko-KR" sz="1600" b="0" i="0" dirty="0">
                <a:solidFill>
                  <a:srgbClr val="767676"/>
                </a:solidFill>
                <a:effectLst/>
                <a:latin typeface="Roboto" panose="02000000000000000000" pitchFamily="2" charset="0"/>
              </a:rPr>
              <a:t>01</a:t>
            </a:r>
            <a:r>
              <a:rPr lang="ko-KR" altLang="en-US" sz="1600" b="0" i="0" dirty="0">
                <a:solidFill>
                  <a:srgbClr val="767676"/>
                </a:solidFill>
                <a:effectLst/>
                <a:latin typeface="Roboto" panose="02000000000000000000" pitchFamily="2" charset="0"/>
              </a:rPr>
              <a:t>월 </a:t>
            </a:r>
            <a:r>
              <a:rPr lang="en-US" altLang="ko-KR" sz="1600" b="0" i="0" dirty="0">
                <a:solidFill>
                  <a:srgbClr val="767676"/>
                </a:solidFill>
                <a:effectLst/>
                <a:latin typeface="Roboto" panose="02000000000000000000" pitchFamily="2" charset="0"/>
              </a:rPr>
              <a:t>25</a:t>
            </a:r>
            <a:r>
              <a:rPr lang="ko-KR" altLang="en-US" sz="1600" b="0" i="0" dirty="0">
                <a:solidFill>
                  <a:srgbClr val="767676"/>
                </a:solidFill>
                <a:effectLst/>
                <a:latin typeface="Roboto" panose="02000000000000000000" pitchFamily="2" charset="0"/>
              </a:rPr>
              <a:t>일</a:t>
            </a:r>
          </a:p>
        </p:txBody>
      </p:sp>
    </p:spTree>
    <p:extLst>
      <p:ext uri="{BB962C8B-B14F-4D97-AF65-F5344CB8AC3E}">
        <p14:creationId xmlns:p14="http://schemas.microsoft.com/office/powerpoint/2010/main" val="2100601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504"/>
    </mc:Choice>
    <mc:Fallback xmlns="">
      <p:transition spd="slow" advTm="62504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1553567" y="2015984"/>
            <a:ext cx="3052300" cy="2576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5000" spc="300" dirty="0">
                <a:solidFill>
                  <a:schemeClr val="tx2">
                    <a:lumMod val="7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8680" y="3090816"/>
            <a:ext cx="4839753" cy="991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5400" b="1" spc="-150" dirty="0">
                <a:solidFill>
                  <a:srgbClr val="3D3D3D"/>
                </a:solidFill>
                <a:latin typeface="+mj-ea"/>
                <a:ea typeface="+mj-ea"/>
              </a:rPr>
              <a:t>1. </a:t>
            </a:r>
            <a:r>
              <a:rPr lang="ko-KR" altLang="en-US" sz="5400" b="1" spc="-150" dirty="0">
                <a:solidFill>
                  <a:srgbClr val="3D3D3D"/>
                </a:solidFill>
                <a:latin typeface="+mj-ea"/>
                <a:ea typeface="+mj-ea"/>
              </a:rPr>
              <a:t>강의계획서</a:t>
            </a:r>
            <a:r>
              <a:rPr lang="en-US" altLang="ko-KR" sz="5400" b="1" spc="-150" dirty="0">
                <a:solidFill>
                  <a:srgbClr val="3D3D3D"/>
                </a:solidFill>
                <a:latin typeface="+mj-ea"/>
                <a:ea typeface="+mj-ea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5407629" y="2107161"/>
            <a:ext cx="0" cy="2757557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6790AC1-D279-47F7-9091-55BEA63DDF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72207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F6AA6B2-6183-4738-8678-7A7A0DC3667B}" type="slidenum">
              <a:rPr lang="ko-KR" altLang="en-US" smtClean="0"/>
              <a:pPr/>
              <a:t>9</a:t>
            </a:fld>
            <a:endParaRPr lang="ko-KR" altLang="en-US" sz="1100" dirty="0"/>
          </a:p>
        </p:txBody>
      </p:sp>
      <p:sp>
        <p:nvSpPr>
          <p:cNvPr id="10" name="직사각형 9"/>
          <p:cNvSpPr/>
          <p:nvPr/>
        </p:nvSpPr>
        <p:spPr>
          <a:xfrm rot="5400000">
            <a:off x="-3017520" y="3017520"/>
            <a:ext cx="6858000" cy="82296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50" t="41605" r="4577" b="41975"/>
          <a:stretch/>
        </p:blipFill>
        <p:spPr>
          <a:xfrm>
            <a:off x="10864735" y="329420"/>
            <a:ext cx="960867" cy="24814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D04FFE1-7874-43EC-9B59-53FED0235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8334" y="292234"/>
            <a:ext cx="1191208" cy="362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74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42"/>
    </mc:Choice>
    <mc:Fallback xmlns="">
      <p:transition spd="slow" advTm="2642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">
            <a:extLst>
              <a:ext uri="{FF2B5EF4-FFF2-40B4-BE49-F238E27FC236}">
                <a16:creationId xmlns:a16="http://schemas.microsoft.com/office/drawing/2014/main" id="{C201E218-07DF-40A5-91B7-554C41145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6775" y="816190"/>
            <a:ext cx="9798450" cy="3153643"/>
          </a:xfrm>
        </p:spPr>
        <p:txBody>
          <a:bodyPr>
            <a:normAutofit/>
          </a:bodyPr>
          <a:lstStyle/>
          <a:p>
            <a:r>
              <a:rPr lang="ko-KR" altLang="en-US" dirty="0"/>
              <a:t>강의 교재</a:t>
            </a:r>
            <a:br>
              <a:rPr lang="en-US" altLang="ko-KR" dirty="0"/>
            </a:b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78396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45"/>
    </mc:Choice>
    <mc:Fallback xmlns="">
      <p:transition spd="slow" advTm="2345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">
            <a:extLst>
              <a:ext uri="{FF2B5EF4-FFF2-40B4-BE49-F238E27FC236}">
                <a16:creationId xmlns:a16="http://schemas.microsoft.com/office/drawing/2014/main" id="{C201E218-07DF-40A5-91B7-554C41145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9976" y="208684"/>
            <a:ext cx="2722513" cy="868772"/>
          </a:xfrm>
        </p:spPr>
        <p:txBody>
          <a:bodyPr>
            <a:normAutofit/>
          </a:bodyPr>
          <a:lstStyle/>
          <a:p>
            <a:r>
              <a:rPr lang="ko-KR" altLang="en-US" dirty="0"/>
              <a:t>강의 교재</a:t>
            </a:r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FEDC08AD-0D9D-4768-8029-40109D588652}"/>
              </a:ext>
            </a:extLst>
          </p:cNvPr>
          <p:cNvSpPr txBox="1">
            <a:spLocks/>
          </p:cNvSpPr>
          <p:nvPr/>
        </p:nvSpPr>
        <p:spPr>
          <a:xfrm>
            <a:off x="5743755" y="1212351"/>
            <a:ext cx="6022942" cy="48391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1. </a:t>
            </a:r>
            <a:r>
              <a:rPr lang="en-US" altLang="ko-KR" b="1" dirty="0"/>
              <a:t>Philip Kotler</a:t>
            </a:r>
          </a:p>
          <a:p>
            <a:r>
              <a:rPr lang="ko-KR" altLang="en-US" dirty="0"/>
              <a:t>마케팅 원리</a:t>
            </a:r>
            <a:r>
              <a:rPr lang="en-US" altLang="ko-KR" dirty="0"/>
              <a:t>(Marketing Principle)_16</a:t>
            </a:r>
            <a:r>
              <a:rPr lang="ko-KR" altLang="en-US" dirty="0"/>
              <a:t>판</a:t>
            </a:r>
          </a:p>
        </p:txBody>
      </p:sp>
      <p:pic>
        <p:nvPicPr>
          <p:cNvPr id="1026" name="Picture 2" descr="Kotler의 마케팅 원리(16판)">
            <a:extLst>
              <a:ext uri="{FF2B5EF4-FFF2-40B4-BE49-F238E27FC236}">
                <a16:creationId xmlns:a16="http://schemas.microsoft.com/office/drawing/2014/main" id="{FF9F8288-DADE-49DD-A3CF-50CA18AB9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303" y="333153"/>
            <a:ext cx="4948300" cy="6322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F8FEEF0-02C5-5485-B8D6-8A532351BD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5637" y="5732651"/>
            <a:ext cx="6451689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“1902년 미국 대학 강의 개설 → </a:t>
            </a:r>
            <a:r>
              <a:rPr kumimoji="0" lang="en-US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ko-KR" altLang="en-US" sz="1200" dirty="0">
                <a:latin typeface="Arial" panose="020B0604020202020204" pitchFamily="34" charset="0"/>
              </a:rPr>
              <a:t>경제학 응용분야</a:t>
            </a:r>
            <a:r>
              <a:rPr kumimoji="0" lang="en-US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학문적 출발점”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“1950~60년대 소비자 중심 패러다임 → 현대 마케팅학 확립”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5DD0EE-37A4-0F6A-6D70-CB0A8B358CC2}"/>
              </a:ext>
            </a:extLst>
          </p:cNvPr>
          <p:cNvSpPr txBox="1"/>
          <p:nvPr/>
        </p:nvSpPr>
        <p:spPr>
          <a:xfrm>
            <a:off x="5798288" y="6055816"/>
            <a:ext cx="61804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미시간대학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일리노이대학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펜실베이니아대학</a:t>
            </a:r>
            <a:r>
              <a:rPr lang="ko-KR" altLang="en-US" sz="1200" dirty="0"/>
              <a:t> </a:t>
            </a:r>
            <a:r>
              <a:rPr lang="ko-KR" altLang="en-US" sz="1200" dirty="0" err="1"/>
              <a:t>와튼스쿨</a:t>
            </a:r>
            <a:r>
              <a:rPr lang="ko-KR" altLang="en-US" sz="1200" dirty="0"/>
              <a:t> </a:t>
            </a:r>
            <a:r>
              <a:rPr lang="en-US" altLang="ko-KR" sz="1200" b="1" dirty="0"/>
              <a:t>: </a:t>
            </a:r>
            <a:r>
              <a:rPr lang="ko-KR" altLang="en-US" sz="1200" b="1" dirty="0">
                <a:solidFill>
                  <a:srgbClr val="FF0000"/>
                </a:solidFill>
              </a:rPr>
              <a:t>유통</a:t>
            </a:r>
            <a:r>
              <a:rPr lang="ko-KR" altLang="en-US" sz="1200" b="1" dirty="0"/>
              <a:t>과 </a:t>
            </a:r>
            <a:r>
              <a:rPr lang="ko-KR" altLang="en-US" sz="1200" b="1" dirty="0">
                <a:solidFill>
                  <a:srgbClr val="FF0000"/>
                </a:solidFill>
              </a:rPr>
              <a:t>상품</a:t>
            </a:r>
            <a:r>
              <a:rPr lang="ko-KR" altLang="en-US" sz="1200" b="1" dirty="0"/>
              <a:t>의 흐름</a:t>
            </a:r>
            <a:r>
              <a:rPr lang="en-US" altLang="ko-KR" sz="1200" b="1" dirty="0"/>
              <a:t>-&gt;</a:t>
            </a:r>
            <a:r>
              <a:rPr lang="ko-KR" altLang="en-US" sz="1200" b="1" dirty="0">
                <a:solidFill>
                  <a:srgbClr val="FF0000"/>
                </a:solidFill>
              </a:rPr>
              <a:t>가격</a:t>
            </a:r>
            <a:r>
              <a:rPr lang="ko-KR" altLang="en-US" sz="1200" b="1" dirty="0"/>
              <a:t>결정</a:t>
            </a:r>
          </a:p>
        </p:txBody>
      </p:sp>
    </p:spTree>
    <p:extLst>
      <p:ext uri="{BB962C8B-B14F-4D97-AF65-F5344CB8AC3E}">
        <p14:creationId xmlns:p14="http://schemas.microsoft.com/office/powerpoint/2010/main" val="3743822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0438"/>
    </mc:Choice>
    <mc:Fallback xmlns="">
      <p:transition spd="slow" advTm="60438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713FFEA-6BA1-4FC0-BAF2-166EC88E26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4675" y="770562"/>
            <a:ext cx="7140539" cy="5743253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ko-KR" altLang="en-US" dirty="0">
                <a:solidFill>
                  <a:srgbClr val="FF0000"/>
                </a:solidFill>
              </a:rPr>
              <a:t>제</a:t>
            </a:r>
            <a:r>
              <a:rPr lang="en-US" altLang="ko-KR" dirty="0">
                <a:solidFill>
                  <a:srgbClr val="FF0000"/>
                </a:solidFill>
              </a:rPr>
              <a:t>1</a:t>
            </a:r>
            <a:r>
              <a:rPr lang="ko-KR" altLang="en-US" dirty="0">
                <a:solidFill>
                  <a:srgbClr val="FF0000"/>
                </a:solidFill>
              </a:rPr>
              <a:t>부 마케팅의 정의 및 마케팅프로세스 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고객가치</a:t>
            </a:r>
            <a:r>
              <a:rPr lang="en-US" altLang="ko-KR" dirty="0">
                <a:solidFill>
                  <a:srgbClr val="FF0000"/>
                </a:solidFill>
              </a:rPr>
              <a:t>+</a:t>
            </a:r>
            <a:r>
              <a:rPr lang="ko-KR" altLang="en-US" dirty="0">
                <a:solidFill>
                  <a:srgbClr val="FF0000"/>
                </a:solidFill>
              </a:rPr>
              <a:t>관계구축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br>
              <a:rPr lang="ko-KR" altLang="en-US" dirty="0"/>
            </a:br>
            <a:r>
              <a:rPr lang="ko-KR" altLang="en-US" dirty="0"/>
              <a:t>제</a:t>
            </a:r>
            <a:r>
              <a:rPr lang="en-US" altLang="ko-KR" dirty="0"/>
              <a:t>1</a:t>
            </a:r>
            <a:r>
              <a:rPr lang="ko-KR" altLang="en-US" dirty="0"/>
              <a:t>장 마케팅：고객가치의 창출과 획득</a:t>
            </a:r>
            <a:br>
              <a:rPr lang="ko-KR" altLang="en-US" dirty="0"/>
            </a:br>
            <a:r>
              <a:rPr lang="ko-KR" altLang="en-US" dirty="0"/>
              <a:t>제</a:t>
            </a:r>
            <a:r>
              <a:rPr lang="en-US" altLang="ko-KR" dirty="0"/>
              <a:t>2</a:t>
            </a:r>
            <a:r>
              <a:rPr lang="ko-KR" altLang="en-US" dirty="0"/>
              <a:t>장 기업전략과 마케팅전략：고객관계를 구축하기 위한 파트너십 구축</a:t>
            </a:r>
            <a:br>
              <a:rPr lang="ko-KR" altLang="en-US" dirty="0"/>
            </a:br>
            <a:r>
              <a:rPr lang="ko-KR" altLang="en-US" dirty="0">
                <a:solidFill>
                  <a:srgbClr val="FF0000"/>
                </a:solidFill>
              </a:rPr>
              <a:t>제</a:t>
            </a:r>
            <a:r>
              <a:rPr lang="en-US" altLang="ko-KR" dirty="0">
                <a:solidFill>
                  <a:srgbClr val="FF0000"/>
                </a:solidFill>
              </a:rPr>
              <a:t>2</a:t>
            </a:r>
            <a:r>
              <a:rPr lang="ko-KR" altLang="en-US" dirty="0">
                <a:solidFill>
                  <a:srgbClr val="FF0000"/>
                </a:solidFill>
              </a:rPr>
              <a:t>부 시장과 소비자에 대한 이해</a:t>
            </a:r>
            <a:r>
              <a:rPr lang="en-US" altLang="ko-KR" dirty="0">
                <a:solidFill>
                  <a:srgbClr val="FF0000"/>
                </a:solidFill>
              </a:rPr>
              <a:t>(STP+</a:t>
            </a:r>
            <a:r>
              <a:rPr lang="ko-KR" altLang="en-US" dirty="0">
                <a:solidFill>
                  <a:srgbClr val="FF0000"/>
                </a:solidFill>
              </a:rPr>
              <a:t>소비자행동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br>
              <a:rPr lang="ko-KR" altLang="en-US" dirty="0"/>
            </a:br>
            <a:r>
              <a:rPr lang="ko-KR" altLang="en-US" dirty="0"/>
              <a:t>제</a:t>
            </a:r>
            <a:r>
              <a:rPr lang="en-US" altLang="ko-KR" dirty="0"/>
              <a:t>3</a:t>
            </a:r>
            <a:r>
              <a:rPr lang="ko-KR" altLang="en-US" dirty="0"/>
              <a:t>장 마케팅환경의 분석</a:t>
            </a:r>
            <a:br>
              <a:rPr lang="ko-KR" altLang="en-US" dirty="0"/>
            </a:br>
            <a:r>
              <a:rPr lang="ko-KR" altLang="en-US" dirty="0"/>
              <a:t>제</a:t>
            </a:r>
            <a:r>
              <a:rPr lang="en-US" altLang="ko-KR" dirty="0"/>
              <a:t>4</a:t>
            </a:r>
            <a:r>
              <a:rPr lang="ko-KR" altLang="en-US" dirty="0"/>
              <a:t>장 고객 인사이트를 얻기 위한 마케팅정보의 관리</a:t>
            </a:r>
            <a:br>
              <a:rPr lang="ko-KR" altLang="en-US" dirty="0"/>
            </a:br>
            <a:r>
              <a:rPr lang="ko-KR" altLang="en-US" dirty="0"/>
              <a:t>제</a:t>
            </a:r>
            <a:r>
              <a:rPr lang="en-US" altLang="ko-KR" dirty="0"/>
              <a:t>5</a:t>
            </a:r>
            <a:r>
              <a:rPr lang="ko-KR" altLang="en-US" dirty="0"/>
              <a:t>장 소비자시장과 소비자 구매행동</a:t>
            </a:r>
            <a:br>
              <a:rPr lang="ko-KR" altLang="en-US" dirty="0"/>
            </a:br>
            <a:r>
              <a:rPr lang="ko-KR" altLang="en-US" dirty="0"/>
              <a:t>제</a:t>
            </a:r>
            <a:r>
              <a:rPr lang="en-US" altLang="ko-KR" dirty="0"/>
              <a:t>6</a:t>
            </a:r>
            <a:r>
              <a:rPr lang="ko-KR" altLang="en-US" dirty="0"/>
              <a:t>장 산업재 시장과 산업재 구매자 행동</a:t>
            </a:r>
            <a:br>
              <a:rPr lang="ko-KR" altLang="en-US" dirty="0"/>
            </a:br>
            <a:r>
              <a:rPr lang="ko-KR" altLang="en-US" dirty="0">
                <a:solidFill>
                  <a:srgbClr val="FF0000"/>
                </a:solidFill>
              </a:rPr>
              <a:t>제</a:t>
            </a:r>
            <a:r>
              <a:rPr lang="en-US" altLang="ko-KR" dirty="0">
                <a:solidFill>
                  <a:srgbClr val="FF0000"/>
                </a:solidFill>
              </a:rPr>
              <a:t>3</a:t>
            </a:r>
            <a:r>
              <a:rPr lang="ko-KR" altLang="en-US" dirty="0">
                <a:solidFill>
                  <a:srgbClr val="FF0000"/>
                </a:solidFill>
              </a:rPr>
              <a:t>부 고객지향적 전략과 믹스의 설계 </a:t>
            </a:r>
            <a:r>
              <a:rPr lang="en-US" altLang="ko-KR" dirty="0">
                <a:solidFill>
                  <a:srgbClr val="FF0000"/>
                </a:solidFill>
              </a:rPr>
              <a:t>(4P)</a:t>
            </a:r>
            <a:br>
              <a:rPr lang="ko-KR" altLang="en-US" dirty="0"/>
            </a:br>
            <a:r>
              <a:rPr lang="ko-KR" altLang="en-US" dirty="0"/>
              <a:t>제</a:t>
            </a:r>
            <a:r>
              <a:rPr lang="en-US" altLang="ko-KR" dirty="0"/>
              <a:t>7</a:t>
            </a:r>
            <a:r>
              <a:rPr lang="ko-KR" altLang="en-US" dirty="0"/>
              <a:t>장 고객지향적 마케팅전략：</a:t>
            </a:r>
            <a:r>
              <a:rPr lang="ko-KR" altLang="en-US" dirty="0">
                <a:highlight>
                  <a:srgbClr val="FFFF00"/>
                </a:highlight>
              </a:rPr>
              <a:t>표적고객을 위한 가치창출</a:t>
            </a:r>
            <a:br>
              <a:rPr lang="ko-KR" altLang="en-US" dirty="0"/>
            </a:br>
            <a:r>
              <a:rPr lang="ko-KR" altLang="en-US" dirty="0"/>
              <a:t>제</a:t>
            </a:r>
            <a:r>
              <a:rPr lang="en-US" altLang="ko-KR" dirty="0"/>
              <a:t>8</a:t>
            </a:r>
            <a:r>
              <a:rPr lang="ko-KR" altLang="en-US" dirty="0"/>
              <a:t>장 제품</a:t>
            </a:r>
            <a:r>
              <a:rPr lang="en-US" altLang="ko-KR" dirty="0"/>
              <a:t>, </a:t>
            </a:r>
            <a:r>
              <a:rPr lang="ko-KR" altLang="en-US" dirty="0"/>
              <a:t>서비스</a:t>
            </a:r>
            <a:r>
              <a:rPr lang="en-US" altLang="ko-KR" dirty="0"/>
              <a:t>, </a:t>
            </a:r>
            <a:r>
              <a:rPr lang="ko-KR" altLang="en-US" dirty="0"/>
              <a:t>브랜딩전략：</a:t>
            </a:r>
            <a:r>
              <a:rPr lang="ko-KR" altLang="en-US" dirty="0">
                <a:highlight>
                  <a:srgbClr val="FFFF00"/>
                </a:highlight>
              </a:rPr>
              <a:t>고객가치</a:t>
            </a:r>
            <a:r>
              <a:rPr lang="ko-KR" altLang="en-US" dirty="0"/>
              <a:t>의 구축</a:t>
            </a:r>
            <a:br>
              <a:rPr lang="ko-KR" altLang="en-US" dirty="0"/>
            </a:br>
            <a:r>
              <a:rPr lang="ko-KR" altLang="en-US" dirty="0"/>
              <a:t>제</a:t>
            </a:r>
            <a:r>
              <a:rPr lang="en-US" altLang="ko-KR" dirty="0"/>
              <a:t>9</a:t>
            </a:r>
            <a:r>
              <a:rPr lang="ko-KR" altLang="en-US" dirty="0"/>
              <a:t>장 </a:t>
            </a:r>
            <a:r>
              <a:rPr lang="ko-KR" altLang="en-US" dirty="0">
                <a:highlight>
                  <a:srgbClr val="FFFF00"/>
                </a:highlight>
              </a:rPr>
              <a:t>신제품 개발</a:t>
            </a:r>
            <a:r>
              <a:rPr lang="ko-KR" altLang="en-US" dirty="0"/>
              <a:t>과 </a:t>
            </a:r>
            <a:r>
              <a:rPr lang="ko-KR" altLang="en-US" dirty="0">
                <a:highlight>
                  <a:srgbClr val="FFFF00"/>
                </a:highlight>
              </a:rPr>
              <a:t>제품수명주기 </a:t>
            </a:r>
            <a:r>
              <a:rPr lang="ko-KR" altLang="en-US" dirty="0"/>
              <a:t>전략</a:t>
            </a:r>
            <a:br>
              <a:rPr lang="ko-KR" altLang="en-US" dirty="0"/>
            </a:br>
            <a:r>
              <a:rPr lang="ko-KR" altLang="en-US" dirty="0"/>
              <a:t>제</a:t>
            </a:r>
            <a:r>
              <a:rPr lang="en-US" altLang="ko-KR" dirty="0"/>
              <a:t>10</a:t>
            </a:r>
            <a:r>
              <a:rPr lang="ko-KR" altLang="en-US" dirty="0"/>
              <a:t>장 </a:t>
            </a:r>
            <a:r>
              <a:rPr lang="ko-KR" altLang="en-US" dirty="0">
                <a:highlight>
                  <a:srgbClr val="FFFF00"/>
                </a:highlight>
              </a:rPr>
              <a:t>가격</a:t>
            </a:r>
            <a:r>
              <a:rPr lang="ko-KR" altLang="en-US" dirty="0"/>
              <a:t>결정：고객가치의 이해와 포착</a:t>
            </a:r>
            <a:br>
              <a:rPr lang="ko-KR" altLang="en-US" dirty="0"/>
            </a:br>
            <a:r>
              <a:rPr lang="ko-KR" altLang="en-US" dirty="0"/>
              <a:t>제</a:t>
            </a:r>
            <a:r>
              <a:rPr lang="en-US" altLang="ko-KR" dirty="0"/>
              <a:t>11</a:t>
            </a:r>
            <a:r>
              <a:rPr lang="ko-KR" altLang="en-US" dirty="0"/>
              <a:t>장 가격결정전략：추가적 고려요인</a:t>
            </a:r>
            <a:br>
              <a:rPr lang="ko-KR" altLang="en-US" dirty="0"/>
            </a:br>
            <a:r>
              <a:rPr lang="ko-KR" altLang="en-US" dirty="0"/>
              <a:t>제</a:t>
            </a:r>
            <a:r>
              <a:rPr lang="en-US" altLang="ko-KR" dirty="0"/>
              <a:t>12</a:t>
            </a:r>
            <a:r>
              <a:rPr lang="ko-KR" altLang="en-US" dirty="0"/>
              <a:t>장 마케팅</a:t>
            </a:r>
            <a:r>
              <a:rPr lang="ko-KR" altLang="en-US" dirty="0">
                <a:highlight>
                  <a:srgbClr val="FFFF00"/>
                </a:highlight>
              </a:rPr>
              <a:t>경로</a:t>
            </a:r>
            <a:r>
              <a:rPr lang="ko-KR" altLang="en-US" dirty="0"/>
              <a:t>：소비자 가치 전달</a:t>
            </a:r>
            <a:br>
              <a:rPr lang="ko-KR" altLang="en-US" dirty="0"/>
            </a:br>
            <a:r>
              <a:rPr lang="ko-KR" altLang="en-US" dirty="0"/>
              <a:t>제</a:t>
            </a:r>
            <a:r>
              <a:rPr lang="en-US" altLang="ko-KR" dirty="0"/>
              <a:t>13</a:t>
            </a:r>
            <a:r>
              <a:rPr lang="ko-KR" altLang="en-US" dirty="0"/>
              <a:t>장 소매업과 도매업</a:t>
            </a:r>
            <a:br>
              <a:rPr lang="ko-KR" altLang="en-US" dirty="0"/>
            </a:br>
            <a:r>
              <a:rPr lang="ko-KR" altLang="en-US" dirty="0"/>
              <a:t>제</a:t>
            </a:r>
            <a:r>
              <a:rPr lang="en-US" altLang="ko-KR" dirty="0"/>
              <a:t>14</a:t>
            </a:r>
            <a:r>
              <a:rPr lang="ko-KR" altLang="en-US" dirty="0"/>
              <a:t>장 고객가치에 대한 </a:t>
            </a:r>
            <a:r>
              <a:rPr lang="ko-KR" altLang="en-US" dirty="0">
                <a:highlight>
                  <a:srgbClr val="FFFF00"/>
                </a:highlight>
              </a:rPr>
              <a:t>커뮤니케이션</a:t>
            </a:r>
            <a:r>
              <a:rPr lang="ko-KR" altLang="en-US" dirty="0"/>
              <a:t>：</a:t>
            </a:r>
            <a:r>
              <a:rPr lang="ko-KR" altLang="en-US" u="sng" dirty="0"/>
              <a:t>통합적 마케팅커뮤니케이션 전략</a:t>
            </a:r>
            <a:br>
              <a:rPr lang="ko-KR" altLang="en-US" dirty="0"/>
            </a:br>
            <a:r>
              <a:rPr lang="ko-KR" altLang="en-US" dirty="0"/>
              <a:t>제</a:t>
            </a:r>
            <a:r>
              <a:rPr lang="en-US" altLang="ko-KR" dirty="0"/>
              <a:t>15</a:t>
            </a:r>
            <a:r>
              <a:rPr lang="ko-KR" altLang="en-US" dirty="0"/>
              <a:t>장 광고와 공중관계</a:t>
            </a:r>
            <a:br>
              <a:rPr lang="ko-KR" altLang="en-US" dirty="0"/>
            </a:br>
            <a:r>
              <a:rPr lang="ko-KR" altLang="en-US" dirty="0"/>
              <a:t>제</a:t>
            </a:r>
            <a:r>
              <a:rPr lang="en-US" altLang="ko-KR" dirty="0"/>
              <a:t>16</a:t>
            </a:r>
            <a:r>
              <a:rPr lang="ko-KR" altLang="en-US" dirty="0"/>
              <a:t>장 </a:t>
            </a:r>
            <a:r>
              <a:rPr lang="ko-KR" altLang="en-US" dirty="0">
                <a:highlight>
                  <a:srgbClr val="FFFF00"/>
                </a:highlight>
              </a:rPr>
              <a:t>인적판매와 판매촉진</a:t>
            </a:r>
            <a:br>
              <a:rPr lang="ko-KR" altLang="en-US" dirty="0"/>
            </a:br>
            <a:r>
              <a:rPr lang="ko-KR" altLang="en-US" dirty="0"/>
              <a:t>제</a:t>
            </a:r>
            <a:r>
              <a:rPr lang="en-US" altLang="ko-KR" dirty="0"/>
              <a:t>17</a:t>
            </a:r>
            <a:r>
              <a:rPr lang="ko-KR" altLang="en-US" dirty="0"/>
              <a:t>장 다이렉트 마케팅과 온라인 마케팅：직접적인 고객관계 구축하기</a:t>
            </a:r>
            <a:br>
              <a:rPr lang="ko-KR" altLang="en-US" dirty="0"/>
            </a:br>
            <a:r>
              <a:rPr lang="ko-KR" altLang="en-US" dirty="0">
                <a:solidFill>
                  <a:srgbClr val="FF0000"/>
                </a:solidFill>
              </a:rPr>
              <a:t>제</a:t>
            </a:r>
            <a:r>
              <a:rPr lang="en-US" altLang="ko-KR" dirty="0">
                <a:solidFill>
                  <a:srgbClr val="FF0000"/>
                </a:solidFill>
              </a:rPr>
              <a:t>4</a:t>
            </a:r>
            <a:r>
              <a:rPr lang="ko-KR" altLang="en-US" dirty="0">
                <a:solidFill>
                  <a:srgbClr val="FF0000"/>
                </a:solidFill>
              </a:rPr>
              <a:t>부 마케팅영역의 확대</a:t>
            </a:r>
            <a:br>
              <a:rPr lang="ko-KR" altLang="en-US" dirty="0"/>
            </a:br>
            <a:r>
              <a:rPr lang="ko-KR" altLang="en-US" dirty="0"/>
              <a:t>제</a:t>
            </a:r>
            <a:r>
              <a:rPr lang="en-US" altLang="ko-KR" dirty="0"/>
              <a:t>18</a:t>
            </a:r>
            <a:r>
              <a:rPr lang="ko-KR" altLang="en-US" dirty="0"/>
              <a:t>장 </a:t>
            </a:r>
            <a:r>
              <a:rPr lang="ko-KR" altLang="en-US" dirty="0">
                <a:highlight>
                  <a:srgbClr val="FFFF00"/>
                </a:highlight>
              </a:rPr>
              <a:t>경쟁우위 창출</a:t>
            </a:r>
            <a:br>
              <a:rPr lang="ko-KR" altLang="en-US" dirty="0"/>
            </a:br>
            <a:r>
              <a:rPr lang="ko-KR" altLang="en-US" dirty="0"/>
              <a:t>제</a:t>
            </a:r>
            <a:r>
              <a:rPr lang="en-US" altLang="ko-KR" dirty="0"/>
              <a:t>19</a:t>
            </a:r>
            <a:r>
              <a:rPr lang="ko-KR" altLang="en-US" dirty="0"/>
              <a:t>장 글로벌 마켓</a:t>
            </a:r>
            <a:br>
              <a:rPr lang="ko-KR" altLang="en-US" dirty="0"/>
            </a:br>
            <a:r>
              <a:rPr lang="ko-KR" altLang="en-US" dirty="0"/>
              <a:t>제</a:t>
            </a:r>
            <a:r>
              <a:rPr lang="en-US" altLang="ko-KR" dirty="0"/>
              <a:t>20</a:t>
            </a:r>
            <a:r>
              <a:rPr lang="ko-KR" altLang="en-US" dirty="0"/>
              <a:t>장 사회적 책임과 윤리</a:t>
            </a:r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A5D82B21-46FF-4661-85CF-EA232421D8B6}"/>
              </a:ext>
            </a:extLst>
          </p:cNvPr>
          <p:cNvSpPr txBox="1">
            <a:spLocks/>
          </p:cNvSpPr>
          <p:nvPr/>
        </p:nvSpPr>
        <p:spPr>
          <a:xfrm>
            <a:off x="441790" y="770562"/>
            <a:ext cx="3904180" cy="574325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ko-KR" altLang="en-US" u="sng" dirty="0"/>
              <a:t>제</a:t>
            </a:r>
            <a:r>
              <a:rPr lang="en-US" altLang="ko-KR" u="sng" dirty="0"/>
              <a:t>1</a:t>
            </a:r>
            <a:r>
              <a:rPr lang="ko-KR" altLang="en-US" u="sng" dirty="0"/>
              <a:t>부</a:t>
            </a:r>
            <a:r>
              <a:rPr lang="ko-KR" altLang="en-US" dirty="0"/>
              <a:t> 마케팅의 </a:t>
            </a:r>
            <a:r>
              <a:rPr lang="ko-KR" altLang="en-US" dirty="0">
                <a:highlight>
                  <a:srgbClr val="FFFF00"/>
                </a:highlight>
              </a:rPr>
              <a:t>정의 </a:t>
            </a:r>
            <a:r>
              <a:rPr lang="ko-KR" altLang="en-US" dirty="0"/>
              <a:t>및 마케팅</a:t>
            </a:r>
            <a:r>
              <a:rPr lang="ko-KR" altLang="en-US" dirty="0">
                <a:highlight>
                  <a:srgbClr val="FFFF00"/>
                </a:highlight>
              </a:rPr>
              <a:t>프로세스</a:t>
            </a:r>
            <a:br>
              <a:rPr lang="ko-KR" altLang="en-US" dirty="0"/>
            </a:br>
            <a:r>
              <a:rPr lang="ko-KR" altLang="en-US" dirty="0"/>
              <a:t>  고객가치</a:t>
            </a:r>
            <a:r>
              <a:rPr lang="en-US" altLang="ko-KR" dirty="0"/>
              <a:t>+</a:t>
            </a:r>
            <a:r>
              <a:rPr lang="ko-KR" altLang="en-US" dirty="0"/>
              <a:t>관계구축</a:t>
            </a:r>
            <a:endParaRPr lang="en-US" altLang="ko-KR" dirty="0"/>
          </a:p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ko-KR" altLang="en-US" u="sng" dirty="0"/>
              <a:t>제</a:t>
            </a:r>
            <a:r>
              <a:rPr lang="en-US" altLang="ko-KR" u="sng" dirty="0"/>
              <a:t>2</a:t>
            </a:r>
            <a:r>
              <a:rPr lang="ko-KR" altLang="en-US" u="sng" dirty="0"/>
              <a:t>부</a:t>
            </a:r>
            <a:r>
              <a:rPr lang="ko-KR" altLang="en-US" dirty="0"/>
              <a:t> </a:t>
            </a:r>
            <a:r>
              <a:rPr lang="ko-KR" altLang="en-US" dirty="0">
                <a:highlight>
                  <a:srgbClr val="FFFF00"/>
                </a:highlight>
              </a:rPr>
              <a:t>시장</a:t>
            </a:r>
            <a:r>
              <a:rPr lang="ko-KR" altLang="en-US" dirty="0"/>
              <a:t>과 </a:t>
            </a:r>
            <a:r>
              <a:rPr lang="ko-KR" altLang="en-US" dirty="0">
                <a:highlight>
                  <a:srgbClr val="FFFF00"/>
                </a:highlight>
              </a:rPr>
              <a:t>소비자</a:t>
            </a:r>
            <a:r>
              <a:rPr lang="ko-KR" altLang="en-US" dirty="0"/>
              <a:t>에 대한 이해</a:t>
            </a:r>
            <a:br>
              <a:rPr lang="ko-KR" altLang="en-US" dirty="0"/>
            </a:br>
            <a:r>
              <a:rPr lang="ko-KR" altLang="en-US" dirty="0"/>
              <a:t>  </a:t>
            </a:r>
            <a:r>
              <a:rPr lang="ko-KR" altLang="en-US" sz="2200" dirty="0"/>
              <a:t>환경분석</a:t>
            </a:r>
            <a:r>
              <a:rPr lang="en-US" altLang="ko-KR" sz="2200" dirty="0"/>
              <a:t>(STP)+</a:t>
            </a:r>
            <a:r>
              <a:rPr lang="ko-KR" altLang="en-US" sz="2200" dirty="0"/>
              <a:t>소비자행동</a:t>
            </a:r>
            <a:endParaRPr lang="en-US" altLang="ko-KR" sz="2200" dirty="0">
              <a:solidFill>
                <a:srgbClr val="FF0000"/>
              </a:solidFill>
            </a:endParaRPr>
          </a:p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ko-KR" altLang="en-US" u="sng" dirty="0"/>
              <a:t>제</a:t>
            </a:r>
            <a:r>
              <a:rPr lang="en-US" altLang="ko-KR" u="sng" dirty="0"/>
              <a:t>3</a:t>
            </a:r>
            <a:r>
              <a:rPr lang="ko-KR" altLang="en-US" u="sng" dirty="0"/>
              <a:t>부</a:t>
            </a:r>
            <a:r>
              <a:rPr lang="ko-KR" altLang="en-US" dirty="0"/>
              <a:t> 고객지향적</a:t>
            </a:r>
            <a:r>
              <a:rPr lang="ko-KR" altLang="en-US" dirty="0">
                <a:highlight>
                  <a:srgbClr val="FFFF00"/>
                </a:highlight>
              </a:rPr>
              <a:t> 전략</a:t>
            </a:r>
            <a:r>
              <a:rPr lang="ko-KR" altLang="en-US" dirty="0"/>
              <a:t>과 </a:t>
            </a:r>
            <a:r>
              <a:rPr lang="ko-KR" altLang="en-US" dirty="0">
                <a:highlight>
                  <a:srgbClr val="FFFF00"/>
                </a:highlight>
              </a:rPr>
              <a:t>믹스</a:t>
            </a:r>
            <a:r>
              <a:rPr lang="ko-KR" altLang="en-US" dirty="0"/>
              <a:t>의 설계</a:t>
            </a:r>
            <a:endParaRPr lang="en-US" altLang="ko-KR" dirty="0"/>
          </a:p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ko-KR" altLang="en-US" dirty="0"/>
              <a:t>  마케팅전략</a:t>
            </a:r>
            <a:r>
              <a:rPr lang="en-US" altLang="ko-KR" dirty="0"/>
              <a:t>+4P</a:t>
            </a:r>
            <a:br>
              <a:rPr lang="ko-KR" altLang="en-US" dirty="0"/>
            </a:br>
            <a:r>
              <a:rPr lang="ko-KR" altLang="en-US" u="sng" dirty="0"/>
              <a:t>제</a:t>
            </a:r>
            <a:r>
              <a:rPr lang="en-US" altLang="ko-KR" u="sng" dirty="0"/>
              <a:t>4</a:t>
            </a:r>
            <a:r>
              <a:rPr lang="ko-KR" altLang="en-US" u="sng" dirty="0"/>
              <a:t>부</a:t>
            </a:r>
            <a:r>
              <a:rPr lang="ko-KR" altLang="en-US" dirty="0">
                <a:highlight>
                  <a:srgbClr val="FFFF00"/>
                </a:highlight>
              </a:rPr>
              <a:t> 마케팅영역</a:t>
            </a:r>
            <a:r>
              <a:rPr lang="ko-KR" altLang="en-US" dirty="0"/>
              <a:t>의 확대</a:t>
            </a:r>
            <a:br>
              <a:rPr lang="ko-KR" altLang="en-US" dirty="0">
                <a:highlight>
                  <a:srgbClr val="FFFF00"/>
                </a:highlight>
              </a:rPr>
            </a:br>
            <a:r>
              <a:rPr lang="ko-KR" altLang="en-US" dirty="0"/>
              <a:t>  신분야</a:t>
            </a:r>
            <a:r>
              <a:rPr lang="en-US" altLang="ko-KR" dirty="0"/>
              <a:t>+CSR+</a:t>
            </a:r>
            <a:r>
              <a:rPr lang="ko-KR" altLang="en-US" dirty="0">
                <a:solidFill>
                  <a:srgbClr val="00B050"/>
                </a:solidFill>
              </a:rPr>
              <a:t>환경</a:t>
            </a:r>
          </a:p>
        </p:txBody>
      </p:sp>
    </p:spTree>
    <p:extLst>
      <p:ext uri="{BB962C8B-B14F-4D97-AF65-F5344CB8AC3E}">
        <p14:creationId xmlns:p14="http://schemas.microsoft.com/office/powerpoint/2010/main" val="261198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3568"/>
    </mc:Choice>
    <mc:Fallback xmlns="">
      <p:transition spd="slow" advTm="493568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마케팅 브레인">
            <a:extLst>
              <a:ext uri="{FF2B5EF4-FFF2-40B4-BE49-F238E27FC236}">
                <a16:creationId xmlns:a16="http://schemas.microsoft.com/office/drawing/2014/main" id="{AB40FE05-B036-CBFF-3E1B-83E20E98AC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39" y="525299"/>
            <a:ext cx="4080022" cy="6213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BF4449C-EEAE-7BD6-B59D-FDFEBCE52825}"/>
              </a:ext>
            </a:extLst>
          </p:cNvPr>
          <p:cNvSpPr txBox="1"/>
          <p:nvPr/>
        </p:nvSpPr>
        <p:spPr>
          <a:xfrm>
            <a:off x="6096000" y="2828835"/>
            <a:ext cx="378202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2400" b="1" i="0" dirty="0">
                <a:solidFill>
                  <a:srgbClr val="3A60DF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마케팅 브레인 </a:t>
            </a:r>
          </a:p>
          <a:p>
            <a:pPr algn="l"/>
            <a:r>
              <a:rPr lang="ko-KR" altLang="en-US" sz="2400" b="0" i="0" u="none" strike="noStrike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  <a:hlinkClick r:id="rId3"/>
              </a:rPr>
              <a:t>김지헌</a:t>
            </a:r>
            <a:r>
              <a:rPr lang="ko-KR" altLang="en-US" sz="2400" b="0" i="0" dirty="0">
                <a:solidFill>
                  <a:srgbClr val="777777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 지음 </a:t>
            </a:r>
            <a:r>
              <a:rPr lang="en-US" altLang="ko-KR" sz="2400" b="0" i="0" dirty="0">
                <a:solidFill>
                  <a:srgbClr val="AAAAAA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|</a:t>
            </a:r>
            <a:r>
              <a:rPr lang="ko-KR" altLang="en-US" sz="2400" b="0" i="0" dirty="0">
                <a:solidFill>
                  <a:srgbClr val="777777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 </a:t>
            </a:r>
            <a:r>
              <a:rPr lang="ko-KR" altLang="en-US" sz="2400" b="0" i="0" u="none" strike="noStrike" dirty="0" err="1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  <a:hlinkClick r:id="rId3"/>
              </a:rPr>
              <a:t>갈매나무</a:t>
            </a:r>
            <a:r>
              <a:rPr lang="ko-KR" altLang="en-US" sz="2400" b="0" i="0" dirty="0">
                <a:solidFill>
                  <a:srgbClr val="777777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 </a:t>
            </a:r>
            <a:r>
              <a:rPr lang="en-US" altLang="ko-KR" sz="2400" b="0" i="0" dirty="0">
                <a:solidFill>
                  <a:srgbClr val="AAAAAA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|</a:t>
            </a:r>
          </a:p>
          <a:p>
            <a:pPr algn="l"/>
            <a:r>
              <a:rPr lang="ko-KR" altLang="en-US" sz="2400" b="0" i="0" dirty="0">
                <a:solidFill>
                  <a:srgbClr val="777777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 </a:t>
            </a:r>
            <a:r>
              <a:rPr lang="en-US" altLang="ko-KR" sz="2400" b="0" i="0" dirty="0">
                <a:solidFill>
                  <a:srgbClr val="777777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2021</a:t>
            </a:r>
            <a:r>
              <a:rPr lang="ko-KR" altLang="en-US" sz="2400" b="0" i="0" dirty="0">
                <a:solidFill>
                  <a:srgbClr val="777777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년 </a:t>
            </a:r>
            <a:r>
              <a:rPr lang="en-US" altLang="ko-KR" sz="2400" b="0" i="0" dirty="0">
                <a:solidFill>
                  <a:srgbClr val="777777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03</a:t>
            </a:r>
            <a:r>
              <a:rPr lang="ko-KR" altLang="en-US" sz="2400" b="0" i="0" dirty="0">
                <a:solidFill>
                  <a:srgbClr val="777777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월 </a:t>
            </a:r>
            <a:r>
              <a:rPr lang="en-US" altLang="ko-KR" sz="2400" b="0" i="0" dirty="0">
                <a:solidFill>
                  <a:srgbClr val="777777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25</a:t>
            </a:r>
            <a:r>
              <a:rPr lang="ko-KR" altLang="en-US" sz="2400" b="0" i="0" dirty="0">
                <a:solidFill>
                  <a:srgbClr val="777777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일 출간</a:t>
            </a:r>
          </a:p>
        </p:txBody>
      </p:sp>
    </p:spTree>
    <p:extLst>
      <p:ext uri="{BB962C8B-B14F-4D97-AF65-F5344CB8AC3E}">
        <p14:creationId xmlns:p14="http://schemas.microsoft.com/office/powerpoint/2010/main" val="2715673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0438"/>
    </mc:Choice>
    <mc:Fallback xmlns="">
      <p:transition spd="slow" advTm="60438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677865" y="346417"/>
            <a:ext cx="1935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 spc="500" dirty="0">
                <a:solidFill>
                  <a:srgbClr val="FF6405"/>
                </a:solidFill>
              </a:rPr>
              <a:t>CHAPTER</a:t>
            </a:r>
            <a:endParaRPr lang="ko-KR" altLang="en-US" sz="1400" spc="500" dirty="0">
              <a:solidFill>
                <a:srgbClr val="FF6405"/>
              </a:solidFill>
            </a:endParaRPr>
          </a:p>
        </p:txBody>
      </p:sp>
      <p:cxnSp>
        <p:nvCxnSpPr>
          <p:cNvPr id="7" name="직선 연결선 6"/>
          <p:cNvCxnSpPr/>
          <p:nvPr/>
        </p:nvCxnSpPr>
        <p:spPr>
          <a:xfrm>
            <a:off x="643467" y="654194"/>
            <a:ext cx="0" cy="961971"/>
          </a:xfrm>
          <a:prstGeom prst="line">
            <a:avLst/>
          </a:prstGeom>
          <a:ln w="38100">
            <a:solidFill>
              <a:srgbClr val="FF640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10270730" y="6244800"/>
            <a:ext cx="1076325" cy="0"/>
          </a:xfrm>
          <a:prstGeom prst="line">
            <a:avLst/>
          </a:prstGeom>
          <a:ln w="38100">
            <a:solidFill>
              <a:srgbClr val="FF640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4324621" y="152400"/>
            <a:ext cx="3176719" cy="804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</a:pPr>
            <a:r>
              <a:rPr lang="ko-KR" altLang="en-US" sz="4000" b="1" spc="-30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강의 교재</a:t>
            </a:r>
            <a:endParaRPr lang="ko-KR" altLang="en-US" sz="4000" b="1" spc="-3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EA451D8-E76D-4FD9-964E-A3926D959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9137A71-B61B-4C9B-94F5-E5910E5A1E5E}" type="slidenum">
              <a:rPr lang="ko-KR" altLang="en-US" smtClean="0"/>
              <a:pPr/>
              <a:t>14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6B3A2711-5F62-4B8C-8D1D-859B23A553F4}"/>
              </a:ext>
            </a:extLst>
          </p:cNvPr>
          <p:cNvSpPr txBox="1">
            <a:spLocks/>
          </p:cNvSpPr>
          <p:nvPr/>
        </p:nvSpPr>
        <p:spPr>
          <a:xfrm>
            <a:off x="5823717" y="1020372"/>
            <a:ext cx="5523338" cy="5638571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AutoNum type="arabicPeriod"/>
            </a:pPr>
            <a:r>
              <a:rPr lang="ko-KR" altLang="en-US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제</a:t>
            </a:r>
            <a:r>
              <a:rPr lang="en-US" altLang="ko-KR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2</a:t>
            </a:r>
            <a:r>
              <a:rPr lang="ko-KR" altLang="en-US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부</a:t>
            </a:r>
            <a:r>
              <a:rPr lang="en-US" altLang="ko-KR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_</a:t>
            </a:r>
            <a:r>
              <a:rPr lang="ko-KR" altLang="en-US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지금 소비자들이 선택하는 것</a:t>
            </a:r>
            <a:br>
              <a:rPr lang="ko-KR" altLang="en-US" sz="1200" b="1" dirty="0"/>
            </a:br>
            <a:r>
              <a:rPr lang="ko-KR" altLang="en-US" sz="1200" b="1" i="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dotum" panose="020B0600000101010101" pitchFamily="50" charset="-127"/>
                <a:ea typeface="dotum" panose="020B0600000101010101" pitchFamily="50" charset="-127"/>
              </a:rPr>
              <a:t>가치연쇄 모형 제</a:t>
            </a:r>
            <a:r>
              <a:rPr lang="en-US" altLang="ko-KR" sz="1200" b="1" i="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dotum" panose="020B0600000101010101" pitchFamily="50" charset="-127"/>
                <a:ea typeface="dotum" panose="020B0600000101010101" pitchFamily="50" charset="-127"/>
              </a:rPr>
              <a:t>2</a:t>
            </a:r>
            <a:r>
              <a:rPr lang="ko-KR" altLang="en-US" sz="1200" b="1" i="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dotum" panose="020B0600000101010101" pitchFamily="50" charset="-127"/>
                <a:ea typeface="dotum" panose="020B0600000101010101" pitchFamily="50" charset="-127"/>
              </a:rPr>
              <a:t>단계</a:t>
            </a:r>
            <a:r>
              <a:rPr lang="en-US" altLang="ko-KR" sz="1200" b="1" i="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dotum" panose="020B0600000101010101" pitchFamily="50" charset="-127"/>
                <a:ea typeface="dotum" panose="020B0600000101010101" pitchFamily="50" charset="-127"/>
              </a:rPr>
              <a:t>: </a:t>
            </a:r>
            <a:r>
              <a:rPr lang="ko-KR" altLang="en-US" sz="1200" b="1" i="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dotum" panose="020B0600000101010101" pitchFamily="50" charset="-127"/>
                <a:ea typeface="dotum" panose="020B0600000101010101" pitchFamily="50" charset="-127"/>
              </a:rPr>
              <a:t>가치 제안</a:t>
            </a:r>
            <a:br>
              <a:rPr lang="ko-KR" altLang="en-US" sz="1200" b="1" dirty="0"/>
            </a:br>
            <a:r>
              <a:rPr lang="ko-KR" altLang="en-US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경쟁사와는 다른 차별적 가치 ∥ 두 가지 차별화 전략</a:t>
            </a:r>
            <a:br>
              <a:rPr lang="ko-KR" altLang="en-US" sz="1200" b="1" dirty="0"/>
            </a:br>
            <a:r>
              <a:rPr lang="en-US" altLang="ko-KR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11 </a:t>
            </a:r>
            <a:r>
              <a:rPr lang="ko-KR" altLang="en-US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비용 중심 </a:t>
            </a:r>
            <a:r>
              <a:rPr lang="ko-KR" altLang="en-US" sz="1200" b="1" i="0" dirty="0">
                <a:solidFill>
                  <a:srgbClr val="FF0000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차별화 </a:t>
            </a:r>
            <a:r>
              <a:rPr lang="ko-KR" altLang="en-US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전략 </a:t>
            </a:r>
            <a:r>
              <a:rPr lang="en-US" altLang="ko-KR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: </a:t>
            </a:r>
            <a:r>
              <a:rPr lang="ko-KR" altLang="en-US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기업이 아니라 소비자의 문제를 해결</a:t>
            </a:r>
            <a:br>
              <a:rPr lang="ko-KR" altLang="en-US" sz="1200" b="1" dirty="0"/>
            </a:br>
            <a:r>
              <a:rPr lang="en-US" altLang="ko-KR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12 </a:t>
            </a:r>
            <a:r>
              <a:rPr lang="ko-KR" altLang="en-US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혜택 중심 차별화 전략 ①</a:t>
            </a:r>
            <a:r>
              <a:rPr lang="en-US" altLang="ko-KR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: </a:t>
            </a:r>
            <a:r>
              <a:rPr lang="ko-KR" altLang="en-US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동일한 유형의 혜택을 강화하라</a:t>
            </a:r>
            <a:br>
              <a:rPr lang="ko-KR" altLang="en-US" sz="1200" b="1" dirty="0"/>
            </a:br>
            <a:r>
              <a:rPr lang="en-US" altLang="ko-KR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13 </a:t>
            </a:r>
            <a:r>
              <a:rPr lang="ko-KR" altLang="en-US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혜택 중심 차별화 전략 ②</a:t>
            </a:r>
            <a:r>
              <a:rPr lang="en-US" altLang="ko-KR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: </a:t>
            </a:r>
            <a:r>
              <a:rPr lang="ko-KR" altLang="en-US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새로운 유형의 혜택을 추가하라</a:t>
            </a:r>
            <a:br>
              <a:rPr lang="ko-KR" altLang="en-US" sz="1200" b="1" dirty="0"/>
            </a:br>
            <a:r>
              <a:rPr lang="en-US" altLang="ko-KR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14 </a:t>
            </a:r>
            <a:r>
              <a:rPr lang="ko-KR" altLang="en-US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평가 기준 </a:t>
            </a:r>
            <a:r>
              <a:rPr lang="en-US" altLang="ko-KR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: </a:t>
            </a:r>
            <a:r>
              <a:rPr lang="ko-KR" altLang="en-US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어떤 아이디어를 선택해야 할까</a:t>
            </a:r>
            <a:br>
              <a:rPr lang="ko-KR" altLang="en-US" sz="1200" b="1" dirty="0"/>
            </a:br>
            <a:r>
              <a:rPr lang="en-US" altLang="ko-KR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15 </a:t>
            </a:r>
            <a:r>
              <a:rPr lang="ko-KR" altLang="en-US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가치 제안을 할 때 유의할 점 </a:t>
            </a:r>
            <a:r>
              <a:rPr lang="en-US" altLang="ko-KR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: “</a:t>
            </a:r>
            <a:r>
              <a:rPr lang="ko-KR" altLang="en-US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우리 제품이 더 좋은데 왜 안 팔리지</a:t>
            </a:r>
            <a:r>
              <a:rPr lang="en-US" altLang="ko-KR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?”</a:t>
            </a:r>
            <a:br>
              <a:rPr lang="ko-KR" altLang="en-US" sz="1200" b="1" dirty="0"/>
            </a:br>
            <a:r>
              <a:rPr lang="en-US" altLang="ko-KR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16 </a:t>
            </a:r>
            <a:r>
              <a:rPr lang="ko-KR" altLang="en-US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경쟁자의 포지셔닝 변경 </a:t>
            </a:r>
            <a:r>
              <a:rPr lang="en-US" altLang="ko-KR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: </a:t>
            </a:r>
            <a:r>
              <a:rPr lang="ko-KR" altLang="en-US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소비자가 인식하는 가치는 상대적이다</a:t>
            </a:r>
            <a:br>
              <a:rPr lang="ko-KR" altLang="en-US" sz="1200" b="1" dirty="0"/>
            </a:br>
            <a:br>
              <a:rPr lang="ko-KR" altLang="en-US" sz="1200" b="1" dirty="0"/>
            </a:br>
            <a:r>
              <a:rPr lang="ko-KR" altLang="en-US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제</a:t>
            </a:r>
            <a:r>
              <a:rPr lang="en-US" altLang="ko-KR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3</a:t>
            </a:r>
            <a:r>
              <a:rPr lang="ko-KR" altLang="en-US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부</a:t>
            </a:r>
            <a:r>
              <a:rPr lang="en-US" altLang="ko-KR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_</a:t>
            </a:r>
            <a:r>
              <a:rPr lang="ko-KR" altLang="en-US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지금 소비자들이 진짜 욕망하는 것</a:t>
            </a:r>
            <a:br>
              <a:rPr lang="ko-KR" altLang="en-US" sz="1200" b="1" dirty="0"/>
            </a:br>
            <a:r>
              <a:rPr lang="ko-KR" altLang="en-US" sz="1200" b="1" i="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dotum" panose="020B0600000101010101" pitchFamily="50" charset="-127"/>
                <a:ea typeface="dotum" panose="020B0600000101010101" pitchFamily="50" charset="-127"/>
              </a:rPr>
              <a:t>가치연쇄 모형 제</a:t>
            </a:r>
            <a:r>
              <a:rPr lang="en-US" altLang="ko-KR" sz="1200" b="1" i="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dotum" panose="020B0600000101010101" pitchFamily="50" charset="-127"/>
                <a:ea typeface="dotum" panose="020B0600000101010101" pitchFamily="50" charset="-127"/>
              </a:rPr>
              <a:t>3</a:t>
            </a:r>
            <a:r>
              <a:rPr lang="ko-KR" altLang="en-US" sz="1200" b="1" i="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dotum" panose="020B0600000101010101" pitchFamily="50" charset="-127"/>
                <a:ea typeface="dotum" panose="020B0600000101010101" pitchFamily="50" charset="-127"/>
              </a:rPr>
              <a:t>단계</a:t>
            </a:r>
            <a:r>
              <a:rPr lang="en-US" altLang="ko-KR" sz="1200" b="1" i="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dotum" panose="020B0600000101010101" pitchFamily="50" charset="-127"/>
                <a:ea typeface="dotum" panose="020B0600000101010101" pitchFamily="50" charset="-127"/>
              </a:rPr>
              <a:t>: </a:t>
            </a:r>
            <a:r>
              <a:rPr lang="ko-KR" altLang="en-US" sz="1200" b="1" i="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dotum" panose="020B0600000101010101" pitchFamily="50" charset="-127"/>
                <a:ea typeface="dotum" panose="020B0600000101010101" pitchFamily="50" charset="-127"/>
              </a:rPr>
              <a:t>가치 전달</a:t>
            </a:r>
            <a:br>
              <a:rPr lang="ko-KR" altLang="en-US" sz="1200" b="1" dirty="0"/>
            </a:br>
            <a:r>
              <a:rPr lang="en-US" altLang="ko-KR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17 </a:t>
            </a:r>
            <a:r>
              <a:rPr lang="ko-KR" altLang="en-US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제품 설계 </a:t>
            </a:r>
            <a:r>
              <a:rPr lang="en-US" altLang="ko-KR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: </a:t>
            </a:r>
            <a:r>
              <a:rPr lang="ko-KR" altLang="en-US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어떤 고객 가치를 중요하게 생각하는가</a:t>
            </a:r>
            <a:br>
              <a:rPr lang="ko-KR" altLang="en-US" sz="1200" b="1" dirty="0"/>
            </a:br>
            <a:r>
              <a:rPr lang="en-US" altLang="ko-KR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18 </a:t>
            </a:r>
            <a:r>
              <a:rPr lang="ko-KR" altLang="en-US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가격 설계 </a:t>
            </a:r>
            <a:r>
              <a:rPr lang="en-US" altLang="ko-KR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: </a:t>
            </a:r>
            <a:r>
              <a:rPr lang="ko-KR" altLang="en-US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원가보단 높고 실제 느끼는 가치보다는 낮아야</a:t>
            </a:r>
            <a:br>
              <a:rPr lang="ko-KR" altLang="en-US" sz="1200" b="1" dirty="0"/>
            </a:br>
            <a:r>
              <a:rPr lang="en-US" altLang="ko-KR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19 </a:t>
            </a:r>
            <a:r>
              <a:rPr lang="ko-KR" altLang="en-US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유통 설계 </a:t>
            </a:r>
            <a:r>
              <a:rPr lang="en-US" altLang="ko-KR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: </a:t>
            </a:r>
            <a:r>
              <a:rPr lang="ko-KR" altLang="en-US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소비자 전달과정에서 최적의 환경 만들어내기</a:t>
            </a:r>
            <a:br>
              <a:rPr lang="ko-KR" altLang="en-US" sz="1200" b="1" dirty="0"/>
            </a:br>
            <a:br>
              <a:rPr lang="ko-KR" altLang="en-US" sz="1200" b="1" dirty="0"/>
            </a:br>
            <a:r>
              <a:rPr lang="ko-KR" altLang="en-US" sz="1200" b="1" dirty="0"/>
              <a:t> </a:t>
            </a:r>
            <a:r>
              <a:rPr lang="en-US" altLang="ko-KR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20 </a:t>
            </a:r>
            <a:r>
              <a:rPr lang="ko-KR" altLang="en-US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프로모션 설계 </a:t>
            </a:r>
            <a:r>
              <a:rPr lang="en-US" altLang="ko-KR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: </a:t>
            </a:r>
            <a:r>
              <a:rPr lang="ko-KR" altLang="en-US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마케팅 커뮤니케이션의 목표는 ‘</a:t>
            </a:r>
            <a:r>
              <a:rPr lang="ko-KR" altLang="en-US" sz="1200" b="1" i="0" dirty="0">
                <a:solidFill>
                  <a:srgbClr val="FF0000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판매’ 아닌 ‘</a:t>
            </a:r>
            <a:r>
              <a:rPr lang="ko-KR" altLang="en-US" sz="1200" b="1" i="0" dirty="0" err="1">
                <a:solidFill>
                  <a:srgbClr val="FF0000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관계</a:t>
            </a:r>
            <a:r>
              <a:rPr lang="ko-KR" altLang="en-US" sz="1200" b="1" i="0" dirty="0" err="1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’다</a:t>
            </a:r>
            <a:br>
              <a:rPr lang="ko-KR" altLang="en-US" sz="1200" b="1" dirty="0"/>
            </a:br>
            <a:r>
              <a:rPr lang="ko-KR" altLang="en-US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맺음말 </a:t>
            </a:r>
            <a:r>
              <a:rPr lang="en-US" altLang="ko-KR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:</a:t>
            </a:r>
            <a:br>
              <a:rPr lang="ko-KR" altLang="en-US" sz="1200" b="1" dirty="0"/>
            </a:br>
            <a:r>
              <a:rPr lang="ko-KR" altLang="en-US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최고의 마케팅 전략은 경쟁에서 벗어나는 것</a:t>
            </a:r>
            <a:endParaRPr lang="ko-KR" altLang="en-US" sz="1200" b="1" dirty="0">
              <a:highlight>
                <a:srgbClr val="FFFF00"/>
              </a:highlight>
            </a:endParaRPr>
          </a:p>
        </p:txBody>
      </p:sp>
      <p:pic>
        <p:nvPicPr>
          <p:cNvPr id="4099" name="Picture 3" descr="무료배송">
            <a:extLst>
              <a:ext uri="{FF2B5EF4-FFF2-40B4-BE49-F238E27FC236}">
                <a16:creationId xmlns:a16="http://schemas.microsoft.com/office/drawing/2014/main" id="{10DA0206-4440-45AA-A60A-095C16923D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66725" cy="15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1" name="Picture 5" descr="소득공제">
            <a:extLst>
              <a:ext uri="{FF2B5EF4-FFF2-40B4-BE49-F238E27FC236}">
                <a16:creationId xmlns:a16="http://schemas.microsoft.com/office/drawing/2014/main" id="{0519F459-1FC4-4D79-BB34-2EEA501C6E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3" y="-342900"/>
            <a:ext cx="495300" cy="15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3" name="Picture 7" descr="마케팅 브레인">
            <a:extLst>
              <a:ext uri="{FF2B5EF4-FFF2-40B4-BE49-F238E27FC236}">
                <a16:creationId xmlns:a16="http://schemas.microsoft.com/office/drawing/2014/main" id="{41B3EB27-4FC7-47F2-8F83-ECFF473D93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23196" cy="2167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6960C224-8096-46A5-975F-86F4CB15FC28}"/>
              </a:ext>
            </a:extLst>
          </p:cNvPr>
          <p:cNvSpPr txBox="1">
            <a:spLocks/>
          </p:cNvSpPr>
          <p:nvPr/>
        </p:nvSpPr>
        <p:spPr>
          <a:xfrm>
            <a:off x="73577" y="2357804"/>
            <a:ext cx="5292969" cy="447235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AutoNum type="arabicPeriod"/>
            </a:pPr>
            <a:r>
              <a:rPr lang="ko-KR" altLang="en-US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마케팅의 본질은 무엇인가</a:t>
            </a:r>
            <a:r>
              <a:rPr lang="en-US" altLang="ko-KR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?</a:t>
            </a:r>
            <a:br>
              <a:rPr lang="ko-KR" altLang="en-US" sz="1200" b="1" dirty="0"/>
            </a:br>
            <a:r>
              <a:rPr lang="ko-KR" altLang="en-US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제</a:t>
            </a:r>
            <a:r>
              <a:rPr lang="en-US" altLang="ko-KR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1</a:t>
            </a:r>
            <a:r>
              <a:rPr lang="ko-KR" altLang="en-US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부</a:t>
            </a:r>
            <a:r>
              <a:rPr lang="en-US" altLang="ko-KR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_</a:t>
            </a:r>
            <a:r>
              <a:rPr lang="ko-KR" altLang="en-US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지금 소비자들이 좋아하는 것</a:t>
            </a:r>
            <a:br>
              <a:rPr lang="ko-KR" altLang="en-US" sz="1200" b="1" dirty="0"/>
            </a:br>
            <a:r>
              <a:rPr lang="ko-KR" altLang="en-US" sz="1200" b="1" i="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dotum" panose="020B0600000101010101" pitchFamily="50" charset="-127"/>
                <a:ea typeface="dotum" panose="020B0600000101010101" pitchFamily="50" charset="-127"/>
              </a:rPr>
              <a:t>가치연쇄 모형 제</a:t>
            </a:r>
            <a:r>
              <a:rPr lang="en-US" altLang="ko-KR" sz="1200" b="1" i="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dotum" panose="020B0600000101010101" pitchFamily="50" charset="-127"/>
                <a:ea typeface="dotum" panose="020B0600000101010101" pitchFamily="50" charset="-127"/>
              </a:rPr>
              <a:t>1</a:t>
            </a:r>
            <a:r>
              <a:rPr lang="ko-KR" altLang="en-US" sz="1200" b="1" i="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dotum" panose="020B0600000101010101" pitchFamily="50" charset="-127"/>
                <a:ea typeface="dotum" panose="020B0600000101010101" pitchFamily="50" charset="-127"/>
              </a:rPr>
              <a:t>단계</a:t>
            </a:r>
            <a:r>
              <a:rPr lang="en-US" altLang="ko-KR" sz="1200" b="1" i="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dotum" panose="020B0600000101010101" pitchFamily="50" charset="-127"/>
                <a:ea typeface="dotum" panose="020B0600000101010101" pitchFamily="50" charset="-127"/>
              </a:rPr>
              <a:t>: </a:t>
            </a:r>
            <a:r>
              <a:rPr lang="ko-KR" altLang="en-US" sz="1200" b="1" i="0" dirty="0">
                <a:solidFill>
                  <a:srgbClr val="666666"/>
                </a:solidFill>
                <a:effectLst/>
                <a:highlight>
                  <a:srgbClr val="FFFF00"/>
                </a:highlight>
                <a:latin typeface="dotum" panose="020B0600000101010101" pitchFamily="50" charset="-127"/>
                <a:ea typeface="dotum" panose="020B0600000101010101" pitchFamily="50" charset="-127"/>
              </a:rPr>
              <a:t>가치 분석</a:t>
            </a:r>
            <a:br>
              <a:rPr lang="ko-KR" altLang="en-US" sz="1200" b="1" dirty="0"/>
            </a:br>
            <a:r>
              <a:rPr lang="ko-KR" altLang="en-US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소비자가 추구하는 혜택 ∥ </a:t>
            </a:r>
            <a:r>
              <a:rPr lang="ko-KR" altLang="en-US" sz="1200" b="1" i="0" dirty="0" err="1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테슬라는</a:t>
            </a:r>
            <a:r>
              <a:rPr lang="ko-KR" altLang="en-US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 도요타를 어떻게 뛰어넘었나</a:t>
            </a:r>
            <a:br>
              <a:rPr lang="ko-KR" altLang="en-US" sz="1200" b="1" dirty="0"/>
            </a:br>
            <a:r>
              <a:rPr lang="en-US" altLang="ko-KR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01 </a:t>
            </a:r>
            <a:r>
              <a:rPr lang="ko-KR" altLang="en-US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탐색 비용 </a:t>
            </a:r>
            <a:r>
              <a:rPr lang="en-US" altLang="ko-KR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: </a:t>
            </a:r>
            <a:r>
              <a:rPr lang="ko-KR" altLang="en-US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소비자는 선택지가 많은 것을 좋아할까</a:t>
            </a:r>
            <a:r>
              <a:rPr lang="en-US" altLang="ko-KR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?</a:t>
            </a:r>
            <a:br>
              <a:rPr lang="ko-KR" altLang="en-US" sz="1200" b="1" dirty="0"/>
            </a:br>
            <a:r>
              <a:rPr lang="en-US" altLang="ko-KR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02 </a:t>
            </a:r>
            <a:r>
              <a:rPr lang="ko-KR" altLang="en-US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거래 비용 </a:t>
            </a:r>
            <a:r>
              <a:rPr lang="en-US" altLang="ko-KR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: </a:t>
            </a:r>
            <a:r>
              <a:rPr lang="ko-KR" altLang="en-US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불안은 반드시 거래를 방해한다</a:t>
            </a:r>
            <a:br>
              <a:rPr lang="ko-KR" altLang="en-US" sz="1200" b="1" dirty="0"/>
            </a:br>
            <a:r>
              <a:rPr lang="en-US" altLang="ko-KR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03 </a:t>
            </a:r>
            <a:r>
              <a:rPr lang="ko-KR" altLang="en-US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사용 비용 </a:t>
            </a:r>
            <a:r>
              <a:rPr lang="en-US" altLang="ko-KR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: </a:t>
            </a:r>
            <a:r>
              <a:rPr lang="ko-KR" altLang="en-US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디테일의 차이가 말해주는 것</a:t>
            </a:r>
            <a:br>
              <a:rPr lang="ko-KR" altLang="en-US" sz="1200" b="1" dirty="0"/>
            </a:br>
            <a:r>
              <a:rPr lang="en-US" altLang="ko-KR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04 </a:t>
            </a:r>
            <a:r>
              <a:rPr lang="ko-KR" altLang="en-US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처분 비용 </a:t>
            </a:r>
            <a:r>
              <a:rPr lang="en-US" altLang="ko-KR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: </a:t>
            </a:r>
            <a:r>
              <a:rPr lang="ko-KR" altLang="en-US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재구매를 결정하는 의외의 요인에 대하여</a:t>
            </a:r>
            <a:br>
              <a:rPr lang="ko-KR" altLang="en-US" sz="1200" b="1" dirty="0"/>
            </a:br>
            <a:r>
              <a:rPr lang="en-US" altLang="ko-KR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05 </a:t>
            </a:r>
            <a:r>
              <a:rPr lang="ko-KR" altLang="en-US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공유 비용 </a:t>
            </a:r>
            <a:r>
              <a:rPr lang="en-US" altLang="ko-KR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: </a:t>
            </a:r>
            <a:r>
              <a:rPr lang="ko-KR" altLang="en-US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어떻게 미래 고객에게 더 나은 경험을 줄 것인가</a:t>
            </a:r>
            <a:br>
              <a:rPr lang="ko-KR" altLang="en-US" sz="1200" b="1" dirty="0"/>
            </a:br>
            <a:r>
              <a:rPr lang="en-US" altLang="ko-KR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06 </a:t>
            </a:r>
            <a:r>
              <a:rPr lang="ko-KR" altLang="en-US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기능적 혜택 </a:t>
            </a:r>
            <a:r>
              <a:rPr lang="en-US" altLang="ko-KR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: </a:t>
            </a:r>
            <a:r>
              <a:rPr lang="ko-KR" altLang="en-US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소비자는 문제해결을 원한다</a:t>
            </a:r>
            <a:br>
              <a:rPr lang="ko-KR" altLang="en-US" sz="1200" b="1" dirty="0"/>
            </a:br>
            <a:r>
              <a:rPr lang="en-US" altLang="ko-KR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07 </a:t>
            </a:r>
            <a:r>
              <a:rPr lang="ko-KR" altLang="en-US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상징적 혜택 </a:t>
            </a:r>
            <a:r>
              <a:rPr lang="en-US" altLang="ko-KR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: </a:t>
            </a:r>
            <a:r>
              <a:rPr lang="ko-KR" altLang="en-US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남에게 뽐내고 싶은 과시욕</a:t>
            </a:r>
            <a:br>
              <a:rPr lang="ko-KR" altLang="en-US" sz="1200" b="1" dirty="0"/>
            </a:br>
            <a:r>
              <a:rPr lang="en-US" altLang="ko-KR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08 </a:t>
            </a:r>
            <a:r>
              <a:rPr lang="ko-KR" altLang="en-US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경험적 혜택 </a:t>
            </a:r>
            <a:r>
              <a:rPr lang="en-US" altLang="ko-KR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: </a:t>
            </a:r>
            <a:r>
              <a:rPr lang="ko-KR" altLang="en-US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감각적 경험은 왜</a:t>
            </a:r>
            <a:r>
              <a:rPr lang="en-US" altLang="ko-KR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, </a:t>
            </a:r>
            <a:r>
              <a:rPr lang="ko-KR" altLang="en-US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그리고 어떻게 특별함을 만드는가</a:t>
            </a:r>
            <a:br>
              <a:rPr lang="ko-KR" altLang="en-US" sz="1200" b="1" dirty="0"/>
            </a:br>
            <a:r>
              <a:rPr lang="en-US" altLang="ko-KR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09 </a:t>
            </a:r>
            <a:r>
              <a:rPr lang="ko-KR" altLang="en-US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이타적 혜택 </a:t>
            </a:r>
            <a:r>
              <a:rPr lang="en-US" altLang="ko-KR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: </a:t>
            </a:r>
            <a:r>
              <a:rPr lang="ko-KR" altLang="en-US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사회에 기여하는 브랜드를 더 선호한다</a:t>
            </a:r>
            <a:br>
              <a:rPr lang="ko-KR" altLang="en-US" sz="1200" b="1" dirty="0"/>
            </a:br>
            <a:r>
              <a:rPr lang="en-US" altLang="ko-KR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10 </a:t>
            </a:r>
            <a:r>
              <a:rPr lang="ko-KR" altLang="en-US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자존적 혜택 </a:t>
            </a:r>
            <a:r>
              <a:rPr lang="en-US" altLang="ko-KR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: </a:t>
            </a:r>
            <a:r>
              <a:rPr lang="ko-KR" altLang="en-US" sz="1200" b="1" i="0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손해 보더라도 의리 지키는 소비자의 심리</a:t>
            </a:r>
            <a:endParaRPr lang="ko-KR" altLang="en-US" sz="1200" b="1" dirty="0">
              <a:highlight>
                <a:srgbClr val="FFFF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15B601-3F2B-4A63-8D61-E43146E3BE10}"/>
              </a:ext>
            </a:extLst>
          </p:cNvPr>
          <p:cNvSpPr txBox="1"/>
          <p:nvPr/>
        </p:nvSpPr>
        <p:spPr>
          <a:xfrm>
            <a:off x="1608992" y="1896139"/>
            <a:ext cx="21541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FF0000"/>
                </a:solidFill>
              </a:rPr>
              <a:t>(1) </a:t>
            </a:r>
            <a:r>
              <a:rPr lang="ko-KR" altLang="en-US" sz="2400" dirty="0">
                <a:solidFill>
                  <a:srgbClr val="FF0000"/>
                </a:solidFill>
              </a:rPr>
              <a:t>가치 창출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523CEE-671C-4FC9-82ED-5D2CC22DB012}"/>
              </a:ext>
            </a:extLst>
          </p:cNvPr>
          <p:cNvSpPr txBox="1"/>
          <p:nvPr/>
        </p:nvSpPr>
        <p:spPr>
          <a:xfrm>
            <a:off x="9394417" y="890845"/>
            <a:ext cx="21541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FF0000"/>
                </a:solidFill>
              </a:rPr>
              <a:t>(2) S T P </a:t>
            </a:r>
          </a:p>
          <a:p>
            <a:r>
              <a:rPr lang="ko-KR" altLang="en-US" sz="2400" dirty="0">
                <a:solidFill>
                  <a:srgbClr val="FF0000"/>
                </a:solidFill>
              </a:rPr>
              <a:t>고객과의 약속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88D8AE-C0D0-4B85-AC38-5A8E619510B2}"/>
              </a:ext>
            </a:extLst>
          </p:cNvPr>
          <p:cNvSpPr txBox="1"/>
          <p:nvPr/>
        </p:nvSpPr>
        <p:spPr>
          <a:xfrm>
            <a:off x="9627966" y="3823887"/>
            <a:ext cx="21541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FF0000"/>
                </a:solidFill>
              </a:rPr>
              <a:t>(3) 4P </a:t>
            </a:r>
          </a:p>
          <a:p>
            <a:r>
              <a:rPr lang="ko-KR" altLang="en-US" sz="2400" dirty="0">
                <a:solidFill>
                  <a:srgbClr val="FF0000"/>
                </a:solidFill>
              </a:rPr>
              <a:t>약속의 실현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64E93F-E5C7-4F21-B629-070521351C9D}"/>
              </a:ext>
            </a:extLst>
          </p:cNvPr>
          <p:cNvSpPr txBox="1"/>
          <p:nvPr/>
        </p:nvSpPr>
        <p:spPr>
          <a:xfrm>
            <a:off x="1747920" y="456967"/>
            <a:ext cx="214414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b="1" i="0" dirty="0">
                <a:solidFill>
                  <a:srgbClr val="3A60DF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마케팅 브레인 </a:t>
            </a:r>
          </a:p>
          <a:p>
            <a:pPr algn="l"/>
            <a:r>
              <a:rPr lang="ko-KR" altLang="en-US" sz="1200" b="0" i="0" u="none" strike="noStrike" dirty="0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  <a:hlinkClick r:id="rId5"/>
              </a:rPr>
              <a:t>김지헌</a:t>
            </a:r>
            <a:r>
              <a:rPr lang="ko-KR" altLang="en-US" sz="1200" b="0" i="0" dirty="0">
                <a:solidFill>
                  <a:srgbClr val="777777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 지음 </a:t>
            </a:r>
            <a:r>
              <a:rPr lang="en-US" altLang="ko-KR" sz="1200" b="0" i="0" dirty="0">
                <a:solidFill>
                  <a:srgbClr val="AAAAAA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|</a:t>
            </a:r>
            <a:r>
              <a:rPr lang="ko-KR" altLang="en-US" sz="1200" b="0" i="0" dirty="0">
                <a:solidFill>
                  <a:srgbClr val="777777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 </a:t>
            </a:r>
            <a:r>
              <a:rPr lang="ko-KR" altLang="en-US" sz="1200" b="0" i="0" u="none" strike="noStrike" dirty="0" err="1">
                <a:solidFill>
                  <a:srgbClr val="666666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  <a:hlinkClick r:id="rId5"/>
              </a:rPr>
              <a:t>갈매나무</a:t>
            </a:r>
            <a:r>
              <a:rPr lang="ko-KR" altLang="en-US" sz="1200" b="0" i="0" dirty="0">
                <a:solidFill>
                  <a:srgbClr val="777777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 </a:t>
            </a:r>
            <a:r>
              <a:rPr lang="en-US" altLang="ko-KR" sz="1200" b="0" i="0" dirty="0">
                <a:solidFill>
                  <a:srgbClr val="AAAAAA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|</a:t>
            </a:r>
          </a:p>
          <a:p>
            <a:pPr algn="l"/>
            <a:r>
              <a:rPr lang="ko-KR" altLang="en-US" sz="1200" b="0" i="0" dirty="0">
                <a:solidFill>
                  <a:srgbClr val="777777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 </a:t>
            </a:r>
            <a:r>
              <a:rPr lang="en-US" altLang="ko-KR" sz="1200" b="0" i="0" dirty="0">
                <a:solidFill>
                  <a:srgbClr val="777777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2021</a:t>
            </a:r>
            <a:r>
              <a:rPr lang="ko-KR" altLang="en-US" sz="1200" b="0" i="0" dirty="0">
                <a:solidFill>
                  <a:srgbClr val="777777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년 </a:t>
            </a:r>
            <a:r>
              <a:rPr lang="en-US" altLang="ko-KR" sz="1200" b="0" i="0" dirty="0">
                <a:solidFill>
                  <a:srgbClr val="777777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03</a:t>
            </a:r>
            <a:r>
              <a:rPr lang="ko-KR" altLang="en-US" sz="1200" b="0" i="0" dirty="0">
                <a:solidFill>
                  <a:srgbClr val="777777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월 </a:t>
            </a:r>
            <a:r>
              <a:rPr lang="en-US" altLang="ko-KR" sz="1200" b="0" i="0" dirty="0">
                <a:solidFill>
                  <a:srgbClr val="777777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25</a:t>
            </a:r>
            <a:r>
              <a:rPr lang="ko-KR" altLang="en-US" sz="1200" b="0" i="0" dirty="0">
                <a:solidFill>
                  <a:srgbClr val="777777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일 출간</a:t>
            </a:r>
          </a:p>
        </p:txBody>
      </p:sp>
    </p:spTree>
    <p:extLst>
      <p:ext uri="{BB962C8B-B14F-4D97-AF65-F5344CB8AC3E}">
        <p14:creationId xmlns:p14="http://schemas.microsoft.com/office/powerpoint/2010/main" val="3093760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6376"/>
    </mc:Choice>
    <mc:Fallback xmlns="">
      <p:transition spd="slow" advTm="166376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1553567" y="2015984"/>
            <a:ext cx="3052300" cy="2576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5000" spc="300" dirty="0">
                <a:solidFill>
                  <a:schemeClr val="tx2">
                    <a:lumMod val="7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6511" y="2933383"/>
            <a:ext cx="4197943" cy="991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5400" b="1" spc="-150" dirty="0">
                <a:solidFill>
                  <a:srgbClr val="3D3D3D"/>
                </a:solidFill>
                <a:latin typeface="+mj-ea"/>
                <a:ea typeface="+mj-ea"/>
              </a:rPr>
              <a:t>2. </a:t>
            </a:r>
            <a:r>
              <a:rPr lang="ko-KR" altLang="en-US" sz="5400" b="1" spc="-150" dirty="0">
                <a:solidFill>
                  <a:srgbClr val="3D3D3D"/>
                </a:solidFill>
                <a:latin typeface="+mj-ea"/>
                <a:ea typeface="+mj-ea"/>
              </a:rPr>
              <a:t>과제</a:t>
            </a:r>
            <a:endParaRPr lang="en-US" altLang="ko-KR" sz="5400" b="1" spc="-150" dirty="0">
              <a:solidFill>
                <a:srgbClr val="3D3D3D"/>
              </a:solidFill>
              <a:latin typeface="+mj-ea"/>
              <a:ea typeface="+mj-ea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5407629" y="2107161"/>
            <a:ext cx="0" cy="2757557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6790AC1-D279-47F7-9091-55BEA63DDF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72207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F6AA6B2-6183-4738-8678-7A7A0DC3667B}" type="slidenum">
              <a:rPr lang="ko-KR" altLang="en-US" smtClean="0"/>
              <a:pPr/>
              <a:t>15</a:t>
            </a:fld>
            <a:endParaRPr lang="ko-KR" altLang="en-US" sz="1100" dirty="0"/>
          </a:p>
        </p:txBody>
      </p:sp>
      <p:sp>
        <p:nvSpPr>
          <p:cNvPr id="10" name="직사각형 9"/>
          <p:cNvSpPr/>
          <p:nvPr/>
        </p:nvSpPr>
        <p:spPr>
          <a:xfrm rot="5400000">
            <a:off x="-3017520" y="3017520"/>
            <a:ext cx="6858000" cy="82296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50" t="41605" r="4577" b="41975"/>
          <a:stretch/>
        </p:blipFill>
        <p:spPr>
          <a:xfrm>
            <a:off x="10864735" y="329420"/>
            <a:ext cx="960867" cy="24814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D04FFE1-7874-43EC-9B59-53FED0235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8334" y="292234"/>
            <a:ext cx="1191208" cy="362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276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28"/>
    </mc:Choice>
    <mc:Fallback xmlns="">
      <p:transition spd="slow" advTm="1728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/>
          <p:cNvSpPr/>
          <p:nvPr/>
        </p:nvSpPr>
        <p:spPr>
          <a:xfrm>
            <a:off x="0" y="-41038"/>
            <a:ext cx="12192000" cy="82296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600" dirty="0">
                <a:solidFill>
                  <a:schemeClr val="bg1"/>
                </a:solidFill>
              </a:rPr>
              <a:t>시니어창업연구</a:t>
            </a:r>
            <a:endParaRPr lang="ko-KR" altLang="en-US" sz="3600" dirty="0"/>
          </a:p>
        </p:txBody>
      </p:sp>
      <p:sp>
        <p:nvSpPr>
          <p:cNvPr id="2" name="TextBox 1"/>
          <p:cNvSpPr txBox="1"/>
          <p:nvPr/>
        </p:nvSpPr>
        <p:spPr>
          <a:xfrm>
            <a:off x="440072" y="370442"/>
            <a:ext cx="2311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</a:rPr>
              <a:t>.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272" b="39044"/>
          <a:stretch/>
        </p:blipFill>
        <p:spPr>
          <a:xfrm>
            <a:off x="10823170" y="303768"/>
            <a:ext cx="1035682" cy="317816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8C8BCC-9B3C-436A-8B0B-0575A6F5C9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72207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F6AA6B2-6183-4738-8678-7A7A0DC3667B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9F4ACC3-E623-4002-B719-C0C3D6938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8334" y="292234"/>
            <a:ext cx="1191208" cy="362745"/>
          </a:xfrm>
          <a:prstGeom prst="rect">
            <a:avLst/>
          </a:prstGeom>
        </p:spPr>
      </p:pic>
      <p:sp>
        <p:nvSpPr>
          <p:cNvPr id="7" name="タイトル 1">
            <a:extLst>
              <a:ext uri="{FF2B5EF4-FFF2-40B4-BE49-F238E27FC236}">
                <a16:creationId xmlns:a16="http://schemas.microsoft.com/office/drawing/2014/main" id="{130A6254-38D2-577F-B5E3-4259CA8E5AAD}"/>
              </a:ext>
            </a:extLst>
          </p:cNvPr>
          <p:cNvSpPr txBox="1">
            <a:spLocks/>
          </p:cNvSpPr>
          <p:nvPr/>
        </p:nvSpPr>
        <p:spPr>
          <a:xfrm>
            <a:off x="1081066" y="988251"/>
            <a:ext cx="10738727" cy="556890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ko-KR" dirty="0"/>
              <a:t>-</a:t>
            </a:r>
            <a:r>
              <a:rPr lang="ko-KR" altLang="en-US" sz="3600" dirty="0"/>
              <a:t>강의 디자인 </a:t>
            </a:r>
            <a:r>
              <a:rPr lang="en-US" altLang="ko-KR" sz="3600" dirty="0"/>
              <a:t>[ 3</a:t>
            </a:r>
            <a:r>
              <a:rPr lang="ko-KR" altLang="en-US" sz="3600" dirty="0"/>
              <a:t>가지 방향으로</a:t>
            </a:r>
            <a:r>
              <a:rPr lang="en-US" altLang="ko-KR" sz="3600" dirty="0"/>
              <a:t>]</a:t>
            </a:r>
            <a:br>
              <a:rPr lang="en-US" altLang="ko-KR" sz="3600" dirty="0"/>
            </a:br>
            <a:r>
              <a:rPr lang="en-US" altLang="ko-KR" sz="4800" dirty="0"/>
              <a:t>   </a:t>
            </a:r>
            <a:br>
              <a:rPr lang="en-US" altLang="ko-KR" dirty="0"/>
            </a:br>
            <a:r>
              <a:rPr lang="en-US" altLang="ko-KR" sz="2800" dirty="0"/>
              <a:t>1. </a:t>
            </a:r>
            <a:r>
              <a:rPr lang="ko-KR" altLang="en-US" sz="2800" dirty="0"/>
              <a:t>강의    </a:t>
            </a:r>
            <a:r>
              <a:rPr lang="en-US" altLang="ko-KR" sz="2800" dirty="0"/>
              <a:t>:     </a:t>
            </a:r>
            <a:r>
              <a:rPr lang="ko-KR" altLang="en-US" sz="2800" dirty="0"/>
              <a:t>중간시험 전까지 </a:t>
            </a:r>
            <a:r>
              <a:rPr lang="en-US" altLang="ko-KR" sz="2800" dirty="0"/>
              <a:t>100% </a:t>
            </a:r>
            <a:r>
              <a:rPr lang="ko-KR" altLang="en-US" sz="2800" dirty="0"/>
              <a:t>강의</a:t>
            </a:r>
            <a:r>
              <a:rPr lang="en-US" altLang="ko-KR" sz="2800" dirty="0"/>
              <a:t>, </a:t>
            </a:r>
            <a:r>
              <a:rPr lang="ko-KR" altLang="en-US" sz="2800" dirty="0"/>
              <a:t>그 후에도 강의</a:t>
            </a:r>
            <a:br>
              <a:rPr lang="en-US" altLang="ko-KR" sz="2800" dirty="0"/>
            </a:br>
            <a:r>
              <a:rPr lang="en-US" altLang="ko-KR" sz="2800" dirty="0"/>
              <a:t>2. </a:t>
            </a:r>
            <a:r>
              <a:rPr lang="ko-KR" altLang="en-US" sz="2800" dirty="0"/>
              <a:t>과제</a:t>
            </a:r>
            <a:r>
              <a:rPr lang="en-US" altLang="ko-KR" sz="2800" dirty="0"/>
              <a:t>1</a:t>
            </a:r>
            <a:r>
              <a:rPr lang="ko-KR" altLang="en-US" sz="2800" dirty="0"/>
              <a:t>  </a:t>
            </a:r>
            <a:r>
              <a:rPr lang="en-US" altLang="ko-KR" sz="2800" dirty="0"/>
              <a:t>:     </a:t>
            </a:r>
            <a:r>
              <a:rPr lang="ko-KR" altLang="en-US" sz="2800" dirty="0"/>
              <a:t>논문</a:t>
            </a:r>
            <a:r>
              <a:rPr lang="en-US" altLang="ko-KR" sz="2800" dirty="0"/>
              <a:t>2</a:t>
            </a:r>
            <a:r>
              <a:rPr lang="ko-KR" altLang="en-US" sz="2800" dirty="0"/>
              <a:t>개</a:t>
            </a:r>
            <a:r>
              <a:rPr lang="en-US" altLang="ko-KR" sz="2800" dirty="0"/>
              <a:t>( 1</a:t>
            </a:r>
            <a:r>
              <a:rPr lang="ko-KR" altLang="en-US" sz="2800" dirty="0"/>
              <a:t>개</a:t>
            </a:r>
            <a:r>
              <a:rPr lang="en-US" altLang="ko-KR" sz="2800" dirty="0"/>
              <a:t>_</a:t>
            </a:r>
            <a:r>
              <a:rPr lang="ko-KR" altLang="en-US" sz="2800" dirty="0"/>
              <a:t>교수제시</a:t>
            </a:r>
            <a:r>
              <a:rPr lang="en-US" altLang="ko-KR" sz="2800" dirty="0"/>
              <a:t>,1</a:t>
            </a:r>
            <a:r>
              <a:rPr lang="ko-KR" altLang="en-US" sz="2800" dirty="0"/>
              <a:t>개</a:t>
            </a:r>
            <a:r>
              <a:rPr lang="en-US" altLang="ko-KR" sz="2800" dirty="0"/>
              <a:t>_</a:t>
            </a:r>
            <a:r>
              <a:rPr lang="ko-KR" altLang="en-US" sz="2800" dirty="0"/>
              <a:t>학생 개별</a:t>
            </a:r>
            <a:r>
              <a:rPr lang="en-US" altLang="ko-KR" sz="2800" dirty="0"/>
              <a:t>_</a:t>
            </a:r>
            <a:r>
              <a:rPr lang="ko-KR" altLang="en-US" sz="2800" dirty="0"/>
              <a:t>중복 안됨</a:t>
            </a:r>
            <a:r>
              <a:rPr lang="en-US" altLang="ko-KR" sz="2800" dirty="0"/>
              <a:t>)</a:t>
            </a:r>
          </a:p>
          <a:p>
            <a:pPr algn="l">
              <a:lnSpc>
                <a:spcPct val="150000"/>
              </a:lnSpc>
            </a:pPr>
            <a:r>
              <a:rPr lang="en-US" altLang="ko-KR" sz="2800" dirty="0"/>
              <a:t>                  </a:t>
            </a:r>
            <a:r>
              <a:rPr lang="en-US" altLang="ko-KR" sz="1800" dirty="0"/>
              <a:t> 1) </a:t>
            </a:r>
            <a:r>
              <a:rPr lang="ko-KR" altLang="en-US" sz="1800" dirty="0"/>
              <a:t>마케팅논문 </a:t>
            </a:r>
            <a:r>
              <a:rPr lang="en-US" altLang="ko-KR" sz="1800" dirty="0"/>
              <a:t>1</a:t>
            </a:r>
            <a:r>
              <a:rPr lang="ko-KR" altLang="en-US" sz="1800" dirty="0"/>
              <a:t>개 읽기</a:t>
            </a:r>
            <a:r>
              <a:rPr lang="en-US" altLang="ko-KR" sz="1200" dirty="0"/>
              <a:t>-</a:t>
            </a:r>
            <a:r>
              <a:rPr lang="ko-KR" altLang="en-US" sz="1200" b="1" dirty="0"/>
              <a:t>학술정보원</a:t>
            </a:r>
            <a:r>
              <a:rPr lang="en-US" altLang="ko-KR" sz="1200" b="1" dirty="0"/>
              <a:t>-</a:t>
            </a:r>
            <a:r>
              <a:rPr lang="ko-KR" altLang="en-US" sz="1200" b="1" dirty="0"/>
              <a:t>검색해서</a:t>
            </a:r>
            <a:r>
              <a:rPr lang="en-US" altLang="ko-KR" sz="1200" dirty="0"/>
              <a:t>-</a:t>
            </a:r>
          </a:p>
          <a:p>
            <a:pPr algn="l">
              <a:lnSpc>
                <a:spcPct val="150000"/>
              </a:lnSpc>
            </a:pPr>
            <a:br>
              <a:rPr lang="en-US" altLang="ko-KR" sz="1800" b="1" dirty="0"/>
            </a:br>
            <a:r>
              <a:rPr lang="en-US" altLang="ko-KR" sz="2800" dirty="0"/>
              <a:t>3. </a:t>
            </a:r>
            <a:r>
              <a:rPr lang="ko-KR" altLang="en-US" sz="2800" dirty="0"/>
              <a:t>과제</a:t>
            </a:r>
            <a:r>
              <a:rPr lang="en-US" altLang="ko-KR" sz="2800" dirty="0"/>
              <a:t>2  :     1) </a:t>
            </a:r>
            <a:r>
              <a:rPr lang="ko-KR" altLang="en-US" sz="2800" dirty="0"/>
              <a:t>실제 사업모델로 강의내용 정리</a:t>
            </a:r>
            <a:endParaRPr lang="en-US" altLang="ko-KR" sz="2800" dirty="0"/>
          </a:p>
          <a:p>
            <a:pPr algn="l">
              <a:lnSpc>
                <a:spcPct val="150000"/>
              </a:lnSpc>
            </a:pPr>
            <a:r>
              <a:rPr lang="en-US" altLang="ko-KR" sz="2800" dirty="0"/>
              <a:t>                  2) </a:t>
            </a:r>
            <a:r>
              <a:rPr lang="ko-KR" altLang="en-US" sz="2800" dirty="0"/>
              <a:t>세미나</a:t>
            </a:r>
            <a:r>
              <a:rPr lang="en-US" altLang="ko-KR" sz="2800" dirty="0"/>
              <a:t>(</a:t>
            </a:r>
            <a:r>
              <a:rPr lang="ko-KR" altLang="en-US" sz="2800" dirty="0"/>
              <a:t>실습</a:t>
            </a:r>
            <a:r>
              <a:rPr lang="en-US" altLang="ko-KR" sz="2800" dirty="0"/>
              <a:t>1) –</a:t>
            </a:r>
            <a:r>
              <a:rPr lang="ko-KR" altLang="en-US" sz="1800" b="1" dirty="0"/>
              <a:t>마지막 </a:t>
            </a:r>
            <a:r>
              <a:rPr lang="en-US" altLang="ko-KR" sz="1800" b="1" dirty="0"/>
              <a:t>16</a:t>
            </a:r>
            <a:r>
              <a:rPr lang="ko-KR" altLang="en-US" sz="1800" b="1" dirty="0"/>
              <a:t>주차 강의 시간에</a:t>
            </a:r>
            <a:r>
              <a:rPr lang="en-US" altLang="ko-KR" sz="1800" dirty="0"/>
              <a:t>-</a:t>
            </a:r>
            <a:br>
              <a:rPr lang="en-US" altLang="ko-KR" sz="1800" dirty="0"/>
            </a:br>
            <a:r>
              <a:rPr lang="en-US" altLang="ko-KR" sz="2800" dirty="0"/>
              <a:t>                  </a:t>
            </a:r>
            <a:r>
              <a:rPr lang="en-US" altLang="ko-KR" sz="1800" dirty="0"/>
              <a:t> </a:t>
            </a:r>
          </a:p>
          <a:p>
            <a:pPr algn="l"/>
            <a:endParaRPr lang="en-US" altLang="ko-KR" sz="1800" dirty="0"/>
          </a:p>
          <a:p>
            <a:pPr algn="l"/>
            <a:br>
              <a:rPr lang="en-US" altLang="ko-KR" sz="2800" dirty="0"/>
            </a:br>
            <a:r>
              <a:rPr lang="en-US" altLang="ko-KR" sz="2800" dirty="0"/>
              <a:t>4. </a:t>
            </a:r>
            <a:r>
              <a:rPr lang="ko-KR" altLang="en-US" sz="2800" dirty="0"/>
              <a:t>중간시험 </a:t>
            </a:r>
            <a:r>
              <a:rPr lang="en-US" altLang="ko-KR" sz="2800" dirty="0"/>
              <a:t>/ </a:t>
            </a:r>
            <a:r>
              <a:rPr lang="ko-KR" altLang="en-US" sz="2800" dirty="0"/>
              <a:t>기말시험 </a:t>
            </a:r>
            <a:r>
              <a:rPr lang="en-US" altLang="ko-KR" sz="2800" dirty="0"/>
              <a:t>: </a:t>
            </a:r>
            <a:r>
              <a:rPr lang="ko-KR" altLang="en-US" sz="2800" dirty="0"/>
              <a:t>서술형</a:t>
            </a:r>
            <a:r>
              <a:rPr lang="en-US" altLang="ko-KR" sz="2800" dirty="0"/>
              <a:t>,</a:t>
            </a:r>
            <a:r>
              <a:rPr lang="ko-KR" altLang="en-US" sz="2800" dirty="0"/>
              <a:t>단답형</a:t>
            </a:r>
            <a:r>
              <a:rPr lang="en-US" altLang="ko-KR" sz="2800" dirty="0"/>
              <a:t>,</a:t>
            </a:r>
            <a:r>
              <a:rPr lang="ko-KR" altLang="en-US" sz="2800" dirty="0"/>
              <a:t>객관식 등등</a:t>
            </a:r>
            <a:r>
              <a:rPr lang="en-US" altLang="ko-KR" sz="2800" dirty="0"/>
              <a:t>……</a:t>
            </a:r>
            <a:r>
              <a:rPr lang="ko-KR" altLang="en-US" sz="2800" dirty="0"/>
              <a:t> </a:t>
            </a:r>
            <a:endParaRPr lang="en-US" altLang="ko-KR" sz="2800" dirty="0"/>
          </a:p>
          <a:p>
            <a:pPr algn="l"/>
            <a:endParaRPr lang="en-US" altLang="ko-KR" sz="2800" dirty="0"/>
          </a:p>
          <a:p>
            <a:pPr algn="l"/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552019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53"/>
    </mc:Choice>
    <mc:Fallback xmlns="">
      <p:transition spd="slow" advTm="1253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/>
          <p:cNvSpPr/>
          <p:nvPr/>
        </p:nvSpPr>
        <p:spPr>
          <a:xfrm>
            <a:off x="0" y="-41038"/>
            <a:ext cx="12192000" cy="82296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440072" y="370442"/>
            <a:ext cx="1191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solidFill>
                  <a:schemeClr val="bg1"/>
                </a:solidFill>
              </a:rPr>
              <a:t>표지 만들기</a:t>
            </a:r>
            <a:r>
              <a:rPr lang="en-US" altLang="ko-KR" sz="1400" b="1" dirty="0">
                <a:solidFill>
                  <a:schemeClr val="bg1"/>
                </a:solidFill>
              </a:rPr>
              <a:t>.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272" b="39044"/>
          <a:stretch/>
        </p:blipFill>
        <p:spPr>
          <a:xfrm>
            <a:off x="10823170" y="303768"/>
            <a:ext cx="1035682" cy="317816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8C8BCC-9B3C-436A-8B0B-0575A6F5C9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72207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F6AA6B2-6183-4738-8678-7A7A0DC3667B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9F4ACC3-E623-4002-B719-C0C3D6938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8334" y="292234"/>
            <a:ext cx="1191208" cy="362745"/>
          </a:xfrm>
          <a:prstGeom prst="rect">
            <a:avLst/>
          </a:prstGeom>
        </p:spPr>
      </p:pic>
      <p:sp>
        <p:nvSpPr>
          <p:cNvPr id="3" name="タイトル 1">
            <a:extLst>
              <a:ext uri="{FF2B5EF4-FFF2-40B4-BE49-F238E27FC236}">
                <a16:creationId xmlns:a16="http://schemas.microsoft.com/office/drawing/2014/main" id="{72A059E3-2F81-898C-FB2A-03DCA5D33F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6349" y="1270391"/>
            <a:ext cx="9639300" cy="1125537"/>
          </a:xfrm>
        </p:spPr>
        <p:txBody>
          <a:bodyPr>
            <a:normAutofit/>
          </a:bodyPr>
          <a:lstStyle/>
          <a:p>
            <a:r>
              <a:rPr lang="ko-KR" altLang="en-US" dirty="0"/>
              <a:t>과목명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65EA853-A547-49AC-8182-ECE7B87877EE}"/>
              </a:ext>
            </a:extLst>
          </p:cNvPr>
          <p:cNvSpPr txBox="1"/>
          <p:nvPr/>
        </p:nvSpPr>
        <p:spPr>
          <a:xfrm>
            <a:off x="7851543" y="5135472"/>
            <a:ext cx="389127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일시 </a:t>
            </a:r>
            <a:r>
              <a:rPr lang="en-US" altLang="ko-KR" dirty="0"/>
              <a:t>: 2025</a:t>
            </a:r>
            <a:r>
              <a:rPr lang="ko-KR" altLang="en-US" dirty="0"/>
              <a:t>년</a:t>
            </a:r>
            <a:r>
              <a:rPr lang="en-US" altLang="ko-KR" dirty="0"/>
              <a:t>09</a:t>
            </a:r>
            <a:r>
              <a:rPr lang="ko-KR" altLang="en-US" dirty="0"/>
              <a:t>월</a:t>
            </a:r>
            <a:r>
              <a:rPr lang="en-US" altLang="ko-KR" dirty="0"/>
              <a:t>21</a:t>
            </a:r>
            <a:r>
              <a:rPr lang="ko-KR" altLang="en-US" dirty="0"/>
              <a:t>일 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학과 </a:t>
            </a:r>
            <a:r>
              <a:rPr lang="en-US" altLang="ko-KR" dirty="0"/>
              <a:t>: </a:t>
            </a:r>
            <a:r>
              <a:rPr lang="ko-KR" altLang="en-US" dirty="0"/>
              <a:t>시니어산업학과 </a:t>
            </a:r>
            <a:endParaRPr lang="en-US" altLang="ko-KR" dirty="0"/>
          </a:p>
          <a:p>
            <a:r>
              <a:rPr lang="ko-KR" altLang="en-US" dirty="0"/>
              <a:t>          세종대학교</a:t>
            </a:r>
            <a:r>
              <a:rPr lang="en-US" altLang="ko-KR" dirty="0"/>
              <a:t>. </a:t>
            </a:r>
            <a:r>
              <a:rPr lang="ko-KR" altLang="en-US" dirty="0"/>
              <a:t>공공정책대학원</a:t>
            </a:r>
          </a:p>
          <a:p>
            <a:r>
              <a:rPr lang="en-US" altLang="ko-KR" dirty="0"/>
              <a:t>3. </a:t>
            </a:r>
            <a:r>
              <a:rPr lang="ko-KR" altLang="en-US" dirty="0"/>
              <a:t>이름 </a:t>
            </a:r>
            <a:r>
              <a:rPr lang="en-US" altLang="ko-KR" dirty="0"/>
              <a:t>: </a:t>
            </a:r>
            <a:r>
              <a:rPr lang="ko-KR" altLang="en-US" dirty="0"/>
              <a:t>손 흥 민</a:t>
            </a:r>
            <a:r>
              <a:rPr lang="en-US" altLang="ko-KR" dirty="0"/>
              <a:t>/</a:t>
            </a:r>
            <a:r>
              <a:rPr lang="ko-KR" altLang="en-US" dirty="0"/>
              <a:t>석사 </a:t>
            </a:r>
            <a:r>
              <a:rPr lang="en-US" altLang="ko-KR" dirty="0"/>
              <a:t>2</a:t>
            </a:r>
            <a:r>
              <a:rPr lang="ko-KR" altLang="en-US" dirty="0"/>
              <a:t>학기</a:t>
            </a:r>
            <a:endParaRPr lang="en-US" altLang="ko-KR" dirty="0"/>
          </a:p>
          <a:p>
            <a:r>
              <a:rPr lang="en-US" altLang="ko-KR" dirty="0"/>
              <a:t>3. </a:t>
            </a:r>
            <a:r>
              <a:rPr lang="ko-KR" altLang="en-US" dirty="0"/>
              <a:t>담당교수 </a:t>
            </a:r>
            <a:r>
              <a:rPr lang="en-US" altLang="ko-KR" dirty="0"/>
              <a:t>: </a:t>
            </a:r>
            <a:r>
              <a:rPr lang="ko-KR" altLang="en-US" dirty="0"/>
              <a:t>박 흥진</a:t>
            </a:r>
            <a:endParaRPr lang="en-US" altLang="ko-KR" dirty="0"/>
          </a:p>
        </p:txBody>
      </p:sp>
      <p:sp>
        <p:nvSpPr>
          <p:cNvPr id="6" name="タイトル 1">
            <a:extLst>
              <a:ext uri="{FF2B5EF4-FFF2-40B4-BE49-F238E27FC236}">
                <a16:creationId xmlns:a16="http://schemas.microsoft.com/office/drawing/2014/main" id="{49DCF5B9-80E4-DA37-35B4-5455D0C42912}"/>
              </a:ext>
            </a:extLst>
          </p:cNvPr>
          <p:cNvSpPr txBox="1">
            <a:spLocks/>
          </p:cNvSpPr>
          <p:nvPr/>
        </p:nvSpPr>
        <p:spPr>
          <a:xfrm>
            <a:off x="2803787" y="2443598"/>
            <a:ext cx="6584425" cy="11255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-</a:t>
            </a:r>
            <a:r>
              <a:rPr lang="ko-KR" altLang="en-US" dirty="0"/>
              <a:t>과제명</a:t>
            </a:r>
            <a:r>
              <a:rPr lang="en-US" altLang="ko-KR" dirty="0"/>
              <a:t>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2871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53"/>
    </mc:Choice>
    <mc:Fallback xmlns="">
      <p:transition spd="slow" advTm="1253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7D85DE-8E72-4F67-B8DD-8D3B703DC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418" y="182840"/>
            <a:ext cx="9443573" cy="490558"/>
          </a:xfrm>
        </p:spPr>
        <p:txBody>
          <a:bodyPr>
            <a:noAutofit/>
          </a:bodyPr>
          <a:lstStyle/>
          <a:p>
            <a:r>
              <a:rPr lang="en-US" altLang="ko-KR" sz="2800" dirty="0"/>
              <a:t>25</a:t>
            </a:r>
            <a:r>
              <a:rPr lang="ko-KR" altLang="en-US" sz="2800" dirty="0"/>
              <a:t>년도 </a:t>
            </a:r>
            <a:r>
              <a:rPr lang="en-US" altLang="ko-KR" sz="2800" dirty="0"/>
              <a:t>2</a:t>
            </a:r>
            <a:r>
              <a:rPr lang="ko-KR" altLang="en-US" sz="2800" dirty="0"/>
              <a:t>학기 향후 강의 및 발표 일정</a:t>
            </a:r>
            <a:r>
              <a:rPr lang="en-US" altLang="ko-KR" sz="2800" dirty="0"/>
              <a:t> (11</a:t>
            </a:r>
            <a:r>
              <a:rPr lang="ko-KR" altLang="en-US" sz="2800" dirty="0"/>
              <a:t>기 </a:t>
            </a:r>
            <a:r>
              <a:rPr lang="en-US" altLang="ko-KR" sz="2800" dirty="0"/>
              <a:t>2</a:t>
            </a:r>
            <a:r>
              <a:rPr lang="ko-KR" altLang="en-US" sz="2800" dirty="0"/>
              <a:t>번째학기</a:t>
            </a:r>
            <a:r>
              <a:rPr lang="en-US" altLang="ko-KR" sz="2800" dirty="0"/>
              <a:t>)</a:t>
            </a:r>
            <a:endParaRPr lang="ko-KR" altLang="en-US" sz="2800" dirty="0"/>
          </a:p>
        </p:txBody>
      </p:sp>
      <p:sp>
        <p:nvSpPr>
          <p:cNvPr id="8" name="별: 꼭짓점 5개 7">
            <a:extLst>
              <a:ext uri="{FF2B5EF4-FFF2-40B4-BE49-F238E27FC236}">
                <a16:creationId xmlns:a16="http://schemas.microsoft.com/office/drawing/2014/main" id="{538CB616-2F27-8E54-3F45-2141FA5DB109}"/>
              </a:ext>
            </a:extLst>
          </p:cNvPr>
          <p:cNvSpPr/>
          <p:nvPr/>
        </p:nvSpPr>
        <p:spPr>
          <a:xfrm>
            <a:off x="137356" y="181683"/>
            <a:ext cx="490558" cy="443464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별: 꼭짓점 5개 9">
            <a:extLst>
              <a:ext uri="{FF2B5EF4-FFF2-40B4-BE49-F238E27FC236}">
                <a16:creationId xmlns:a16="http://schemas.microsoft.com/office/drawing/2014/main" id="{79D37715-69D5-CB59-AC54-46CA9C608553}"/>
              </a:ext>
            </a:extLst>
          </p:cNvPr>
          <p:cNvSpPr/>
          <p:nvPr/>
        </p:nvSpPr>
        <p:spPr>
          <a:xfrm>
            <a:off x="10101242" y="206387"/>
            <a:ext cx="490558" cy="443464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B6C68E4C-FAA1-4A7C-7478-AB7A28C2FBDC}"/>
              </a:ext>
            </a:extLst>
          </p:cNvPr>
          <p:cNvSpPr txBox="1">
            <a:spLocks/>
          </p:cNvSpPr>
          <p:nvPr/>
        </p:nvSpPr>
        <p:spPr>
          <a:xfrm>
            <a:off x="286581" y="815163"/>
            <a:ext cx="9899410" cy="5983315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 </a:t>
            </a:r>
            <a:r>
              <a:rPr lang="en-US" altLang="ko-KR" sz="3700" b="1" dirty="0">
                <a:latin typeface="+mn-ea"/>
              </a:rPr>
              <a:t>09</a:t>
            </a:r>
            <a:r>
              <a:rPr lang="ko-KR" altLang="en-US" sz="3700" b="1" dirty="0">
                <a:latin typeface="+mn-ea"/>
              </a:rPr>
              <a:t>월   </a:t>
            </a:r>
            <a:r>
              <a:rPr lang="en-US" altLang="ko-KR" sz="3700" b="1" dirty="0">
                <a:latin typeface="+mn-ea"/>
              </a:rPr>
              <a:t>1</a:t>
            </a:r>
            <a:r>
              <a:rPr lang="ko-KR" altLang="en-US" sz="3700" b="1" dirty="0">
                <a:latin typeface="+mn-ea"/>
              </a:rPr>
              <a:t>주차 </a:t>
            </a:r>
            <a:r>
              <a:rPr lang="en-US" altLang="ko-KR" sz="3700" b="1" dirty="0">
                <a:latin typeface="+mn-ea"/>
              </a:rPr>
              <a:t>06</a:t>
            </a:r>
            <a:r>
              <a:rPr lang="ko-KR" altLang="en-US" sz="3700" b="1" dirty="0">
                <a:latin typeface="+mn-ea"/>
              </a:rPr>
              <a:t>일       제</a:t>
            </a:r>
            <a:r>
              <a:rPr lang="en-US" altLang="ko-KR" sz="3700" b="1" dirty="0">
                <a:latin typeface="+mn-ea"/>
              </a:rPr>
              <a:t>1</a:t>
            </a:r>
            <a:r>
              <a:rPr lang="ko-KR" altLang="en-US" sz="3700" b="1" dirty="0">
                <a:latin typeface="+mn-ea"/>
              </a:rPr>
              <a:t>강</a:t>
            </a:r>
            <a:r>
              <a:rPr lang="ko-KR" altLang="en-US" sz="3700" b="1" kern="0" spc="0" dirty="0">
                <a:solidFill>
                  <a:srgbClr val="C00000"/>
                </a:solidFill>
                <a:effectLst/>
                <a:latin typeface="+mn-ea"/>
              </a:rPr>
              <a:t>   강의소개</a:t>
            </a:r>
            <a:r>
              <a:rPr lang="en-US" altLang="ko-KR" sz="3700" b="1" kern="0" spc="0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ko-KR" altLang="en-US" sz="4000" b="1" dirty="0">
                <a:solidFill>
                  <a:schemeClr val="accent6"/>
                </a:solidFill>
              </a:rPr>
              <a:t>강의소개 및 마케팅 개관</a:t>
            </a:r>
            <a:r>
              <a:rPr lang="en-US" altLang="ko-KR" sz="4000" b="1" dirty="0">
                <a:solidFill>
                  <a:schemeClr val="accent6"/>
                </a:solidFill>
              </a:rPr>
              <a:t>_IMC</a:t>
            </a:r>
            <a:r>
              <a:rPr lang="en-US" altLang="ko-KR" sz="3700" b="1" dirty="0">
                <a:latin typeface="+mn-ea"/>
              </a:rPr>
              <a:t>            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3700" b="1" dirty="0">
                <a:latin typeface="+mn-ea"/>
              </a:rPr>
              <a:t>          2</a:t>
            </a:r>
            <a:r>
              <a:rPr lang="ko-KR" altLang="en-US" sz="3700" b="1" dirty="0">
                <a:latin typeface="+mn-ea"/>
              </a:rPr>
              <a:t>주차 </a:t>
            </a:r>
            <a:r>
              <a:rPr lang="en-US" altLang="ko-KR" sz="3700" b="1" dirty="0">
                <a:latin typeface="+mn-ea"/>
              </a:rPr>
              <a:t>13</a:t>
            </a:r>
            <a:r>
              <a:rPr lang="ko-KR" altLang="en-US" sz="3700" b="1" dirty="0">
                <a:latin typeface="+mn-ea"/>
              </a:rPr>
              <a:t>일</a:t>
            </a:r>
            <a:r>
              <a:rPr lang="en-US" altLang="ko-KR" sz="3700" b="1" dirty="0">
                <a:latin typeface="+mn-ea"/>
              </a:rPr>
              <a:t>      </a:t>
            </a:r>
            <a:r>
              <a:rPr lang="ko-KR" altLang="en-US" sz="3700" b="1" dirty="0">
                <a:latin typeface="+mn-ea"/>
              </a:rPr>
              <a:t> 제</a:t>
            </a:r>
            <a:r>
              <a:rPr lang="en-US" altLang="ko-KR" sz="3700" b="1" dirty="0">
                <a:latin typeface="+mn-ea"/>
              </a:rPr>
              <a:t>2</a:t>
            </a:r>
            <a:r>
              <a:rPr lang="ko-KR" altLang="en-US" sz="3700" b="1" dirty="0">
                <a:latin typeface="+mn-ea"/>
              </a:rPr>
              <a:t>강</a:t>
            </a:r>
            <a:r>
              <a:rPr lang="en-US" altLang="ko-KR" sz="3700" b="1" kern="0" dirty="0">
                <a:latin typeface="+mn-ea"/>
              </a:rPr>
              <a:t>   </a:t>
            </a:r>
            <a:r>
              <a:rPr lang="ko-KR" altLang="en-US" sz="3700" b="1" kern="0" dirty="0">
                <a:latin typeface="+mn-ea"/>
              </a:rPr>
              <a:t>전략적 마케팅과정</a:t>
            </a:r>
            <a:r>
              <a:rPr lang="en-US" altLang="ko-KR" sz="3700" b="1" kern="0" dirty="0">
                <a:latin typeface="+mn-ea"/>
              </a:rPr>
              <a:t>_</a:t>
            </a:r>
            <a:r>
              <a:rPr lang="ko-KR" altLang="en-US" sz="3700" b="1" kern="0" dirty="0">
                <a:latin typeface="+mn-ea"/>
              </a:rPr>
              <a:t>환경 분석</a:t>
            </a:r>
            <a:endParaRPr lang="en-US" altLang="ko-KR" sz="3700" b="1" kern="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3700" b="1" dirty="0">
                <a:latin typeface="+mn-ea"/>
              </a:rPr>
              <a:t>          3</a:t>
            </a:r>
            <a:r>
              <a:rPr lang="ko-KR" altLang="en-US" sz="3700" b="1" dirty="0">
                <a:latin typeface="+mn-ea"/>
              </a:rPr>
              <a:t>주차 </a:t>
            </a:r>
            <a:r>
              <a:rPr lang="en-US" altLang="ko-KR" sz="3700" b="1" dirty="0">
                <a:latin typeface="+mn-ea"/>
              </a:rPr>
              <a:t>20</a:t>
            </a:r>
            <a:r>
              <a:rPr lang="ko-KR" altLang="en-US" sz="3700" b="1" dirty="0">
                <a:latin typeface="+mn-ea"/>
              </a:rPr>
              <a:t>일</a:t>
            </a:r>
            <a:r>
              <a:rPr lang="en-US" altLang="ko-KR" sz="3700" b="1" dirty="0">
                <a:latin typeface="+mn-ea"/>
              </a:rPr>
              <a:t>       </a:t>
            </a:r>
            <a:r>
              <a:rPr lang="ko-KR" altLang="en-US" sz="3700" b="1" dirty="0">
                <a:latin typeface="+mn-ea"/>
              </a:rPr>
              <a:t>제</a:t>
            </a:r>
            <a:r>
              <a:rPr lang="en-US" altLang="ko-KR" sz="3700" b="1" dirty="0">
                <a:latin typeface="+mn-ea"/>
              </a:rPr>
              <a:t>3</a:t>
            </a:r>
            <a:r>
              <a:rPr lang="ko-KR" altLang="en-US" sz="3700" b="1" dirty="0">
                <a:latin typeface="+mn-ea"/>
              </a:rPr>
              <a:t>강   가치분석</a:t>
            </a:r>
            <a:r>
              <a:rPr lang="en-US" altLang="ko-KR" sz="3700" b="1" dirty="0">
                <a:latin typeface="+mn-ea"/>
              </a:rPr>
              <a:t>1_</a:t>
            </a:r>
            <a:r>
              <a:rPr lang="ko-KR" altLang="en-US" sz="3700" b="1" dirty="0">
                <a:latin typeface="+mn-ea"/>
              </a:rPr>
              <a:t>차별화를 어떻게</a:t>
            </a:r>
            <a:r>
              <a:rPr lang="en-US" altLang="ko-KR" sz="3700" b="1" dirty="0">
                <a:latin typeface="+mn-ea"/>
              </a:rPr>
              <a:t>?</a:t>
            </a:r>
          </a:p>
          <a:p>
            <a:pPr marL="0" indent="0">
              <a:buNone/>
            </a:pPr>
            <a:r>
              <a:rPr lang="en-US" altLang="ko-KR" sz="3700" b="1" dirty="0">
                <a:latin typeface="+mn-ea"/>
              </a:rPr>
              <a:t>          4</a:t>
            </a:r>
            <a:r>
              <a:rPr lang="ko-KR" altLang="en-US" sz="3700" b="1" dirty="0">
                <a:latin typeface="+mn-ea"/>
              </a:rPr>
              <a:t>주차 </a:t>
            </a:r>
            <a:r>
              <a:rPr lang="en-US" altLang="ko-KR" sz="3700" b="1" dirty="0">
                <a:latin typeface="+mn-ea"/>
              </a:rPr>
              <a:t>27</a:t>
            </a:r>
            <a:r>
              <a:rPr lang="ko-KR" altLang="en-US" sz="3700" b="1" dirty="0">
                <a:latin typeface="+mn-ea"/>
              </a:rPr>
              <a:t>일</a:t>
            </a:r>
            <a:r>
              <a:rPr lang="en-US" altLang="ko-KR" sz="3700" b="1" dirty="0">
                <a:latin typeface="+mn-ea"/>
              </a:rPr>
              <a:t>      </a:t>
            </a:r>
            <a:r>
              <a:rPr lang="ko-KR" altLang="en-US" sz="3700" b="1" dirty="0">
                <a:latin typeface="+mn-ea"/>
              </a:rPr>
              <a:t> 제</a:t>
            </a:r>
            <a:r>
              <a:rPr lang="en-US" altLang="ko-KR" sz="3700" b="1" dirty="0">
                <a:latin typeface="+mn-ea"/>
              </a:rPr>
              <a:t>4</a:t>
            </a:r>
            <a:r>
              <a:rPr lang="ko-KR" altLang="en-US" sz="3700" b="1" dirty="0">
                <a:latin typeface="+mn-ea"/>
              </a:rPr>
              <a:t>강   가치분석</a:t>
            </a:r>
            <a:r>
              <a:rPr lang="en-US" altLang="ko-KR" sz="3700" b="1" dirty="0">
                <a:latin typeface="+mn-ea"/>
              </a:rPr>
              <a:t>2_</a:t>
            </a:r>
            <a:r>
              <a:rPr lang="ko-KR" altLang="en-US" sz="3700" b="1" dirty="0">
                <a:latin typeface="+mn-ea"/>
              </a:rPr>
              <a:t>차별화를 어떻게</a:t>
            </a:r>
            <a:r>
              <a:rPr lang="en-US" altLang="ko-KR" sz="3700" b="1" dirty="0">
                <a:latin typeface="+mn-ea"/>
              </a:rPr>
              <a:t>?</a:t>
            </a:r>
          </a:p>
          <a:p>
            <a:pPr marL="0" indent="0">
              <a:buNone/>
            </a:pPr>
            <a:r>
              <a:rPr lang="en-US" altLang="ko-KR" sz="3700" b="1" dirty="0">
                <a:latin typeface="+mn-ea"/>
              </a:rPr>
              <a:t> 10</a:t>
            </a:r>
            <a:r>
              <a:rPr lang="ko-KR" altLang="en-US" sz="3700" b="1" dirty="0">
                <a:latin typeface="+mn-ea"/>
              </a:rPr>
              <a:t>월   </a:t>
            </a:r>
            <a:r>
              <a:rPr lang="en-US" altLang="ko-KR" sz="3700" b="1" dirty="0">
                <a:latin typeface="+mn-ea"/>
              </a:rPr>
              <a:t>5</a:t>
            </a:r>
            <a:r>
              <a:rPr lang="ko-KR" altLang="en-US" sz="3700" b="1" dirty="0">
                <a:latin typeface="+mn-ea"/>
              </a:rPr>
              <a:t>주차  </a:t>
            </a:r>
            <a:r>
              <a:rPr lang="en-US" altLang="ko-KR" sz="3700" b="1" dirty="0">
                <a:latin typeface="+mn-ea"/>
              </a:rPr>
              <a:t>04</a:t>
            </a:r>
            <a:r>
              <a:rPr lang="ko-KR" altLang="en-US" sz="3700" b="1" dirty="0">
                <a:latin typeface="+mn-ea"/>
              </a:rPr>
              <a:t>일      제</a:t>
            </a:r>
            <a:r>
              <a:rPr lang="en-US" altLang="ko-KR" sz="3700" b="1" dirty="0">
                <a:latin typeface="+mn-ea"/>
              </a:rPr>
              <a:t>5</a:t>
            </a:r>
            <a:r>
              <a:rPr lang="ko-KR" altLang="en-US" sz="3700" b="1" dirty="0">
                <a:latin typeface="+mn-ea"/>
              </a:rPr>
              <a:t>강   </a:t>
            </a:r>
            <a:r>
              <a:rPr lang="ko-KR" altLang="en-US" sz="3700" b="1" dirty="0">
                <a:solidFill>
                  <a:srgbClr val="00B050"/>
                </a:solidFill>
                <a:highlight>
                  <a:srgbClr val="FFFF00"/>
                </a:highlight>
                <a:latin typeface="+mn-ea"/>
              </a:rPr>
              <a:t>추석 </a:t>
            </a:r>
            <a:r>
              <a:rPr lang="ko-KR" altLang="en-US" sz="3700" b="1" dirty="0">
                <a:solidFill>
                  <a:srgbClr val="00B050"/>
                </a:solidFill>
                <a:latin typeface="+mn-ea"/>
              </a:rPr>
              <a:t>휴강 할지</a:t>
            </a:r>
            <a:r>
              <a:rPr lang="en-US" altLang="ko-KR" sz="3700" b="1" dirty="0">
                <a:solidFill>
                  <a:srgbClr val="00B050"/>
                </a:solidFill>
                <a:latin typeface="+mn-ea"/>
              </a:rPr>
              <a:t>?</a:t>
            </a:r>
            <a:r>
              <a:rPr lang="ko-KR" altLang="en-US" sz="3700" b="1" dirty="0">
                <a:solidFill>
                  <a:srgbClr val="00B050"/>
                </a:solidFill>
                <a:latin typeface="+mn-ea"/>
              </a:rPr>
              <a:t> </a:t>
            </a:r>
            <a:r>
              <a:rPr lang="en-US" altLang="ko-KR" sz="3700" b="1" dirty="0">
                <a:highlight>
                  <a:srgbClr val="FFFF00"/>
                </a:highlight>
                <a:latin typeface="+mn-ea"/>
              </a:rPr>
              <a:t>16</a:t>
            </a:r>
            <a:r>
              <a:rPr lang="ko-KR" altLang="en-US" sz="3700" b="1" dirty="0">
                <a:highlight>
                  <a:srgbClr val="FFFF00"/>
                </a:highlight>
                <a:latin typeface="+mn-ea"/>
              </a:rPr>
              <a:t>주차 보강주에 보강</a:t>
            </a:r>
            <a:endParaRPr lang="en-US" altLang="ko-KR" sz="3700" b="1" dirty="0">
              <a:latin typeface="+mn-ea"/>
            </a:endParaRPr>
          </a:p>
          <a:p>
            <a:pPr marL="0" indent="0">
              <a:buNone/>
            </a:pPr>
            <a:r>
              <a:rPr lang="en-US" altLang="ko-KR" sz="3700" b="1" dirty="0">
                <a:latin typeface="+mn-ea"/>
              </a:rPr>
              <a:t>          6</a:t>
            </a:r>
            <a:r>
              <a:rPr lang="ko-KR" altLang="en-US" sz="3700" b="1" dirty="0">
                <a:latin typeface="+mn-ea"/>
              </a:rPr>
              <a:t>주차 </a:t>
            </a:r>
            <a:r>
              <a:rPr lang="en-US" altLang="ko-KR" sz="3700" b="1" dirty="0">
                <a:latin typeface="+mn-ea"/>
              </a:rPr>
              <a:t>11</a:t>
            </a:r>
            <a:r>
              <a:rPr lang="ko-KR" altLang="en-US" sz="3700" b="1" dirty="0">
                <a:latin typeface="+mn-ea"/>
              </a:rPr>
              <a:t>일</a:t>
            </a:r>
            <a:r>
              <a:rPr lang="en-US" altLang="ko-KR" sz="3700" b="1" dirty="0">
                <a:latin typeface="+mn-ea"/>
              </a:rPr>
              <a:t> </a:t>
            </a:r>
            <a:r>
              <a:rPr lang="ko-KR" altLang="en-US" sz="3700" b="1" dirty="0">
                <a:latin typeface="+mn-ea"/>
              </a:rPr>
              <a:t>      제</a:t>
            </a:r>
            <a:r>
              <a:rPr lang="en-US" altLang="ko-KR" sz="3700" b="1" dirty="0">
                <a:latin typeface="+mn-ea"/>
              </a:rPr>
              <a:t>6</a:t>
            </a:r>
            <a:r>
              <a:rPr lang="ko-KR" altLang="en-US" sz="3700" b="1" dirty="0">
                <a:latin typeface="+mn-ea"/>
              </a:rPr>
              <a:t>강   </a:t>
            </a:r>
            <a:r>
              <a:rPr lang="en-US" altLang="ko-KR" sz="3700" b="1" dirty="0">
                <a:latin typeface="+mn-ea"/>
              </a:rPr>
              <a:t>Segmentation</a:t>
            </a:r>
          </a:p>
          <a:p>
            <a:pPr marL="0" indent="0">
              <a:buNone/>
            </a:pPr>
            <a:r>
              <a:rPr lang="en-US" altLang="ko-KR" sz="3700" b="1" dirty="0">
                <a:latin typeface="+mn-ea"/>
              </a:rPr>
              <a:t>        </a:t>
            </a:r>
            <a:r>
              <a:rPr lang="ko-KR" altLang="en-US" sz="3700" b="1" dirty="0">
                <a:latin typeface="+mn-ea"/>
              </a:rPr>
              <a:t>  </a:t>
            </a:r>
            <a:r>
              <a:rPr lang="en-US" altLang="ko-KR" sz="3700" b="1" dirty="0">
                <a:latin typeface="+mn-ea"/>
              </a:rPr>
              <a:t>7</a:t>
            </a:r>
            <a:r>
              <a:rPr lang="ko-KR" altLang="en-US" sz="3700" b="1" dirty="0">
                <a:latin typeface="+mn-ea"/>
              </a:rPr>
              <a:t>주차 </a:t>
            </a:r>
            <a:r>
              <a:rPr lang="en-US" altLang="ko-KR" sz="3700" b="1" dirty="0">
                <a:latin typeface="+mn-ea"/>
              </a:rPr>
              <a:t>18</a:t>
            </a:r>
            <a:r>
              <a:rPr lang="ko-KR" altLang="en-US" sz="3700" b="1" dirty="0">
                <a:latin typeface="+mn-ea"/>
              </a:rPr>
              <a:t>일</a:t>
            </a:r>
            <a:r>
              <a:rPr lang="en-US" altLang="ko-KR" sz="3700" b="1" dirty="0">
                <a:latin typeface="+mn-ea"/>
              </a:rPr>
              <a:t>    </a:t>
            </a:r>
            <a:r>
              <a:rPr lang="ko-KR" altLang="en-US" sz="3700" b="1" dirty="0">
                <a:latin typeface="+mn-ea"/>
              </a:rPr>
              <a:t>   제</a:t>
            </a:r>
            <a:r>
              <a:rPr lang="en-US" altLang="ko-KR" sz="3700" b="1" dirty="0">
                <a:latin typeface="+mn-ea"/>
              </a:rPr>
              <a:t>7</a:t>
            </a:r>
            <a:r>
              <a:rPr lang="ko-KR" altLang="en-US" sz="3700" b="1" dirty="0">
                <a:latin typeface="+mn-ea"/>
              </a:rPr>
              <a:t>강   </a:t>
            </a:r>
            <a:r>
              <a:rPr lang="en-US" altLang="ko-KR" sz="3700" b="1" dirty="0">
                <a:latin typeface="+mn-ea"/>
              </a:rPr>
              <a:t>Targeting/Positioning</a:t>
            </a:r>
          </a:p>
          <a:p>
            <a:pPr marL="0" indent="0">
              <a:buNone/>
            </a:pPr>
            <a:r>
              <a:rPr lang="ko-KR" altLang="en-US" sz="3700" b="1" dirty="0">
                <a:latin typeface="+mn-ea"/>
              </a:rPr>
              <a:t>          </a:t>
            </a:r>
            <a:r>
              <a:rPr lang="en-US" altLang="ko-KR" sz="3700" b="1" dirty="0">
                <a:latin typeface="+mn-ea"/>
              </a:rPr>
              <a:t>8</a:t>
            </a:r>
            <a:r>
              <a:rPr lang="ko-KR" altLang="en-US" sz="3700" b="1" dirty="0">
                <a:latin typeface="+mn-ea"/>
              </a:rPr>
              <a:t>주차 </a:t>
            </a:r>
            <a:r>
              <a:rPr lang="en-US" altLang="ko-KR" sz="3700" b="1" dirty="0">
                <a:latin typeface="+mn-ea"/>
              </a:rPr>
              <a:t>25</a:t>
            </a:r>
            <a:r>
              <a:rPr lang="ko-KR" altLang="en-US" sz="3700" b="1" dirty="0">
                <a:latin typeface="+mn-ea"/>
              </a:rPr>
              <a:t>일 </a:t>
            </a:r>
            <a:r>
              <a:rPr lang="en-US" altLang="ko-KR" sz="3700" b="1" dirty="0">
                <a:latin typeface="+mn-ea"/>
              </a:rPr>
              <a:t>    </a:t>
            </a:r>
            <a:r>
              <a:rPr lang="ko-KR" altLang="en-US" sz="3700" b="1" dirty="0">
                <a:latin typeface="+mn-ea"/>
              </a:rPr>
              <a:t>  </a:t>
            </a:r>
            <a:r>
              <a:rPr lang="ko-KR" altLang="en-US" sz="3700" b="1" dirty="0">
                <a:solidFill>
                  <a:srgbClr val="00B050"/>
                </a:solidFill>
                <a:latin typeface="+mn-ea"/>
              </a:rPr>
              <a:t>제</a:t>
            </a:r>
            <a:r>
              <a:rPr lang="en-US" altLang="ko-KR" sz="3700" b="1" dirty="0">
                <a:solidFill>
                  <a:srgbClr val="00B050"/>
                </a:solidFill>
                <a:latin typeface="+mn-ea"/>
              </a:rPr>
              <a:t>8</a:t>
            </a:r>
            <a:r>
              <a:rPr lang="ko-KR" altLang="en-US" sz="3700" b="1" dirty="0">
                <a:solidFill>
                  <a:srgbClr val="00B050"/>
                </a:solidFill>
                <a:latin typeface="+mn-ea"/>
              </a:rPr>
              <a:t>강  </a:t>
            </a:r>
            <a:r>
              <a:rPr lang="en-US" altLang="ko-KR" sz="3700" b="1" dirty="0">
                <a:solidFill>
                  <a:srgbClr val="00B050"/>
                </a:solidFill>
                <a:latin typeface="+mn-ea"/>
              </a:rPr>
              <a:t>(</a:t>
            </a:r>
            <a:r>
              <a:rPr lang="ko-KR" altLang="en-US" sz="3700" b="1" dirty="0">
                <a:solidFill>
                  <a:srgbClr val="00B050"/>
                </a:solidFill>
                <a:latin typeface="+mn-ea"/>
              </a:rPr>
              <a:t>중간고사</a:t>
            </a:r>
            <a:r>
              <a:rPr lang="en-US" altLang="ko-KR" sz="3700" b="1" dirty="0">
                <a:solidFill>
                  <a:srgbClr val="00B050"/>
                </a:solidFill>
                <a:latin typeface="+mn-ea"/>
              </a:rPr>
              <a:t>)</a:t>
            </a:r>
            <a:r>
              <a:rPr lang="ko-KR" altLang="en-US" sz="3700" b="1" dirty="0">
                <a:solidFill>
                  <a:srgbClr val="00B050"/>
                </a:solidFill>
                <a:latin typeface="+mn-ea"/>
              </a:rPr>
              <a:t> </a:t>
            </a:r>
            <a:endParaRPr lang="en-US" altLang="ko-KR" sz="3700" b="1" dirty="0">
              <a:latin typeface="+mn-ea"/>
            </a:endParaRPr>
          </a:p>
          <a:p>
            <a:pPr marL="0" indent="0">
              <a:buNone/>
            </a:pPr>
            <a:endParaRPr lang="en-US" altLang="ko-KR" sz="3700" b="1" dirty="0">
              <a:solidFill>
                <a:srgbClr val="00B050"/>
              </a:solidFill>
              <a:latin typeface="+mn-ea"/>
            </a:endParaRPr>
          </a:p>
          <a:p>
            <a:pPr marL="0" indent="0">
              <a:buNone/>
            </a:pPr>
            <a:r>
              <a:rPr lang="en-US" altLang="ko-KR" sz="3700" b="1" dirty="0">
                <a:latin typeface="+mn-ea"/>
              </a:rPr>
              <a:t> 11</a:t>
            </a:r>
            <a:r>
              <a:rPr lang="ko-KR" altLang="en-US" sz="3700" b="1" dirty="0">
                <a:latin typeface="+mn-ea"/>
              </a:rPr>
              <a:t>월   </a:t>
            </a:r>
            <a:r>
              <a:rPr lang="en-US" altLang="ko-KR" sz="3700" b="1" dirty="0">
                <a:latin typeface="+mn-ea"/>
              </a:rPr>
              <a:t>9</a:t>
            </a:r>
            <a:r>
              <a:rPr lang="ko-KR" altLang="en-US" sz="3700" b="1" dirty="0">
                <a:latin typeface="+mn-ea"/>
              </a:rPr>
              <a:t>주차   </a:t>
            </a:r>
            <a:r>
              <a:rPr lang="en-US" altLang="ko-KR" sz="3700" b="1" dirty="0">
                <a:latin typeface="+mn-ea"/>
              </a:rPr>
              <a:t>01</a:t>
            </a:r>
            <a:r>
              <a:rPr lang="ko-KR" altLang="en-US" sz="3700" b="1" dirty="0">
                <a:latin typeface="+mn-ea"/>
              </a:rPr>
              <a:t>일      제</a:t>
            </a:r>
            <a:r>
              <a:rPr lang="en-US" altLang="ko-KR" sz="3700" b="1" dirty="0">
                <a:latin typeface="+mn-ea"/>
              </a:rPr>
              <a:t>9</a:t>
            </a:r>
            <a:r>
              <a:rPr lang="ko-KR" altLang="en-US" sz="3700" b="1" dirty="0">
                <a:latin typeface="+mn-ea"/>
              </a:rPr>
              <a:t>강   제품 </a:t>
            </a:r>
            <a:r>
              <a:rPr lang="en-US" altLang="ko-KR" sz="3700" b="1" dirty="0">
                <a:latin typeface="+mn-ea"/>
              </a:rPr>
              <a:t>/ </a:t>
            </a:r>
            <a:r>
              <a:rPr lang="ko-KR" altLang="en-US" sz="3700" b="1" dirty="0">
                <a:latin typeface="+mn-ea"/>
              </a:rPr>
              <a:t>제품수명주기 이론</a:t>
            </a:r>
            <a:endParaRPr lang="en-US" altLang="ko-KR" sz="3700" b="1" dirty="0">
              <a:latin typeface="+mn-ea"/>
            </a:endParaRPr>
          </a:p>
          <a:p>
            <a:pPr marL="0" indent="0">
              <a:buNone/>
            </a:pPr>
            <a:r>
              <a:rPr lang="en-US" altLang="ko-KR" sz="3700" b="1" dirty="0">
                <a:latin typeface="+mn-ea"/>
              </a:rPr>
              <a:t>      </a:t>
            </a:r>
            <a:r>
              <a:rPr lang="ko-KR" altLang="en-US" sz="3700" b="1" dirty="0">
                <a:latin typeface="+mn-ea"/>
              </a:rPr>
              <a:t> </a:t>
            </a:r>
            <a:r>
              <a:rPr lang="en-US" altLang="ko-KR" sz="3700" b="1" dirty="0">
                <a:latin typeface="+mn-ea"/>
              </a:rPr>
              <a:t>   10</a:t>
            </a:r>
            <a:r>
              <a:rPr lang="ko-KR" altLang="en-US" sz="3700" b="1" dirty="0">
                <a:latin typeface="+mn-ea"/>
              </a:rPr>
              <a:t>주차 </a:t>
            </a:r>
            <a:r>
              <a:rPr lang="en-US" altLang="ko-KR" sz="3700" b="1" dirty="0">
                <a:latin typeface="+mn-ea"/>
              </a:rPr>
              <a:t>08</a:t>
            </a:r>
            <a:r>
              <a:rPr lang="ko-KR" altLang="en-US" sz="3700" b="1" dirty="0">
                <a:latin typeface="+mn-ea"/>
              </a:rPr>
              <a:t>일       제</a:t>
            </a:r>
            <a:r>
              <a:rPr lang="en-US" altLang="ko-KR" sz="3700" b="1" dirty="0">
                <a:latin typeface="+mn-ea"/>
              </a:rPr>
              <a:t>10</a:t>
            </a:r>
            <a:r>
              <a:rPr lang="ko-KR" altLang="en-US" sz="3700" b="1" dirty="0">
                <a:latin typeface="+mn-ea"/>
              </a:rPr>
              <a:t>강 유통</a:t>
            </a:r>
            <a:r>
              <a:rPr lang="en-US" altLang="ko-KR" sz="3700" b="1" dirty="0">
                <a:latin typeface="+mn-ea"/>
              </a:rPr>
              <a:t>/</a:t>
            </a:r>
            <a:r>
              <a:rPr lang="ko-KR" altLang="en-US" sz="3700" b="1" dirty="0">
                <a:latin typeface="+mn-ea"/>
              </a:rPr>
              <a:t>브랜드관리</a:t>
            </a:r>
            <a:endParaRPr lang="en-US" altLang="ko-KR" sz="3700" b="1" dirty="0">
              <a:latin typeface="+mn-ea"/>
            </a:endParaRPr>
          </a:p>
          <a:p>
            <a:pPr marL="0" indent="0">
              <a:buNone/>
            </a:pPr>
            <a:r>
              <a:rPr lang="en-US" altLang="ko-KR" sz="3700" b="1" kern="0" dirty="0">
                <a:latin typeface="+mn-ea"/>
              </a:rPr>
              <a:t>          11</a:t>
            </a:r>
            <a:r>
              <a:rPr lang="ko-KR" altLang="en-US" sz="3700" b="1" kern="0" dirty="0">
                <a:latin typeface="+mn-ea"/>
              </a:rPr>
              <a:t>주차 </a:t>
            </a:r>
            <a:r>
              <a:rPr lang="en-US" altLang="ko-KR" sz="3700" b="1" kern="0" dirty="0">
                <a:latin typeface="+mn-ea"/>
              </a:rPr>
              <a:t>15</a:t>
            </a:r>
            <a:r>
              <a:rPr lang="ko-KR" altLang="en-US" sz="3700" b="1" dirty="0">
                <a:latin typeface="+mn-ea"/>
              </a:rPr>
              <a:t>일       제</a:t>
            </a:r>
            <a:r>
              <a:rPr lang="en-US" altLang="ko-KR" sz="3700" b="1" dirty="0">
                <a:latin typeface="+mn-ea"/>
              </a:rPr>
              <a:t>11</a:t>
            </a:r>
            <a:r>
              <a:rPr lang="ko-KR" altLang="en-US" sz="3700" b="1" dirty="0">
                <a:latin typeface="+mn-ea"/>
              </a:rPr>
              <a:t>강  </a:t>
            </a:r>
            <a:r>
              <a:rPr lang="en-US" altLang="ko-KR" sz="3700" b="1" dirty="0">
                <a:latin typeface="+mn-ea"/>
              </a:rPr>
              <a:t>Promotion(PR,</a:t>
            </a:r>
            <a:r>
              <a:rPr lang="ko-KR" altLang="en-US" sz="3700" b="1" dirty="0">
                <a:latin typeface="+mn-ea"/>
              </a:rPr>
              <a:t>판매촉진</a:t>
            </a:r>
            <a:r>
              <a:rPr lang="en-US" altLang="ko-KR" sz="3700" b="1" dirty="0">
                <a:latin typeface="+mn-ea"/>
              </a:rPr>
              <a:t>,</a:t>
            </a:r>
            <a:r>
              <a:rPr lang="ko-KR" altLang="en-US" sz="3700" b="1" dirty="0">
                <a:latin typeface="+mn-ea"/>
              </a:rPr>
              <a:t>인적판매</a:t>
            </a:r>
            <a:r>
              <a:rPr lang="en-US" altLang="ko-KR" sz="3700" b="1" dirty="0">
                <a:latin typeface="+mn-ea"/>
              </a:rPr>
              <a:t>,</a:t>
            </a:r>
            <a:r>
              <a:rPr lang="ko-KR" altLang="en-US" sz="3700" b="1" dirty="0">
                <a:latin typeface="+mn-ea"/>
              </a:rPr>
              <a:t>디지털커뮤니케이션</a:t>
            </a:r>
            <a:r>
              <a:rPr lang="en-US" altLang="ko-KR" sz="3700" b="1" dirty="0">
                <a:latin typeface="+mn-ea"/>
              </a:rPr>
              <a:t>)</a:t>
            </a:r>
          </a:p>
          <a:p>
            <a:pPr marL="0" indent="0">
              <a:buNone/>
            </a:pPr>
            <a:r>
              <a:rPr lang="en-US" altLang="ko-KR" sz="3700" b="1" dirty="0">
                <a:latin typeface="+mn-ea"/>
              </a:rPr>
              <a:t>                                            Integrated Marketing Communication</a:t>
            </a:r>
            <a:r>
              <a:rPr lang="ko-KR" altLang="en-US" sz="3700" b="1" dirty="0">
                <a:latin typeface="+mn-ea"/>
              </a:rPr>
              <a:t>과 광고</a:t>
            </a:r>
            <a:endParaRPr lang="en-US" altLang="ko-KR" sz="3700" b="1" dirty="0">
              <a:latin typeface="+mn-ea"/>
            </a:endParaRPr>
          </a:p>
          <a:p>
            <a:pPr marL="0" indent="0">
              <a:buNone/>
            </a:pPr>
            <a:r>
              <a:rPr lang="en-US" altLang="ko-KR" sz="3700" b="1" dirty="0">
                <a:latin typeface="+mn-ea"/>
              </a:rPr>
              <a:t>          12</a:t>
            </a:r>
            <a:r>
              <a:rPr lang="ko-KR" altLang="en-US" sz="3700" b="1" dirty="0">
                <a:latin typeface="+mn-ea"/>
              </a:rPr>
              <a:t>주차 </a:t>
            </a:r>
            <a:r>
              <a:rPr lang="en-US" altLang="ko-KR" sz="3700" b="1" dirty="0">
                <a:latin typeface="+mn-ea"/>
              </a:rPr>
              <a:t>22</a:t>
            </a:r>
            <a:r>
              <a:rPr lang="ko-KR" altLang="en-US" sz="3700" b="1" dirty="0">
                <a:latin typeface="+mn-ea"/>
              </a:rPr>
              <a:t>일</a:t>
            </a:r>
            <a:r>
              <a:rPr lang="en-US" altLang="ko-KR" sz="3700" b="1" dirty="0">
                <a:latin typeface="+mn-ea"/>
              </a:rPr>
              <a:t>       </a:t>
            </a:r>
            <a:r>
              <a:rPr lang="ko-KR" altLang="en-US" sz="3700" b="1" dirty="0">
                <a:latin typeface="+mn-ea"/>
              </a:rPr>
              <a:t>제</a:t>
            </a:r>
            <a:r>
              <a:rPr lang="en-US" altLang="ko-KR" sz="3700" b="1" dirty="0">
                <a:latin typeface="+mn-ea"/>
              </a:rPr>
              <a:t>12</a:t>
            </a:r>
            <a:r>
              <a:rPr lang="ko-KR" altLang="en-US" sz="3700" b="1" dirty="0">
                <a:latin typeface="+mn-ea"/>
              </a:rPr>
              <a:t>강  가격</a:t>
            </a:r>
            <a:endParaRPr lang="en-US" altLang="ko-KR" sz="3700" b="1" dirty="0">
              <a:latin typeface="+mn-ea"/>
            </a:endParaRPr>
          </a:p>
          <a:p>
            <a:pPr marL="0" indent="0">
              <a:buNone/>
            </a:pPr>
            <a:r>
              <a:rPr lang="en-US" altLang="ko-KR" sz="3700" b="1" dirty="0">
                <a:latin typeface="+mn-ea"/>
              </a:rPr>
              <a:t>          13</a:t>
            </a:r>
            <a:r>
              <a:rPr lang="ko-KR" altLang="en-US" sz="3700" b="1" dirty="0">
                <a:latin typeface="+mn-ea"/>
              </a:rPr>
              <a:t>주차 </a:t>
            </a:r>
            <a:r>
              <a:rPr lang="en-US" altLang="ko-KR" sz="3700" b="1" dirty="0">
                <a:latin typeface="+mn-ea"/>
              </a:rPr>
              <a:t>29</a:t>
            </a:r>
            <a:r>
              <a:rPr lang="ko-KR" altLang="en-US" sz="3700" b="1" dirty="0">
                <a:latin typeface="+mn-ea"/>
              </a:rPr>
              <a:t>일</a:t>
            </a:r>
            <a:r>
              <a:rPr lang="en-US" altLang="ko-KR" sz="3700" b="1" dirty="0">
                <a:latin typeface="+mn-ea"/>
              </a:rPr>
              <a:t>       </a:t>
            </a:r>
            <a:r>
              <a:rPr lang="ko-KR" altLang="en-US" sz="3700" b="1" dirty="0">
                <a:latin typeface="+mn-ea"/>
              </a:rPr>
              <a:t>제</a:t>
            </a:r>
            <a:r>
              <a:rPr lang="en-US" altLang="ko-KR" sz="3700" b="1" dirty="0">
                <a:latin typeface="+mn-ea"/>
              </a:rPr>
              <a:t>13</a:t>
            </a:r>
            <a:r>
              <a:rPr lang="ko-KR" altLang="en-US" sz="3700" b="1" dirty="0">
                <a:latin typeface="+mn-ea"/>
              </a:rPr>
              <a:t>강  마케팅조사론</a:t>
            </a:r>
            <a:endParaRPr lang="en-US" altLang="ko-KR" sz="3700" b="1" dirty="0">
              <a:highlight>
                <a:srgbClr val="FFFF00"/>
              </a:highlight>
              <a:latin typeface="+mn-ea"/>
            </a:endParaRPr>
          </a:p>
          <a:p>
            <a:pPr marL="0" indent="0">
              <a:buNone/>
            </a:pPr>
            <a:r>
              <a:rPr lang="en-US" altLang="ko-KR" sz="3700" b="1" dirty="0">
                <a:latin typeface="+mn-ea"/>
              </a:rPr>
              <a:t> 12</a:t>
            </a:r>
            <a:r>
              <a:rPr lang="ko-KR" altLang="en-US" sz="3700" b="1" dirty="0">
                <a:latin typeface="+mn-ea"/>
              </a:rPr>
              <a:t>월</a:t>
            </a:r>
            <a:r>
              <a:rPr lang="en-US" altLang="ko-KR" sz="3700" b="1" dirty="0">
                <a:latin typeface="+mn-ea"/>
              </a:rPr>
              <a:t>   14</a:t>
            </a:r>
            <a:r>
              <a:rPr lang="ko-KR" altLang="en-US" sz="3700" b="1" dirty="0">
                <a:latin typeface="+mn-ea"/>
              </a:rPr>
              <a:t>주차 </a:t>
            </a:r>
            <a:r>
              <a:rPr lang="en-US" altLang="ko-KR" sz="3700" b="1" dirty="0">
                <a:latin typeface="+mn-ea"/>
              </a:rPr>
              <a:t>06</a:t>
            </a:r>
            <a:r>
              <a:rPr lang="ko-KR" altLang="en-US" sz="3700" b="1" dirty="0">
                <a:latin typeface="+mn-ea"/>
              </a:rPr>
              <a:t>일</a:t>
            </a:r>
            <a:r>
              <a:rPr lang="en-US" altLang="ko-KR" sz="3700" b="1" dirty="0">
                <a:latin typeface="+mn-ea"/>
              </a:rPr>
              <a:t>       </a:t>
            </a:r>
            <a:r>
              <a:rPr lang="ko-KR" altLang="en-US" sz="3700" b="1" dirty="0">
                <a:latin typeface="+mn-ea"/>
              </a:rPr>
              <a:t>제</a:t>
            </a:r>
            <a:r>
              <a:rPr lang="en-US" altLang="ko-KR" sz="3700" b="1" dirty="0">
                <a:latin typeface="+mn-ea"/>
              </a:rPr>
              <a:t>14</a:t>
            </a:r>
            <a:r>
              <a:rPr lang="ko-KR" altLang="en-US" sz="3700" b="1" dirty="0">
                <a:latin typeface="+mn-ea"/>
              </a:rPr>
              <a:t>강</a:t>
            </a:r>
            <a:r>
              <a:rPr lang="en-US" altLang="ko-KR" sz="3700" b="1" dirty="0">
                <a:latin typeface="+mn-ea"/>
              </a:rPr>
              <a:t>  </a:t>
            </a:r>
            <a:r>
              <a:rPr lang="ko-KR" altLang="en-US" sz="3700" b="1" dirty="0">
                <a:latin typeface="+mn-ea"/>
              </a:rPr>
              <a:t>소비자행동</a:t>
            </a:r>
            <a:endParaRPr lang="en-US" altLang="ko-KR" sz="3700" b="1" dirty="0">
              <a:latin typeface="+mn-ea"/>
            </a:endParaRPr>
          </a:p>
          <a:p>
            <a:pPr marL="0" indent="0">
              <a:buNone/>
            </a:pPr>
            <a:r>
              <a:rPr lang="en-US" altLang="ko-KR" sz="3700" b="1" dirty="0">
                <a:latin typeface="+mn-ea"/>
              </a:rPr>
              <a:t>          15</a:t>
            </a:r>
            <a:r>
              <a:rPr lang="ko-KR" altLang="en-US" sz="3700" b="1" dirty="0">
                <a:latin typeface="+mn-ea"/>
              </a:rPr>
              <a:t>주차 </a:t>
            </a:r>
            <a:r>
              <a:rPr lang="en-US" altLang="ko-KR" sz="3700" b="1" dirty="0">
                <a:latin typeface="+mn-ea"/>
              </a:rPr>
              <a:t>13</a:t>
            </a:r>
            <a:r>
              <a:rPr lang="ko-KR" altLang="en-US" sz="3700" b="1" dirty="0">
                <a:latin typeface="+mn-ea"/>
              </a:rPr>
              <a:t>일       제</a:t>
            </a:r>
            <a:r>
              <a:rPr lang="en-US" altLang="ko-KR" sz="3700" b="1" dirty="0">
                <a:latin typeface="+mn-ea"/>
              </a:rPr>
              <a:t>15</a:t>
            </a:r>
            <a:r>
              <a:rPr lang="ko-KR" altLang="en-US" sz="3700" b="1" dirty="0">
                <a:latin typeface="+mn-ea"/>
              </a:rPr>
              <a:t>강  </a:t>
            </a:r>
            <a:r>
              <a:rPr lang="ko-KR" altLang="en-US" sz="3700" b="1" dirty="0">
                <a:solidFill>
                  <a:srgbClr val="00B050"/>
                </a:solidFill>
                <a:latin typeface="+mn-ea"/>
              </a:rPr>
              <a:t>보강실시 </a:t>
            </a:r>
            <a:r>
              <a:rPr lang="en-US" altLang="ko-KR" sz="3700" b="1" dirty="0">
                <a:solidFill>
                  <a:srgbClr val="00B050"/>
                </a:solidFill>
                <a:latin typeface="+mn-ea"/>
              </a:rPr>
              <a:t>(</a:t>
            </a:r>
            <a:r>
              <a:rPr lang="ko-KR" altLang="en-US" sz="3700" b="1" dirty="0">
                <a:solidFill>
                  <a:srgbClr val="00B050"/>
                </a:solidFill>
                <a:latin typeface="+mn-ea"/>
              </a:rPr>
              <a:t>마케팅 실습</a:t>
            </a:r>
            <a:r>
              <a:rPr lang="en-US" altLang="ko-KR" sz="3700" b="1" dirty="0">
                <a:solidFill>
                  <a:srgbClr val="00B050"/>
                </a:solidFill>
                <a:latin typeface="+mn-ea"/>
              </a:rPr>
              <a:t>1)</a:t>
            </a:r>
          </a:p>
          <a:p>
            <a:pPr marL="0" indent="0">
              <a:buNone/>
            </a:pPr>
            <a:r>
              <a:rPr lang="en-US" altLang="ko-KR" sz="3700" b="1" dirty="0">
                <a:solidFill>
                  <a:srgbClr val="00B050"/>
                </a:solidFill>
                <a:latin typeface="+mn-ea"/>
              </a:rPr>
              <a:t>          </a:t>
            </a:r>
            <a:r>
              <a:rPr lang="en-US" altLang="ko-KR" sz="3700" b="1" dirty="0">
                <a:latin typeface="+mn-ea"/>
              </a:rPr>
              <a:t>16</a:t>
            </a:r>
            <a:r>
              <a:rPr lang="ko-KR" altLang="en-US" sz="3700" b="1" dirty="0">
                <a:latin typeface="+mn-ea"/>
              </a:rPr>
              <a:t>주차  </a:t>
            </a:r>
            <a:r>
              <a:rPr lang="en-US" altLang="ko-KR" sz="3700" b="1" dirty="0">
                <a:latin typeface="+mn-ea"/>
              </a:rPr>
              <a:t>20</a:t>
            </a:r>
            <a:r>
              <a:rPr lang="ko-KR" altLang="en-US" sz="3700" b="1" dirty="0">
                <a:latin typeface="+mn-ea"/>
              </a:rPr>
              <a:t>일</a:t>
            </a:r>
            <a:r>
              <a:rPr lang="ko-KR" altLang="en-US" sz="3700" b="1" dirty="0">
                <a:solidFill>
                  <a:srgbClr val="00B050"/>
                </a:solidFill>
                <a:latin typeface="+mn-ea"/>
              </a:rPr>
              <a:t>      제</a:t>
            </a:r>
            <a:r>
              <a:rPr lang="en-US" altLang="ko-KR" sz="3700" b="1" dirty="0">
                <a:solidFill>
                  <a:srgbClr val="00B050"/>
                </a:solidFill>
                <a:latin typeface="+mn-ea"/>
              </a:rPr>
              <a:t>16</a:t>
            </a:r>
            <a:r>
              <a:rPr lang="ko-KR" altLang="en-US" sz="3700" b="1" dirty="0">
                <a:solidFill>
                  <a:srgbClr val="00B050"/>
                </a:solidFill>
                <a:latin typeface="+mn-ea"/>
              </a:rPr>
              <a:t>강 </a:t>
            </a:r>
            <a:r>
              <a:rPr lang="en-US" altLang="ko-KR" sz="3700" b="1" dirty="0">
                <a:solidFill>
                  <a:srgbClr val="00B050"/>
                </a:solidFill>
                <a:latin typeface="+mn-ea"/>
              </a:rPr>
              <a:t>(</a:t>
            </a:r>
            <a:r>
              <a:rPr lang="ko-KR" altLang="en-US" sz="3700" b="1" dirty="0">
                <a:solidFill>
                  <a:srgbClr val="00B050"/>
                </a:solidFill>
                <a:latin typeface="+mn-ea"/>
              </a:rPr>
              <a:t>기말시험</a:t>
            </a:r>
            <a:r>
              <a:rPr lang="en-US" altLang="ko-KR" sz="3700" b="1" dirty="0">
                <a:solidFill>
                  <a:srgbClr val="00B050"/>
                </a:solidFill>
                <a:latin typeface="+mn-ea"/>
              </a:rPr>
              <a:t>)</a:t>
            </a:r>
            <a:r>
              <a:rPr lang="ko-KR" altLang="en-US" sz="3700" b="1" dirty="0">
                <a:solidFill>
                  <a:srgbClr val="00B050"/>
                </a:solidFill>
                <a:latin typeface="+mn-ea"/>
              </a:rPr>
              <a:t> </a:t>
            </a:r>
            <a:endParaRPr lang="en-US" altLang="ko-KR" sz="3700" b="1" dirty="0">
              <a:solidFill>
                <a:srgbClr val="00B05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808951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67AEDC-8D5A-4133-AB46-084FE193B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2761" y="2310934"/>
            <a:ext cx="4604864" cy="1325563"/>
          </a:xfrm>
        </p:spPr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강의 안내 종료</a:t>
            </a:r>
          </a:p>
        </p:txBody>
      </p:sp>
    </p:spTree>
    <p:extLst>
      <p:ext uri="{BB962C8B-B14F-4D97-AF65-F5344CB8AC3E}">
        <p14:creationId xmlns:p14="http://schemas.microsoft.com/office/powerpoint/2010/main" val="843754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321"/>
    </mc:Choice>
    <mc:Fallback xmlns="">
      <p:transition spd="slow" advTm="1432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1553567" y="2015984"/>
            <a:ext cx="3052300" cy="2576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5000" spc="300" dirty="0">
                <a:solidFill>
                  <a:schemeClr val="tx2">
                    <a:lumMod val="7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04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6590780" y="3916637"/>
            <a:ext cx="4409739" cy="655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800" spc="-8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마케팅 이란</a:t>
            </a:r>
            <a:r>
              <a:rPr lang="en-US" altLang="ko-KR" sz="2800" spc="-8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8751" y="2107161"/>
            <a:ext cx="3461708" cy="991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5400" b="1" spc="-150">
                <a:solidFill>
                  <a:srgbClr val="3D3D3D"/>
                </a:solidFill>
                <a:latin typeface="+mj-ea"/>
                <a:ea typeface="+mj-ea"/>
              </a:rPr>
              <a:t>제</a:t>
            </a:r>
            <a:r>
              <a:rPr lang="en-US" altLang="ko-KR" sz="5400" b="1" spc="-150" dirty="0">
                <a:solidFill>
                  <a:srgbClr val="3D3D3D"/>
                </a:solidFill>
                <a:latin typeface="+mj-ea"/>
                <a:ea typeface="+mj-ea"/>
              </a:rPr>
              <a:t>1</a:t>
            </a:r>
            <a:r>
              <a:rPr lang="ko-KR" altLang="en-US" sz="5400" b="1" spc="-150" dirty="0">
                <a:solidFill>
                  <a:srgbClr val="3D3D3D"/>
                </a:solidFill>
                <a:latin typeface="+mj-ea"/>
                <a:ea typeface="+mj-ea"/>
              </a:rPr>
              <a:t>강</a:t>
            </a:r>
            <a:endParaRPr lang="en-US" altLang="ko-KR" sz="5400" b="1" spc="-150" dirty="0">
              <a:solidFill>
                <a:srgbClr val="3D3D3D"/>
              </a:solidFill>
              <a:latin typeface="+mj-ea"/>
              <a:ea typeface="+mj-ea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5407629" y="2107161"/>
            <a:ext cx="0" cy="2757557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6790AC1-D279-47F7-9091-55BEA63DDF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72207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F6AA6B2-6183-4738-8678-7A7A0DC3667B}" type="slidenum">
              <a:rPr lang="ko-KR" altLang="en-US" smtClean="0"/>
              <a:pPr/>
              <a:t>20</a:t>
            </a:fld>
            <a:endParaRPr lang="ko-KR" altLang="en-US" sz="1100" dirty="0"/>
          </a:p>
        </p:txBody>
      </p:sp>
      <p:sp>
        <p:nvSpPr>
          <p:cNvPr id="10" name="직사각형 9"/>
          <p:cNvSpPr/>
          <p:nvPr/>
        </p:nvSpPr>
        <p:spPr>
          <a:xfrm rot="5400000">
            <a:off x="-3017520" y="3017520"/>
            <a:ext cx="6858000" cy="82296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50" t="41605" r="4577" b="41975"/>
          <a:stretch/>
        </p:blipFill>
        <p:spPr>
          <a:xfrm>
            <a:off x="10864735" y="329420"/>
            <a:ext cx="960867" cy="24814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D04FFE1-7874-43EC-9B59-53FED0235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8334" y="292234"/>
            <a:ext cx="1191208" cy="362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70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28"/>
    </mc:Choice>
    <mc:Fallback xmlns="">
      <p:transition spd="slow" advTm="1728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/>
          <p:cNvSpPr/>
          <p:nvPr/>
        </p:nvSpPr>
        <p:spPr>
          <a:xfrm>
            <a:off x="0" y="-41038"/>
            <a:ext cx="12192000" cy="82296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440072" y="370442"/>
            <a:ext cx="11288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solidFill>
                  <a:schemeClr val="bg1"/>
                </a:solidFill>
              </a:rPr>
              <a:t>화이트보드</a:t>
            </a:r>
            <a:r>
              <a:rPr lang="en-US" altLang="ko-KR" sz="1400" b="1" dirty="0">
                <a:solidFill>
                  <a:schemeClr val="bg1"/>
                </a:solidFill>
              </a:rPr>
              <a:t>.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04657" y="932492"/>
            <a:ext cx="11669925" cy="391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b="1" dirty="0">
                <a:latin typeface="+mj-lt"/>
                <a:ea typeface="Meiryo UI" panose="020B0604030504040204" pitchFamily="50" charset="-128"/>
                <a:cs typeface="Segoe UI" panose="020B0502040204020203" pitchFamily="34" charset="0"/>
              </a:rPr>
              <a:t>그래서 우리는</a:t>
            </a:r>
            <a:r>
              <a:rPr lang="en-US" altLang="ko-KR" b="1" dirty="0">
                <a:latin typeface="+mj-lt"/>
                <a:ea typeface="Meiryo UI" panose="020B0604030504040204" pitchFamily="50" charset="-128"/>
                <a:cs typeface="Segoe UI" panose="020B0502040204020203" pitchFamily="34" charset="0"/>
              </a:rPr>
              <a:t>?</a:t>
            </a:r>
            <a:endParaRPr lang="en-US" altLang="ko-KR" b="1" spc="-150" dirty="0">
              <a:solidFill>
                <a:schemeClr val="tx2">
                  <a:lumMod val="50000"/>
                </a:schemeClr>
              </a:solidFill>
              <a:latin typeface="+mj-lt"/>
              <a:ea typeface="+mj-ea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272" b="39044"/>
          <a:stretch/>
        </p:blipFill>
        <p:spPr>
          <a:xfrm>
            <a:off x="10823170" y="303768"/>
            <a:ext cx="1035682" cy="317816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8C8BCC-9B3C-436A-8B0B-0575A6F5C9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09388" y="6408636"/>
            <a:ext cx="613711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F6AA6B2-6183-4738-8678-7A7A0DC3667B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9F4ACC3-E623-4002-B719-C0C3D6938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8334" y="292234"/>
            <a:ext cx="1191208" cy="362745"/>
          </a:xfrm>
          <a:prstGeom prst="rect">
            <a:avLst/>
          </a:prstGeom>
        </p:spPr>
      </p:pic>
      <p:grpSp>
        <p:nvGrpSpPr>
          <p:cNvPr id="10" name="グループ 17" descr="手順 1 を示す 1 の番号が振られた小さい円">
            <a:extLst>
              <a:ext uri="{FF2B5EF4-FFF2-40B4-BE49-F238E27FC236}">
                <a16:creationId xmlns:a16="http://schemas.microsoft.com/office/drawing/2014/main" id="{E53F90F2-5615-4CFA-9B44-0252ED0E19B5}"/>
              </a:ext>
            </a:extLst>
          </p:cNvPr>
          <p:cNvGrpSpPr/>
          <p:nvPr/>
        </p:nvGrpSpPr>
        <p:grpSpPr bwMode="blackWhite">
          <a:xfrm>
            <a:off x="782856" y="1678417"/>
            <a:ext cx="558179" cy="409838"/>
            <a:chOff x="6953426" y="711274"/>
            <a:chExt cx="558179" cy="409838"/>
          </a:xfrm>
        </p:grpSpPr>
        <p:sp>
          <p:nvSpPr>
            <p:cNvPr id="11" name="円/楕円 18" descr="小さい円">
              <a:extLst>
                <a:ext uri="{FF2B5EF4-FFF2-40B4-BE49-F238E27FC236}">
                  <a16:creationId xmlns:a16="http://schemas.microsoft.com/office/drawing/2014/main" id="{0BC2953F-2C67-4761-BFF7-AD060ABABBCF}"/>
                </a:ext>
              </a:extLst>
            </p:cNvPr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2" name="テキスト ボックス 19" descr="番号 1">
              <a:extLst>
                <a:ext uri="{FF2B5EF4-FFF2-40B4-BE49-F238E27FC236}">
                  <a16:creationId xmlns:a16="http://schemas.microsoft.com/office/drawing/2014/main" id="{8803B0E4-D024-4CEC-9324-B0CF265B0325}"/>
                </a:ext>
              </a:extLst>
            </p:cNvPr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ja-JP">
                  <a:solidFill>
                    <a:schemeClr val="bg1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Segoe UI Semibold" panose="020B0702040204020203" pitchFamily="34" charset="0"/>
                </a:rPr>
                <a:t>1</a:t>
              </a:r>
              <a:endParaRPr lang="ja-JP" altLang="en-US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Segoe UI Semibold" panose="020B0702040204020203" pitchFamily="34" charset="0"/>
              </a:endParaRPr>
            </a:p>
          </p:txBody>
        </p:sp>
      </p:grpSp>
      <p:grpSp>
        <p:nvGrpSpPr>
          <p:cNvPr id="16" name="グループ 21" descr="手順 3 を示す 3 の番号が振られた小さい円">
            <a:extLst>
              <a:ext uri="{FF2B5EF4-FFF2-40B4-BE49-F238E27FC236}">
                <a16:creationId xmlns:a16="http://schemas.microsoft.com/office/drawing/2014/main" id="{36BD768C-1C23-4E03-BA4D-AEBB8F604352}"/>
              </a:ext>
            </a:extLst>
          </p:cNvPr>
          <p:cNvGrpSpPr/>
          <p:nvPr/>
        </p:nvGrpSpPr>
        <p:grpSpPr bwMode="blackWhite">
          <a:xfrm>
            <a:off x="782856" y="5887225"/>
            <a:ext cx="515952" cy="409838"/>
            <a:chOff x="6953426" y="711274"/>
            <a:chExt cx="558179" cy="409838"/>
          </a:xfrm>
        </p:grpSpPr>
        <p:sp>
          <p:nvSpPr>
            <p:cNvPr id="17" name="円/楕円 23" descr="小さい円">
              <a:extLst>
                <a:ext uri="{FF2B5EF4-FFF2-40B4-BE49-F238E27FC236}">
                  <a16:creationId xmlns:a16="http://schemas.microsoft.com/office/drawing/2014/main" id="{89F6F60D-5229-4B63-AF54-274528B5CC74}"/>
                </a:ext>
              </a:extLst>
            </p:cNvPr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8" name="テキスト ボックス 29" descr="番号 3">
              <a:extLst>
                <a:ext uri="{FF2B5EF4-FFF2-40B4-BE49-F238E27FC236}">
                  <a16:creationId xmlns:a16="http://schemas.microsoft.com/office/drawing/2014/main" id="{CB5A4D76-8F73-4208-968A-B925A5EEDC1D}"/>
                </a:ext>
              </a:extLst>
            </p:cNvPr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ja-JP" dirty="0">
                  <a:solidFill>
                    <a:schemeClr val="bg1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Segoe UI Semibold" panose="020B0702040204020203" pitchFamily="34" charset="0"/>
                </a:rPr>
                <a:t>2</a:t>
              </a:r>
              <a:endParaRPr lang="ja-JP" altLang="en-US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Segoe UI Semibold" panose="020B0702040204020203" pitchFamily="34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47CFCA8-10B8-8C49-E269-BBFB293E6D07}"/>
              </a:ext>
            </a:extLst>
          </p:cNvPr>
          <p:cNvSpPr txBox="1"/>
          <p:nvPr/>
        </p:nvSpPr>
        <p:spPr>
          <a:xfrm>
            <a:off x="1568907" y="1694707"/>
            <a:ext cx="1582867" cy="391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b="1" dirty="0">
                <a:latin typeface="+mj-lt"/>
                <a:ea typeface="Meiryo UI" panose="020B0604030504040204" pitchFamily="50" charset="-128"/>
                <a:cs typeface="Segoe UI" panose="020B0502040204020203" pitchFamily="34" charset="0"/>
              </a:rPr>
              <a:t>마케팅 이란</a:t>
            </a:r>
            <a:r>
              <a:rPr lang="en-US" altLang="ko-KR" b="1" dirty="0">
                <a:latin typeface="+mj-lt"/>
                <a:ea typeface="Meiryo UI" panose="020B0604030504040204" pitchFamily="50" charset="-128"/>
                <a:cs typeface="Segoe UI" panose="020B0502040204020203" pitchFamily="34" charset="0"/>
              </a:rPr>
              <a:t>?</a:t>
            </a:r>
            <a:endParaRPr lang="en-US" altLang="ko-KR" b="1" spc="-150" dirty="0">
              <a:solidFill>
                <a:schemeClr val="tx2">
                  <a:lumMod val="50000"/>
                </a:schemeClr>
              </a:solidFill>
              <a:latin typeface="+mj-lt"/>
              <a:ea typeface="+mj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3642FB-CA8F-BECA-D2A4-621A435584FA}"/>
              </a:ext>
            </a:extLst>
          </p:cNvPr>
          <p:cNvSpPr txBox="1"/>
          <p:nvPr/>
        </p:nvSpPr>
        <p:spPr>
          <a:xfrm>
            <a:off x="1594382" y="5913800"/>
            <a:ext cx="2054509" cy="391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b="1" dirty="0">
                <a:latin typeface="+mj-lt"/>
                <a:ea typeface="Meiryo UI" panose="020B0604030504040204" pitchFamily="50" charset="-128"/>
                <a:cs typeface="Segoe UI" panose="020B0502040204020203" pitchFamily="34" charset="0"/>
              </a:rPr>
              <a:t>마케팅 기초 </a:t>
            </a:r>
            <a:r>
              <a:rPr lang="en-US" altLang="ko-KR" b="1" dirty="0">
                <a:latin typeface="+mj-lt"/>
                <a:ea typeface="Meiryo UI" panose="020B0604030504040204" pitchFamily="50" charset="-128"/>
                <a:cs typeface="Segoe UI" panose="020B0502040204020203" pitchFamily="34" charset="0"/>
              </a:rPr>
              <a:t>1</a:t>
            </a:r>
            <a:r>
              <a:rPr lang="ko-KR" altLang="en-US" b="1" dirty="0">
                <a:latin typeface="+mj-lt"/>
                <a:ea typeface="Meiryo UI" panose="020B0604030504040204" pitchFamily="50" charset="-128"/>
                <a:cs typeface="Segoe UI" panose="020B0502040204020203" pitchFamily="34" charset="0"/>
              </a:rPr>
              <a:t>강</a:t>
            </a:r>
            <a:endParaRPr lang="en-US" altLang="ko-KR" b="1" spc="-150" dirty="0">
              <a:solidFill>
                <a:schemeClr val="tx2">
                  <a:lumMod val="50000"/>
                </a:schemeClr>
              </a:solidFill>
              <a:latin typeface="+mj-lt"/>
              <a:ea typeface="+mj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E0D458-316E-C9F6-0F0C-7DE6AAFDA22C}"/>
              </a:ext>
            </a:extLst>
          </p:cNvPr>
          <p:cNvSpPr txBox="1"/>
          <p:nvPr/>
        </p:nvSpPr>
        <p:spPr>
          <a:xfrm>
            <a:off x="2003216" y="2085840"/>
            <a:ext cx="8607449" cy="1163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2000" b="1" dirty="0">
                <a:latin typeface="+mj-lt"/>
                <a:ea typeface="Meiryo UI" panose="020B0604030504040204" pitchFamily="50" charset="-128"/>
                <a:cs typeface="Segoe UI" panose="020B0502040204020203" pitchFamily="34" charset="0"/>
              </a:rPr>
              <a:t>Marketer</a:t>
            </a:r>
            <a:r>
              <a:rPr lang="ko-KR" altLang="en-US" sz="2000" b="1" dirty="0">
                <a:latin typeface="+mj-lt"/>
                <a:ea typeface="Meiryo UI" panose="020B0604030504040204" pitchFamily="50" charset="-128"/>
                <a:cs typeface="Segoe UI" panose="020B0502040204020203" pitchFamily="34" charset="0"/>
              </a:rPr>
              <a:t>의 </a:t>
            </a:r>
            <a:r>
              <a:rPr lang="ko-KR" altLang="en-US" sz="2000" b="1" u="sng" dirty="0">
                <a:latin typeface="+mj-lt"/>
                <a:ea typeface="Meiryo UI" panose="020B0604030504040204" pitchFamily="50" charset="-128"/>
                <a:cs typeface="Segoe UI" panose="020B0502040204020203" pitchFamily="34" charset="0"/>
              </a:rPr>
              <a:t>목적</a:t>
            </a:r>
            <a:r>
              <a:rPr lang="ko-KR" altLang="en-US" sz="2000" b="1" dirty="0">
                <a:latin typeface="+mj-lt"/>
                <a:ea typeface="Meiryo UI" panose="020B0604030504040204" pitchFamily="50" charset="-128"/>
                <a:cs typeface="Segoe UI" panose="020B0502040204020203" pitchFamily="34" charset="0"/>
              </a:rPr>
              <a:t>을 </a:t>
            </a:r>
            <a:r>
              <a:rPr lang="ko-KR" altLang="en-US" sz="2000" b="1" u="sng" dirty="0">
                <a:latin typeface="+mj-lt"/>
                <a:ea typeface="Meiryo UI" panose="020B0604030504040204" pitchFamily="50" charset="-128"/>
                <a:cs typeface="Segoe UI" panose="020B0502040204020203" pitchFamily="34" charset="0"/>
              </a:rPr>
              <a:t>달성</a:t>
            </a:r>
            <a:r>
              <a:rPr lang="ko-KR" altLang="en-US" sz="2000" b="1" dirty="0">
                <a:latin typeface="+mj-lt"/>
                <a:ea typeface="Meiryo UI" panose="020B0604030504040204" pitchFamily="50" charset="-128"/>
                <a:cs typeface="Segoe UI" panose="020B0502040204020203" pitchFamily="34" charset="0"/>
              </a:rPr>
              <a:t>하기 위해서</a:t>
            </a:r>
            <a:r>
              <a:rPr lang="en-US" altLang="ko-KR" sz="2000" b="1" dirty="0">
                <a:latin typeface="+mj-lt"/>
                <a:ea typeface="Meiryo UI" panose="020B0604030504040204" pitchFamily="50" charset="-128"/>
                <a:cs typeface="Segoe UI" panose="020B0502040204020203" pitchFamily="34" charset="0"/>
              </a:rPr>
              <a:t>,</a:t>
            </a:r>
          </a:p>
          <a:p>
            <a:pPr>
              <a:lnSpc>
                <a:spcPct val="120000"/>
              </a:lnSpc>
            </a:pPr>
            <a:r>
              <a:rPr lang="ko-KR" altLang="en-US" sz="2000" b="1" u="sng" dirty="0">
                <a:highlight>
                  <a:srgbClr val="FFFF00"/>
                </a:highlight>
                <a:latin typeface="+mj-lt"/>
                <a:ea typeface="Meiryo UI" panose="020B0604030504040204" pitchFamily="50" charset="-128"/>
                <a:cs typeface="Segoe UI" panose="020B0502040204020203" pitchFamily="34" charset="0"/>
              </a:rPr>
              <a:t>가치</a:t>
            </a:r>
            <a:r>
              <a:rPr lang="ko-KR" altLang="en-US" sz="2000" b="1" dirty="0">
                <a:latin typeface="+mj-lt"/>
                <a:ea typeface="Meiryo UI" panose="020B0604030504040204" pitchFamily="50" charset="-128"/>
                <a:cs typeface="Segoe UI" panose="020B0502040204020203" pitchFamily="34" charset="0"/>
              </a:rPr>
              <a:t>의 </a:t>
            </a:r>
            <a:r>
              <a:rPr lang="ko-KR" altLang="en-US" sz="2000" b="1" u="sng" dirty="0">
                <a:highlight>
                  <a:srgbClr val="FFFF00"/>
                </a:highlight>
                <a:latin typeface="+mj-lt"/>
                <a:ea typeface="Meiryo UI" panose="020B0604030504040204" pitchFamily="50" charset="-128"/>
                <a:cs typeface="Segoe UI" panose="020B0502040204020203" pitchFamily="34" charset="0"/>
              </a:rPr>
              <a:t>교환</a:t>
            </a:r>
            <a:r>
              <a:rPr lang="ko-KR" altLang="en-US" sz="2000" b="1" dirty="0">
                <a:latin typeface="+mj-lt"/>
                <a:ea typeface="Meiryo UI" panose="020B0604030504040204" pitchFamily="50" charset="-128"/>
                <a:cs typeface="Segoe UI" panose="020B0502040204020203" pitchFamily="34" charset="0"/>
              </a:rPr>
              <a:t>이 </a:t>
            </a:r>
            <a:r>
              <a:rPr lang="ko-KR" altLang="en-US" sz="2000" b="1" u="sng" dirty="0">
                <a:highlight>
                  <a:srgbClr val="FFFF00"/>
                </a:highlight>
                <a:latin typeface="+mj-lt"/>
                <a:ea typeface="Meiryo UI" panose="020B0604030504040204" pitchFamily="50" charset="-128"/>
                <a:cs typeface="Segoe UI" panose="020B0502040204020203" pitchFamily="34" charset="0"/>
              </a:rPr>
              <a:t>시장</a:t>
            </a:r>
            <a:r>
              <a:rPr lang="ko-KR" altLang="en-US" sz="2000" b="1" dirty="0">
                <a:latin typeface="+mj-lt"/>
                <a:ea typeface="Meiryo UI" panose="020B0604030504040204" pitchFamily="50" charset="-128"/>
                <a:cs typeface="Segoe UI" panose="020B0502040204020203" pitchFamily="34" charset="0"/>
              </a:rPr>
              <a:t>에서</a:t>
            </a:r>
            <a:endParaRPr lang="en-US" altLang="ko-KR" sz="2000" b="1" dirty="0">
              <a:latin typeface="+mj-lt"/>
              <a:ea typeface="Meiryo UI" panose="020B0604030504040204" pitchFamily="50" charset="-128"/>
              <a:cs typeface="Segoe UI" panose="020B0502040204020203" pitchFamily="34" charset="0"/>
            </a:endParaRPr>
          </a:p>
          <a:p>
            <a:pPr>
              <a:lnSpc>
                <a:spcPct val="120000"/>
              </a:lnSpc>
            </a:pPr>
            <a:r>
              <a:rPr lang="ko-KR" altLang="en-US" sz="2000" b="1" dirty="0">
                <a:highlight>
                  <a:srgbClr val="FFFF00"/>
                </a:highlight>
                <a:latin typeface="+mj-lt"/>
                <a:ea typeface="Meiryo UI" panose="020B0604030504040204" pitchFamily="50" charset="-128"/>
                <a:cs typeface="Segoe UI" panose="020B0502040204020203" pitchFamily="34" charset="0"/>
              </a:rPr>
              <a:t> </a:t>
            </a:r>
            <a:r>
              <a:rPr lang="ko-KR" altLang="en-US" sz="2000" b="1" u="sng" dirty="0">
                <a:highlight>
                  <a:srgbClr val="FFFF00"/>
                </a:highlight>
                <a:latin typeface="+mj-lt"/>
                <a:ea typeface="Meiryo UI" panose="020B0604030504040204" pitchFamily="50" charset="-128"/>
                <a:cs typeface="Segoe UI" panose="020B0502040204020203" pitchFamily="34" charset="0"/>
              </a:rPr>
              <a:t>계속</a:t>
            </a:r>
            <a:r>
              <a:rPr lang="ko-KR" altLang="en-US" sz="2000" b="1" dirty="0">
                <a:latin typeface="+mj-lt"/>
                <a:ea typeface="Meiryo UI" panose="020B0604030504040204" pitchFamily="50" charset="-128"/>
                <a:cs typeface="Segoe UI" panose="020B0502040204020203" pitchFamily="34" charset="0"/>
              </a:rPr>
              <a:t>되게 하는 것</a:t>
            </a:r>
            <a:r>
              <a:rPr lang="en-US" altLang="ko-KR" sz="2000" b="1" dirty="0">
                <a:latin typeface="+mj-lt"/>
                <a:ea typeface="Meiryo UI" panose="020B0604030504040204" pitchFamily="50" charset="-128"/>
                <a:cs typeface="Segoe UI" panose="020B0502040204020203" pitchFamily="34" charset="0"/>
              </a:rPr>
              <a:t>.</a:t>
            </a:r>
            <a:endParaRPr lang="en-US" altLang="ko-KR" sz="2000" b="1" spc="-150" dirty="0">
              <a:solidFill>
                <a:schemeClr val="tx2">
                  <a:lumMod val="50000"/>
                </a:schemeClr>
              </a:solidFill>
              <a:latin typeface="+mj-lt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090BE0-7CBC-6C86-5224-0C691DFA01A3}"/>
              </a:ext>
            </a:extLst>
          </p:cNvPr>
          <p:cNvSpPr txBox="1"/>
          <p:nvPr/>
        </p:nvSpPr>
        <p:spPr>
          <a:xfrm>
            <a:off x="1568907" y="1694707"/>
            <a:ext cx="5364659" cy="391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b="1" dirty="0">
                <a:latin typeface="+mj-lt"/>
                <a:ea typeface="Meiryo UI" panose="020B0604030504040204" pitchFamily="50" charset="-128"/>
                <a:cs typeface="Segoe UI" panose="020B0502040204020203" pitchFamily="34" charset="0"/>
              </a:rPr>
              <a:t>마케팅 이란</a:t>
            </a:r>
            <a:r>
              <a:rPr lang="en-US" altLang="ko-KR" b="1" dirty="0">
                <a:latin typeface="+mj-lt"/>
                <a:ea typeface="Meiryo UI" panose="020B0604030504040204" pitchFamily="50" charset="-128"/>
                <a:cs typeface="Segoe UI" panose="020B0502040204020203" pitchFamily="34" charset="0"/>
              </a:rPr>
              <a:t>? </a:t>
            </a:r>
            <a:r>
              <a:rPr lang="ko-KR" altLang="en-US" b="1" dirty="0">
                <a:latin typeface="+mj-lt"/>
                <a:ea typeface="Meiryo UI" panose="020B0604030504040204" pitchFamily="50" charset="-128"/>
                <a:cs typeface="Segoe UI" panose="020B0502040204020203" pitchFamily="34" charset="0"/>
              </a:rPr>
              <a:t>정의</a:t>
            </a:r>
            <a:r>
              <a:rPr lang="en-US" altLang="ko-KR" b="1" dirty="0">
                <a:latin typeface="+mj-lt"/>
                <a:ea typeface="Meiryo UI" panose="020B0604030504040204" pitchFamily="50" charset="-128"/>
                <a:cs typeface="Segoe UI" panose="020B0502040204020203" pitchFamily="34" charset="0"/>
              </a:rPr>
              <a:t>!</a:t>
            </a:r>
            <a:endParaRPr lang="en-US" altLang="ko-KR" b="1" spc="-150" dirty="0">
              <a:solidFill>
                <a:schemeClr val="tx2">
                  <a:lumMod val="50000"/>
                </a:schemeClr>
              </a:solidFill>
              <a:latin typeface="+mj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415752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53"/>
    </mc:Choice>
    <mc:Fallback xmlns="">
      <p:transition spd="slow" advTm="1253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/>
          <p:cNvSpPr/>
          <p:nvPr/>
        </p:nvSpPr>
        <p:spPr>
          <a:xfrm>
            <a:off x="0" y="-45875"/>
            <a:ext cx="12192000" cy="82296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440072" y="370442"/>
            <a:ext cx="10230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</a:rPr>
              <a:t>04. </a:t>
            </a:r>
            <a:r>
              <a:rPr lang="en-US" altLang="ja-JP" sz="1400" dirty="0">
                <a:solidFill>
                  <a:srgbClr val="FEFFFF"/>
                </a:solidFill>
                <a:latin typeface="+mj-lt"/>
                <a:ea typeface="+mj-ea"/>
              </a:rPr>
              <a:t> </a:t>
            </a:r>
            <a:r>
              <a:rPr lang="ko-KR" altLang="en-US" sz="1400" dirty="0">
                <a:solidFill>
                  <a:srgbClr val="FEFFFF"/>
                </a:solidFill>
                <a:latin typeface="+mj-lt"/>
                <a:ea typeface="+mj-ea"/>
              </a:rPr>
              <a:t>제</a:t>
            </a:r>
            <a:r>
              <a:rPr lang="en-US" altLang="ko-KR" sz="1400" dirty="0">
                <a:solidFill>
                  <a:srgbClr val="FEFFFF"/>
                </a:solidFill>
                <a:latin typeface="+mj-lt"/>
                <a:ea typeface="+mj-ea"/>
              </a:rPr>
              <a:t>1</a:t>
            </a:r>
            <a:r>
              <a:rPr lang="ko-KR" altLang="en-US" sz="1400" dirty="0">
                <a:solidFill>
                  <a:srgbClr val="FEFFFF"/>
                </a:solidFill>
                <a:latin typeface="+mj-lt"/>
                <a:ea typeface="+mj-ea"/>
              </a:rPr>
              <a:t>강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272" b="39044"/>
          <a:stretch/>
        </p:blipFill>
        <p:spPr>
          <a:xfrm>
            <a:off x="10823170" y="303768"/>
            <a:ext cx="1035682" cy="31781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EC23A0C-9398-4F54-945D-D9B437BE7C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78334" y="292234"/>
            <a:ext cx="1191208" cy="362745"/>
          </a:xfrm>
          <a:prstGeom prst="rect">
            <a:avLst/>
          </a:prstGeom>
        </p:spPr>
      </p:pic>
      <p:sp>
        <p:nvSpPr>
          <p:cNvPr id="7" name="Text Box 10">
            <a:extLst>
              <a:ext uri="{FF2B5EF4-FFF2-40B4-BE49-F238E27FC236}">
                <a16:creationId xmlns:a16="http://schemas.microsoft.com/office/drawing/2014/main" id="{2859D9E6-B22D-D34A-0BF9-67C0678B60C6}"/>
              </a:ext>
            </a:extLst>
          </p:cNvPr>
          <p:cNvSpPr txBox="1">
            <a:spLocks noChangeArrowheads="1"/>
          </p:cNvSpPr>
          <p:nvPr/>
        </p:nvSpPr>
        <p:spPr>
          <a:xfrm>
            <a:off x="1090443" y="993088"/>
            <a:ext cx="8466845" cy="523220"/>
          </a:xfrm>
          <a:prstGeom prst="rect">
            <a:avLst/>
          </a:prstGeom>
          <a:noFill/>
          <a:ln w="9525" algn="ctr">
            <a:noFill/>
            <a:miter/>
          </a:ln>
        </p:spPr>
        <p:txBody>
          <a:bodyPr wrap="square">
            <a:spAutoFit/>
          </a:bodyPr>
          <a:lstStyle/>
          <a:p>
            <a:pPr lvl="0" algn="ctr">
              <a:defRPr lang="ko-KR" altLang="en-US"/>
            </a:pPr>
            <a:r>
              <a:rPr lang="en-US" altLang="ko-KR" sz="2800" b="1" dirty="0">
                <a:latin typeface="+mj-ea"/>
                <a:ea typeface="+mj-ea"/>
              </a:rPr>
              <a:t>    1. </a:t>
            </a:r>
            <a:r>
              <a:rPr lang="ko-KR" altLang="en-US" sz="2800" b="1" dirty="0">
                <a:latin typeface="+mj-ea"/>
                <a:ea typeface="+mj-ea"/>
              </a:rPr>
              <a:t>마케팅전략의 구성 마케팅에 대한 </a:t>
            </a:r>
            <a:r>
              <a:rPr lang="en-US" altLang="ko-KR" sz="2800" b="1" dirty="0">
                <a:latin typeface="+mj-ea"/>
                <a:ea typeface="+mj-ea"/>
              </a:rPr>
              <a:t>3</a:t>
            </a:r>
            <a:r>
              <a:rPr lang="ko-KR" altLang="en-US" sz="2800" b="1" dirty="0">
                <a:latin typeface="+mj-ea"/>
                <a:ea typeface="+mj-ea"/>
              </a:rPr>
              <a:t>가지 오해 </a:t>
            </a:r>
          </a:p>
        </p:txBody>
      </p:sp>
      <p:sp>
        <p:nvSpPr>
          <p:cNvPr id="8" name="Rectangle 50">
            <a:extLst>
              <a:ext uri="{FF2B5EF4-FFF2-40B4-BE49-F238E27FC236}">
                <a16:creationId xmlns:a16="http://schemas.microsoft.com/office/drawing/2014/main" id="{5FAB789A-D18D-24D7-7021-BDF82A8F3E21}"/>
              </a:ext>
            </a:extLst>
          </p:cNvPr>
          <p:cNvSpPr>
            <a:spLocks noChangeArrowheads="1"/>
          </p:cNvSpPr>
          <p:nvPr/>
        </p:nvSpPr>
        <p:spPr>
          <a:xfrm>
            <a:off x="1090443" y="1677289"/>
            <a:ext cx="2653613" cy="10302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  <a:miter/>
          </a:ln>
        </p:spPr>
        <p:txBody>
          <a:bodyPr wrap="none" anchor="ctr"/>
          <a:lstStyle/>
          <a:p>
            <a:pPr algn="ctr" defTabSz="844083" latinLnBrk="0">
              <a:defRPr lang="ko-KR" altLang="en-US"/>
            </a:pPr>
            <a:r>
              <a:rPr lang="ko-KR" altLang="en-US" sz="3200" b="1" spc="5" dirty="0">
                <a:latin typeface="+mj-ea"/>
                <a:ea typeface="+mj-ea"/>
              </a:rPr>
              <a:t>경영이념</a:t>
            </a:r>
          </a:p>
          <a:p>
            <a:pPr algn="ctr" defTabSz="844083" latinLnBrk="0">
              <a:defRPr lang="ko-KR" altLang="en-US"/>
            </a:pPr>
            <a:r>
              <a:rPr lang="en-US" altLang="ko-KR" sz="3200" b="1" spc="5" dirty="0">
                <a:latin typeface="+mj-ea"/>
                <a:ea typeface="+mj-ea"/>
              </a:rPr>
              <a:t>(Mission)</a:t>
            </a:r>
            <a:endParaRPr lang="ko-KR" altLang="en-US" sz="3200" b="1" spc="5" dirty="0">
              <a:latin typeface="+mj-ea"/>
              <a:ea typeface="+mj-ea"/>
            </a:endParaRPr>
          </a:p>
        </p:txBody>
      </p:sp>
      <p:sp>
        <p:nvSpPr>
          <p:cNvPr id="11" name="Rectangle 51">
            <a:extLst>
              <a:ext uri="{FF2B5EF4-FFF2-40B4-BE49-F238E27FC236}">
                <a16:creationId xmlns:a16="http://schemas.microsoft.com/office/drawing/2014/main" id="{F8E55DB8-631A-6D29-DCE1-230E783A0A4C}"/>
              </a:ext>
            </a:extLst>
          </p:cNvPr>
          <p:cNvSpPr>
            <a:spLocks noChangeArrowheads="1"/>
          </p:cNvSpPr>
          <p:nvPr/>
        </p:nvSpPr>
        <p:spPr>
          <a:xfrm>
            <a:off x="1090443" y="2809014"/>
            <a:ext cx="2653613" cy="73495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noFill/>
            <a:miter/>
          </a:ln>
        </p:spPr>
        <p:txBody>
          <a:bodyPr wrap="none" anchor="ctr"/>
          <a:lstStyle/>
          <a:p>
            <a:pPr algn="ctr" defTabSz="844083" latinLnBrk="0">
              <a:defRPr lang="ko-KR" altLang="en-US"/>
            </a:pPr>
            <a:r>
              <a:rPr lang="en-US" altLang="ko-KR" sz="3200" b="1" spc="5" dirty="0">
                <a:latin typeface="+mj-ea"/>
                <a:ea typeface="+mj-ea"/>
              </a:rPr>
              <a:t>Vision</a:t>
            </a:r>
            <a:endParaRPr lang="ko-KR" altLang="en-US" sz="3200" b="1" spc="5" dirty="0">
              <a:latin typeface="+mj-ea"/>
              <a:ea typeface="+mj-ea"/>
              <a:cs typeface="맑은 고딕"/>
            </a:endParaRPr>
          </a:p>
        </p:txBody>
      </p:sp>
      <p:sp>
        <p:nvSpPr>
          <p:cNvPr id="12" name="Rectangle 50">
            <a:extLst>
              <a:ext uri="{FF2B5EF4-FFF2-40B4-BE49-F238E27FC236}">
                <a16:creationId xmlns:a16="http://schemas.microsoft.com/office/drawing/2014/main" id="{E67CCCAE-A80B-A3B7-3F45-1C7F30A6A0C6}"/>
              </a:ext>
            </a:extLst>
          </p:cNvPr>
          <p:cNvSpPr>
            <a:spLocks noChangeArrowheads="1"/>
          </p:cNvSpPr>
          <p:nvPr/>
        </p:nvSpPr>
        <p:spPr>
          <a:xfrm>
            <a:off x="1087928" y="3642344"/>
            <a:ext cx="2625628" cy="117115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miter/>
          </a:ln>
        </p:spPr>
        <p:txBody>
          <a:bodyPr wrap="none" anchor="ctr"/>
          <a:lstStyle/>
          <a:p>
            <a:pPr algn="ctr" defTabSz="844083" latinLnBrk="0">
              <a:defRPr lang="ko-KR" altLang="en-US"/>
            </a:pPr>
            <a:r>
              <a:rPr lang="ko-KR" altLang="en-US" sz="2400" b="1" spc="5" dirty="0">
                <a:solidFill>
                  <a:srgbClr val="000000"/>
                </a:solidFill>
                <a:latin typeface="+mj-ea"/>
                <a:ea typeface="+mj-ea"/>
              </a:rPr>
              <a:t>경영방침</a:t>
            </a:r>
          </a:p>
          <a:p>
            <a:pPr algn="ctr" defTabSz="844083" latinLnBrk="0">
              <a:defRPr lang="ko-KR" altLang="en-US"/>
            </a:pPr>
            <a:r>
              <a:rPr lang="en-US" altLang="ko-KR" sz="2400" b="1" spc="5" dirty="0">
                <a:solidFill>
                  <a:srgbClr val="000000"/>
                </a:solidFill>
                <a:latin typeface="+mj-ea"/>
                <a:ea typeface="+mj-ea"/>
              </a:rPr>
              <a:t>(</a:t>
            </a:r>
            <a:r>
              <a:rPr lang="ko-KR" altLang="en-US" sz="2400" b="1" spc="5" dirty="0">
                <a:solidFill>
                  <a:srgbClr val="000000"/>
                </a:solidFill>
                <a:latin typeface="+mj-ea"/>
                <a:ea typeface="+mj-ea"/>
              </a:rPr>
              <a:t>경영전략</a:t>
            </a:r>
            <a:r>
              <a:rPr lang="en-US" altLang="ko-KR" sz="2400" b="1" spc="5" dirty="0">
                <a:solidFill>
                  <a:srgbClr val="000000"/>
                </a:solidFill>
                <a:latin typeface="+mj-ea"/>
                <a:ea typeface="+mj-ea"/>
              </a:rPr>
              <a:t>)</a:t>
            </a:r>
          </a:p>
          <a:p>
            <a:pPr algn="ctr" defTabSz="844083" latinLnBrk="0">
              <a:defRPr lang="ko-KR" altLang="en-US"/>
            </a:pPr>
            <a:r>
              <a:rPr lang="en-US" altLang="ko-KR" sz="3200" b="1" spc="5" dirty="0">
                <a:solidFill>
                  <a:srgbClr val="000000"/>
                </a:solidFill>
                <a:latin typeface="+mj-ea"/>
                <a:ea typeface="+mj-ea"/>
              </a:rPr>
              <a:t>STP</a:t>
            </a:r>
            <a:endParaRPr lang="ko-KR" altLang="en-US" sz="3200" b="1" spc="5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13" name="Rectangle 51">
            <a:extLst>
              <a:ext uri="{FF2B5EF4-FFF2-40B4-BE49-F238E27FC236}">
                <a16:creationId xmlns:a16="http://schemas.microsoft.com/office/drawing/2014/main" id="{2D49FB2C-3F64-D97F-97C4-8D820DB0439D}"/>
              </a:ext>
            </a:extLst>
          </p:cNvPr>
          <p:cNvSpPr>
            <a:spLocks noChangeArrowheads="1"/>
          </p:cNvSpPr>
          <p:nvPr/>
        </p:nvSpPr>
        <p:spPr>
          <a:xfrm>
            <a:off x="1087928" y="4912368"/>
            <a:ext cx="2653613" cy="13145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/>
            </a:solidFill>
            <a:miter/>
          </a:ln>
        </p:spPr>
        <p:txBody>
          <a:bodyPr wrap="none" anchor="ctr"/>
          <a:lstStyle/>
          <a:p>
            <a:pPr algn="ctr" defTabSz="844083" latinLnBrk="0">
              <a:defRPr lang="ko-KR" altLang="en-US"/>
            </a:pPr>
            <a:r>
              <a:rPr lang="ko-KR" altLang="en-US" sz="2400" b="1" spc="5" dirty="0">
                <a:solidFill>
                  <a:srgbClr val="0000B8"/>
                </a:solidFill>
                <a:latin typeface="+mj-ea"/>
                <a:ea typeface="+mj-ea"/>
              </a:rPr>
              <a:t>가치제안</a:t>
            </a:r>
            <a:endParaRPr lang="en-US" altLang="ko-KR" sz="2400" b="1" spc="5" dirty="0">
              <a:solidFill>
                <a:srgbClr val="0000B8"/>
              </a:solidFill>
              <a:latin typeface="+mj-ea"/>
              <a:ea typeface="+mj-ea"/>
            </a:endParaRPr>
          </a:p>
          <a:p>
            <a:pPr algn="ctr" defTabSz="844083" latinLnBrk="0">
              <a:defRPr lang="ko-KR" altLang="en-US"/>
            </a:pPr>
            <a:r>
              <a:rPr lang="en-US" altLang="ko-KR" sz="2400" b="1" spc="5" dirty="0">
                <a:solidFill>
                  <a:srgbClr val="0000B8"/>
                </a:solidFill>
                <a:latin typeface="+mj-ea"/>
                <a:ea typeface="+mj-ea"/>
              </a:rPr>
              <a:t>(</a:t>
            </a:r>
            <a:r>
              <a:rPr lang="ko-KR" altLang="en-US" sz="2400" b="1" spc="5" dirty="0">
                <a:solidFill>
                  <a:srgbClr val="0000B8"/>
                </a:solidFill>
                <a:latin typeface="+mj-ea"/>
                <a:ea typeface="+mj-ea"/>
              </a:rPr>
              <a:t>경영전술</a:t>
            </a:r>
            <a:r>
              <a:rPr lang="en-US" altLang="ko-KR" sz="2400" b="1" spc="5" dirty="0">
                <a:solidFill>
                  <a:srgbClr val="0000B8"/>
                </a:solidFill>
                <a:latin typeface="+mj-ea"/>
                <a:ea typeface="+mj-ea"/>
              </a:rPr>
              <a:t>)</a:t>
            </a:r>
          </a:p>
          <a:p>
            <a:pPr algn="ctr" defTabSz="844083" latinLnBrk="0">
              <a:defRPr lang="ko-KR" altLang="en-US"/>
            </a:pPr>
            <a:r>
              <a:rPr lang="en-US" altLang="ko-KR" sz="3200" b="1" spc="5" dirty="0">
                <a:solidFill>
                  <a:srgbClr val="0000B8"/>
                </a:solidFill>
                <a:latin typeface="+mj-ea"/>
                <a:ea typeface="+mj-ea"/>
              </a:rPr>
              <a:t>4P</a:t>
            </a:r>
            <a:endParaRPr lang="ko-KR" altLang="en-US" sz="3200" b="1" spc="5" dirty="0">
              <a:solidFill>
                <a:srgbClr val="0000B8"/>
              </a:solidFill>
              <a:latin typeface="+mj-ea"/>
              <a:ea typeface="+mj-ea"/>
            </a:endParaRPr>
          </a:p>
        </p:txBody>
      </p:sp>
      <p:sp>
        <p:nvSpPr>
          <p:cNvPr id="17" name="Rectangle 19">
            <a:extLst>
              <a:ext uri="{FF2B5EF4-FFF2-40B4-BE49-F238E27FC236}">
                <a16:creationId xmlns:a16="http://schemas.microsoft.com/office/drawing/2014/main" id="{80D7E4F6-8FD5-97FA-8D5E-BA4242ACB9F2}"/>
              </a:ext>
            </a:extLst>
          </p:cNvPr>
          <p:cNvSpPr>
            <a:spLocks noChangeArrowheads="1"/>
          </p:cNvSpPr>
          <p:nvPr/>
        </p:nvSpPr>
        <p:spPr>
          <a:xfrm>
            <a:off x="4552806" y="3606403"/>
            <a:ext cx="1728191" cy="1125487"/>
          </a:xfrm>
          <a:prstGeom prst="rect">
            <a:avLst/>
          </a:prstGeom>
          <a:solidFill>
            <a:schemeClr val="bg1"/>
          </a:solidFill>
          <a:ln w="9525">
            <a:noFill/>
            <a:miter/>
          </a:ln>
        </p:spPr>
        <p:txBody>
          <a:bodyPr wrap="none" anchor="ctr"/>
          <a:lstStyle/>
          <a:p>
            <a:pPr algn="ctr" defTabSz="844083" latinLnBrk="0">
              <a:defRPr lang="ko-KR" altLang="en-US"/>
            </a:pPr>
            <a:r>
              <a:rPr lang="ko-KR" altLang="en-US" b="1" spc="5" dirty="0">
                <a:solidFill>
                  <a:srgbClr val="000000"/>
                </a:solidFill>
                <a:latin typeface="+mj-ea"/>
                <a:ea typeface="+mj-ea"/>
              </a:rPr>
              <a:t>시장 세분화</a:t>
            </a:r>
          </a:p>
          <a:p>
            <a:pPr algn="ctr" defTabSz="844083" latinLnBrk="0">
              <a:defRPr lang="ko-KR" altLang="en-US"/>
            </a:pPr>
            <a:r>
              <a:rPr lang="en-US" altLang="ko-KR" sz="1600" b="1" spc="5" dirty="0">
                <a:solidFill>
                  <a:srgbClr val="000000"/>
                </a:solidFill>
                <a:latin typeface="+mj-ea"/>
                <a:ea typeface="+mj-ea"/>
              </a:rPr>
              <a:t>(segmentation)</a:t>
            </a:r>
            <a:endParaRPr lang="ko-KR" altLang="en-US" sz="1600" b="1" spc="5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18" name="Rectangle 20">
            <a:extLst>
              <a:ext uri="{FF2B5EF4-FFF2-40B4-BE49-F238E27FC236}">
                <a16:creationId xmlns:a16="http://schemas.microsoft.com/office/drawing/2014/main" id="{F8F91B47-85DF-8751-BFA8-B6EE3EDDD5E0}"/>
              </a:ext>
            </a:extLst>
          </p:cNvPr>
          <p:cNvSpPr>
            <a:spLocks noChangeArrowheads="1"/>
          </p:cNvSpPr>
          <p:nvPr/>
        </p:nvSpPr>
        <p:spPr>
          <a:xfrm>
            <a:off x="6279018" y="3629504"/>
            <a:ext cx="1637839" cy="1056496"/>
          </a:xfrm>
          <a:prstGeom prst="rect">
            <a:avLst/>
          </a:prstGeom>
          <a:solidFill>
            <a:schemeClr val="bg1"/>
          </a:solidFill>
          <a:ln w="9525">
            <a:noFill/>
            <a:miter/>
          </a:ln>
        </p:spPr>
        <p:txBody>
          <a:bodyPr wrap="none" anchor="ctr"/>
          <a:lstStyle/>
          <a:p>
            <a:pPr algn="ctr" defTabSz="844083" latinLnBrk="0">
              <a:defRPr lang="ko-KR" altLang="en-US"/>
            </a:pPr>
            <a:r>
              <a:rPr lang="ko-KR" altLang="en-US" sz="1600" b="1" spc="5" dirty="0">
                <a:solidFill>
                  <a:srgbClr val="000000"/>
                </a:solidFill>
                <a:latin typeface="+mj-ea"/>
                <a:ea typeface="+mj-ea"/>
              </a:rPr>
              <a:t>대상 설정</a:t>
            </a:r>
          </a:p>
          <a:p>
            <a:pPr algn="ctr" defTabSz="844083" latinLnBrk="0">
              <a:defRPr lang="ko-KR" altLang="en-US"/>
            </a:pPr>
            <a:r>
              <a:rPr lang="en-US" altLang="ko-KR" sz="1400" b="1" spc="5" dirty="0">
                <a:solidFill>
                  <a:srgbClr val="000000"/>
                </a:solidFill>
                <a:latin typeface="+mj-ea"/>
                <a:ea typeface="+mj-ea"/>
              </a:rPr>
              <a:t>(Targeting)</a:t>
            </a:r>
            <a:endParaRPr lang="ko-KR" altLang="en-US" sz="1400" b="1" spc="5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19" name="Rectangle 21">
            <a:extLst>
              <a:ext uri="{FF2B5EF4-FFF2-40B4-BE49-F238E27FC236}">
                <a16:creationId xmlns:a16="http://schemas.microsoft.com/office/drawing/2014/main" id="{90E008E4-9C70-28F3-4EF3-62E221DBC623}"/>
              </a:ext>
            </a:extLst>
          </p:cNvPr>
          <p:cNvSpPr>
            <a:spLocks noChangeArrowheads="1"/>
          </p:cNvSpPr>
          <p:nvPr/>
        </p:nvSpPr>
        <p:spPr>
          <a:xfrm>
            <a:off x="8056255" y="3735205"/>
            <a:ext cx="1262911" cy="83335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/>
          </a:ln>
        </p:spPr>
        <p:txBody>
          <a:bodyPr wrap="none" anchor="ctr"/>
          <a:lstStyle/>
          <a:p>
            <a:pPr algn="ctr" defTabSz="844083" latinLnBrk="0">
              <a:defRPr lang="ko-KR" altLang="en-US"/>
            </a:pPr>
            <a:r>
              <a:rPr lang="ko-KR" altLang="en-US" sz="1600" b="1" spc="5" dirty="0">
                <a:solidFill>
                  <a:srgbClr val="002060"/>
                </a:solidFill>
                <a:latin typeface="+mj-ea"/>
                <a:ea typeface="+mj-ea"/>
              </a:rPr>
              <a:t>고객과의 약속</a:t>
            </a:r>
          </a:p>
          <a:p>
            <a:pPr algn="ctr" defTabSz="844083" latinLnBrk="0">
              <a:defRPr lang="ko-KR" altLang="en-US"/>
            </a:pPr>
            <a:r>
              <a:rPr lang="en-US" altLang="ko-KR" sz="1400" b="1" spc="5" dirty="0">
                <a:solidFill>
                  <a:srgbClr val="002060"/>
                </a:solidFill>
                <a:latin typeface="+mj-ea"/>
                <a:ea typeface="+mj-ea"/>
              </a:rPr>
              <a:t>(Positioning)</a:t>
            </a:r>
            <a:endParaRPr lang="ko-KR" altLang="en-US" sz="1400" b="1" spc="5" dirty="0">
              <a:solidFill>
                <a:srgbClr val="002060"/>
              </a:solidFill>
              <a:latin typeface="+mj-ea"/>
              <a:ea typeface="+mj-ea"/>
            </a:endParaRPr>
          </a:p>
        </p:txBody>
      </p:sp>
      <p:sp>
        <p:nvSpPr>
          <p:cNvPr id="20" name="Rectangle 22">
            <a:extLst>
              <a:ext uri="{FF2B5EF4-FFF2-40B4-BE49-F238E27FC236}">
                <a16:creationId xmlns:a16="http://schemas.microsoft.com/office/drawing/2014/main" id="{E97832A7-FE54-7C05-7905-4118FBD46994}"/>
              </a:ext>
            </a:extLst>
          </p:cNvPr>
          <p:cNvSpPr>
            <a:spLocks noChangeArrowheads="1"/>
          </p:cNvSpPr>
          <p:nvPr/>
        </p:nvSpPr>
        <p:spPr>
          <a:xfrm>
            <a:off x="4089006" y="2985187"/>
            <a:ext cx="5834144" cy="602164"/>
          </a:xfrm>
          <a:prstGeom prst="rect">
            <a:avLst/>
          </a:prstGeom>
          <a:solidFill>
            <a:schemeClr val="bg1"/>
          </a:solidFill>
          <a:ln w="9525">
            <a:noFill/>
            <a:miter/>
          </a:ln>
        </p:spPr>
        <p:txBody>
          <a:bodyPr wrap="none" anchor="ctr"/>
          <a:lstStyle/>
          <a:p>
            <a:pPr algn="ctr" defTabSz="844083" latinLnBrk="0">
              <a:defRPr lang="ko-KR" altLang="en-US"/>
            </a:pPr>
            <a:r>
              <a:rPr lang="ko-KR" altLang="en-US" sz="2400" b="1" spc="5" dirty="0">
                <a:latin typeface="+mj-ea"/>
                <a:ea typeface="+mj-ea"/>
              </a:rPr>
              <a:t>기업의 목표설정 </a:t>
            </a:r>
            <a:r>
              <a:rPr lang="en-US" altLang="ko-KR" sz="2400" b="1" spc="5" dirty="0">
                <a:latin typeface="+mj-ea"/>
                <a:ea typeface="+mj-ea"/>
              </a:rPr>
              <a:t>(</a:t>
            </a:r>
            <a:r>
              <a:rPr lang="ko-KR" altLang="en-US" sz="2400" b="1" spc="5" dirty="0">
                <a:latin typeface="+mj-ea"/>
                <a:ea typeface="+mj-ea"/>
              </a:rPr>
              <a:t>경영이념</a:t>
            </a:r>
            <a:r>
              <a:rPr lang="en-US" altLang="ko-KR" sz="2400" b="1" spc="5" dirty="0">
                <a:latin typeface="+mj-ea"/>
                <a:ea typeface="+mj-ea"/>
              </a:rPr>
              <a:t>, </a:t>
            </a:r>
            <a:r>
              <a:rPr lang="ko-KR" altLang="en-US" sz="2400" b="1" spc="5" dirty="0">
                <a:latin typeface="+mj-ea"/>
                <a:ea typeface="+mj-ea"/>
              </a:rPr>
              <a:t>비젼</a:t>
            </a:r>
            <a:r>
              <a:rPr lang="en-US" altLang="ko-KR" sz="2400" b="1" spc="5" dirty="0">
                <a:latin typeface="+mj-ea"/>
                <a:ea typeface="+mj-ea"/>
              </a:rPr>
              <a:t>,</a:t>
            </a:r>
            <a:r>
              <a:rPr lang="ko-KR" altLang="en-US" sz="2400" b="1" spc="5" dirty="0">
                <a:latin typeface="+mj-ea"/>
                <a:ea typeface="+mj-ea"/>
              </a:rPr>
              <a:t>목표</a:t>
            </a:r>
            <a:r>
              <a:rPr lang="en-US" altLang="ko-KR" sz="2400" b="1" spc="5" dirty="0">
                <a:latin typeface="+mj-ea"/>
                <a:ea typeface="+mj-ea"/>
              </a:rPr>
              <a:t>)</a:t>
            </a:r>
            <a:r>
              <a:rPr lang="ko-KR" altLang="en-US" sz="2400" b="1" spc="5" dirty="0">
                <a:latin typeface="+mj-ea"/>
                <a:ea typeface="+mj-ea"/>
              </a:rPr>
              <a:t> </a:t>
            </a:r>
          </a:p>
        </p:txBody>
      </p:sp>
      <p:sp>
        <p:nvSpPr>
          <p:cNvPr id="21" name="Rectangle 24">
            <a:extLst>
              <a:ext uri="{FF2B5EF4-FFF2-40B4-BE49-F238E27FC236}">
                <a16:creationId xmlns:a16="http://schemas.microsoft.com/office/drawing/2014/main" id="{1E3BEBB3-159E-21C7-2DA2-EFB2BB54004C}"/>
              </a:ext>
            </a:extLst>
          </p:cNvPr>
          <p:cNvSpPr>
            <a:spLocks noChangeArrowheads="1"/>
          </p:cNvSpPr>
          <p:nvPr/>
        </p:nvSpPr>
        <p:spPr>
          <a:xfrm>
            <a:off x="4451162" y="4931988"/>
            <a:ext cx="1329377" cy="88558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noFill/>
            <a:miter/>
          </a:ln>
        </p:spPr>
        <p:txBody>
          <a:bodyPr wrap="none" anchor="ctr"/>
          <a:lstStyle/>
          <a:p>
            <a:pPr algn="ctr" defTabSz="844083" latinLnBrk="0">
              <a:defRPr lang="ko-KR" altLang="en-US"/>
            </a:pPr>
            <a:r>
              <a:rPr lang="ko-KR" altLang="en-US" sz="1400" b="1" spc="5" dirty="0">
                <a:solidFill>
                  <a:srgbClr val="000000"/>
                </a:solidFill>
                <a:latin typeface="+mj-ea"/>
                <a:ea typeface="+mj-ea"/>
              </a:rPr>
              <a:t>제품</a:t>
            </a:r>
          </a:p>
          <a:p>
            <a:pPr algn="ctr" defTabSz="844083" latinLnBrk="0">
              <a:defRPr lang="ko-KR" altLang="en-US"/>
            </a:pPr>
            <a:r>
              <a:rPr lang="en-US" altLang="ko-KR" sz="1400" b="1" spc="5" dirty="0">
                <a:solidFill>
                  <a:srgbClr val="000000"/>
                </a:solidFill>
                <a:latin typeface="+mj-ea"/>
                <a:ea typeface="+mj-ea"/>
              </a:rPr>
              <a:t>(Product)</a:t>
            </a:r>
            <a:endParaRPr lang="ko-KR" altLang="en-US" sz="1400" b="1" spc="5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22" name="Rectangle 24">
            <a:extLst>
              <a:ext uri="{FF2B5EF4-FFF2-40B4-BE49-F238E27FC236}">
                <a16:creationId xmlns:a16="http://schemas.microsoft.com/office/drawing/2014/main" id="{15C95B89-E917-4BC4-60B2-FFDAD5886E10}"/>
              </a:ext>
            </a:extLst>
          </p:cNvPr>
          <p:cNvSpPr>
            <a:spLocks noChangeArrowheads="1"/>
          </p:cNvSpPr>
          <p:nvPr/>
        </p:nvSpPr>
        <p:spPr>
          <a:xfrm>
            <a:off x="5863075" y="4946960"/>
            <a:ext cx="1329378" cy="88990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noFill/>
            <a:miter/>
          </a:ln>
        </p:spPr>
        <p:txBody>
          <a:bodyPr wrap="none" anchor="ctr"/>
          <a:lstStyle/>
          <a:p>
            <a:pPr algn="ctr" defTabSz="844083" latinLnBrk="0">
              <a:defRPr lang="ko-KR" altLang="en-US"/>
            </a:pPr>
            <a:r>
              <a:rPr lang="ko-KR" altLang="en-US" sz="1400" b="1" spc="5" dirty="0">
                <a:solidFill>
                  <a:srgbClr val="000000"/>
                </a:solidFill>
                <a:latin typeface="+mj-ea"/>
                <a:ea typeface="+mj-ea"/>
              </a:rPr>
              <a:t>가격</a:t>
            </a:r>
          </a:p>
          <a:p>
            <a:pPr algn="ctr" defTabSz="844083" latinLnBrk="0">
              <a:defRPr lang="ko-KR" altLang="en-US"/>
            </a:pPr>
            <a:r>
              <a:rPr lang="en-US" altLang="ko-KR" sz="1400" b="1" spc="5" dirty="0">
                <a:solidFill>
                  <a:srgbClr val="000000"/>
                </a:solidFill>
                <a:latin typeface="+mj-ea"/>
                <a:ea typeface="+mj-ea"/>
              </a:rPr>
              <a:t>(Price)</a:t>
            </a:r>
            <a:endParaRPr lang="ko-KR" altLang="en-US" sz="1400" b="1" spc="5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23" name="Rectangle 24">
            <a:extLst>
              <a:ext uri="{FF2B5EF4-FFF2-40B4-BE49-F238E27FC236}">
                <a16:creationId xmlns:a16="http://schemas.microsoft.com/office/drawing/2014/main" id="{78AF4C89-ADB9-81AF-7AC1-CA2EBC263F73}"/>
              </a:ext>
            </a:extLst>
          </p:cNvPr>
          <p:cNvSpPr>
            <a:spLocks noChangeArrowheads="1"/>
          </p:cNvSpPr>
          <p:nvPr/>
        </p:nvSpPr>
        <p:spPr>
          <a:xfrm>
            <a:off x="7229944" y="4945817"/>
            <a:ext cx="1329378" cy="88558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noFill/>
            <a:miter/>
          </a:ln>
        </p:spPr>
        <p:txBody>
          <a:bodyPr wrap="none" anchor="ctr"/>
          <a:lstStyle/>
          <a:p>
            <a:pPr algn="ctr" defTabSz="844083" latinLnBrk="0">
              <a:defRPr lang="ko-KR" altLang="en-US"/>
            </a:pPr>
            <a:r>
              <a:rPr lang="ko-KR" altLang="en-US" sz="1400" b="1" spc="5" dirty="0">
                <a:solidFill>
                  <a:srgbClr val="000000"/>
                </a:solidFill>
                <a:latin typeface="+mj-ea"/>
                <a:ea typeface="+mj-ea"/>
              </a:rPr>
              <a:t>장소</a:t>
            </a:r>
            <a:r>
              <a:rPr lang="en-US" altLang="ko-KR" sz="1400" b="1" spc="5" dirty="0">
                <a:solidFill>
                  <a:srgbClr val="000000"/>
                </a:solidFill>
                <a:latin typeface="+mj-ea"/>
                <a:ea typeface="+mj-ea"/>
              </a:rPr>
              <a:t>/</a:t>
            </a:r>
            <a:r>
              <a:rPr lang="ko-KR" altLang="en-US" sz="1400" b="1" spc="5" dirty="0">
                <a:solidFill>
                  <a:srgbClr val="000000"/>
                </a:solidFill>
                <a:latin typeface="+mj-ea"/>
                <a:ea typeface="+mj-ea"/>
              </a:rPr>
              <a:t>유통</a:t>
            </a:r>
          </a:p>
          <a:p>
            <a:pPr algn="ctr" defTabSz="844083" latinLnBrk="0">
              <a:defRPr lang="ko-KR" altLang="en-US"/>
            </a:pPr>
            <a:r>
              <a:rPr lang="en-US" altLang="ko-KR" sz="1400" b="1" spc="5" dirty="0">
                <a:solidFill>
                  <a:srgbClr val="000000"/>
                </a:solidFill>
                <a:latin typeface="+mj-ea"/>
                <a:ea typeface="+mj-ea"/>
              </a:rPr>
              <a:t>(Place)</a:t>
            </a:r>
            <a:endParaRPr lang="ko-KR" altLang="en-US" sz="1400" b="1" spc="5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24" name="Rectangle 24">
            <a:extLst>
              <a:ext uri="{FF2B5EF4-FFF2-40B4-BE49-F238E27FC236}">
                <a16:creationId xmlns:a16="http://schemas.microsoft.com/office/drawing/2014/main" id="{00CB4FB5-D73B-E356-27C2-B83FFFDC136A}"/>
              </a:ext>
            </a:extLst>
          </p:cNvPr>
          <p:cNvSpPr>
            <a:spLocks noChangeArrowheads="1"/>
          </p:cNvSpPr>
          <p:nvPr/>
        </p:nvSpPr>
        <p:spPr>
          <a:xfrm>
            <a:off x="8604369" y="4938137"/>
            <a:ext cx="1262911" cy="88558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noFill/>
            <a:miter/>
          </a:ln>
        </p:spPr>
        <p:txBody>
          <a:bodyPr wrap="none" anchor="ctr"/>
          <a:lstStyle/>
          <a:p>
            <a:pPr algn="ctr" defTabSz="844083" latinLnBrk="0">
              <a:defRPr lang="ko-KR" altLang="en-US"/>
            </a:pPr>
            <a:r>
              <a:rPr lang="ko-KR" altLang="en-US" sz="1100" b="1" spc="5" dirty="0">
                <a:solidFill>
                  <a:srgbClr val="000000"/>
                </a:solidFill>
                <a:latin typeface="+mj-ea"/>
                <a:ea typeface="+mj-ea"/>
              </a:rPr>
              <a:t>홍보</a:t>
            </a:r>
            <a:endParaRPr lang="en-US" altLang="ko-KR" sz="1100" b="1" spc="5" dirty="0">
              <a:solidFill>
                <a:srgbClr val="000000"/>
              </a:solidFill>
              <a:latin typeface="+mj-ea"/>
              <a:ea typeface="+mj-ea"/>
            </a:endParaRPr>
          </a:p>
          <a:p>
            <a:pPr algn="ctr" defTabSz="844083" latinLnBrk="0">
              <a:defRPr lang="ko-KR" altLang="en-US"/>
            </a:pPr>
            <a:r>
              <a:rPr lang="en-US" altLang="ko-KR" sz="1100" b="1" spc="5" dirty="0">
                <a:solidFill>
                  <a:srgbClr val="000000"/>
                </a:solidFill>
                <a:latin typeface="+mj-ea"/>
                <a:ea typeface="+mj-ea"/>
              </a:rPr>
              <a:t>/</a:t>
            </a:r>
            <a:r>
              <a:rPr lang="ko-KR" altLang="en-US" sz="1100" b="1" spc="5" dirty="0">
                <a:solidFill>
                  <a:srgbClr val="000000"/>
                </a:solidFill>
                <a:latin typeface="+mj-ea"/>
                <a:ea typeface="+mj-ea"/>
              </a:rPr>
              <a:t>커뮤니케이션</a:t>
            </a:r>
          </a:p>
          <a:p>
            <a:pPr algn="ctr" defTabSz="844083" latinLnBrk="0">
              <a:defRPr lang="ko-KR" altLang="en-US"/>
            </a:pPr>
            <a:r>
              <a:rPr lang="en-US" altLang="ko-KR" sz="1400" b="1" spc="5" dirty="0">
                <a:solidFill>
                  <a:srgbClr val="000000"/>
                </a:solidFill>
                <a:latin typeface="+mj-ea"/>
                <a:ea typeface="+mj-ea"/>
              </a:rPr>
              <a:t>(Promotion)</a:t>
            </a:r>
            <a:endParaRPr lang="ko-KR" altLang="en-US" sz="1400" b="1" spc="5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26" name="McK Footnote">
            <a:extLst>
              <a:ext uri="{FF2B5EF4-FFF2-40B4-BE49-F238E27FC236}">
                <a16:creationId xmlns:a16="http://schemas.microsoft.com/office/drawing/2014/main" id="{E5F5C91E-E15F-CDE7-8335-14AE3496C4BF}"/>
              </a:ext>
            </a:extLst>
          </p:cNvPr>
          <p:cNvSpPr txBox="1">
            <a:spLocks noChangeArrowheads="1"/>
          </p:cNvSpPr>
          <p:nvPr/>
        </p:nvSpPr>
        <p:spPr>
          <a:xfrm>
            <a:off x="4395088" y="6114402"/>
            <a:ext cx="5822652" cy="2462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spAutoFit/>
          </a:bodyPr>
          <a:lstStyle/>
          <a:p>
            <a:pPr lvl="0">
              <a:defRPr lang="ko-KR" altLang="en-US"/>
            </a:pPr>
            <a:r>
              <a:rPr lang="ko-KR" altLang="en-US" sz="1600" dirty="0">
                <a:solidFill>
                  <a:srgbClr val="000000"/>
                </a:solidFill>
                <a:latin typeface="+mj-ea"/>
                <a:ea typeface="+mj-ea"/>
              </a:rPr>
              <a:t>* 가치제안 </a:t>
            </a:r>
            <a:r>
              <a:rPr lang="en-US" altLang="ko-KR" sz="1600" dirty="0">
                <a:solidFill>
                  <a:srgbClr val="000000"/>
                </a:solidFill>
                <a:latin typeface="+mj-ea"/>
                <a:ea typeface="+mj-ea"/>
              </a:rPr>
              <a:t>: </a:t>
            </a:r>
            <a:r>
              <a:rPr lang="ko-KR" altLang="en-US" sz="1600" b="1" dirty="0">
                <a:latin typeface="+mj-ea"/>
                <a:ea typeface="+mj-ea"/>
              </a:rPr>
              <a:t>소비자가 쉽게 기억할 수 있도록</a:t>
            </a:r>
            <a:r>
              <a:rPr lang="en-US" altLang="ko-KR" sz="1600" b="1" dirty="0">
                <a:latin typeface="+mj-ea"/>
                <a:ea typeface="+mj-ea"/>
              </a:rPr>
              <a:t>,</a:t>
            </a:r>
            <a:r>
              <a:rPr lang="ko-KR" altLang="en-US" sz="1600" b="1" dirty="0">
                <a:latin typeface="+mj-ea"/>
                <a:ea typeface="+mj-ea"/>
              </a:rPr>
              <a:t> 한 문장으로 </a:t>
            </a:r>
            <a:r>
              <a:rPr lang="en-US" altLang="ko-KR" sz="1600" b="1" dirty="0">
                <a:latin typeface="+mj-ea"/>
                <a:ea typeface="+mj-ea"/>
              </a:rPr>
              <a:t>!</a:t>
            </a:r>
            <a:endParaRPr lang="en-US" altLang="ko-KR" sz="160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6AF0F4D-15BC-1DE3-797D-0FC9D693F680}"/>
              </a:ext>
            </a:extLst>
          </p:cNvPr>
          <p:cNvSpPr/>
          <p:nvPr/>
        </p:nvSpPr>
        <p:spPr>
          <a:xfrm>
            <a:off x="2459316" y="328390"/>
            <a:ext cx="4278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28600" indent="-228600">
              <a:defRPr lang="ko-KR" altLang="en-US"/>
            </a:pPr>
            <a:r>
              <a:rPr lang="en-US" altLang="ko-KR" b="1" dirty="0">
                <a:solidFill>
                  <a:schemeClr val="bg1"/>
                </a:solidFill>
                <a:latin typeface="+mj-ea"/>
                <a:ea typeface="+mj-ea"/>
              </a:rPr>
              <a:t>I. </a:t>
            </a:r>
            <a:r>
              <a:rPr lang="ko-KR" altLang="en-US" b="1" dirty="0">
                <a:solidFill>
                  <a:schemeClr val="bg1"/>
                </a:solidFill>
                <a:latin typeface="+mj-ea"/>
                <a:ea typeface="+mj-ea"/>
              </a:rPr>
              <a:t>마케팅 이란</a:t>
            </a:r>
            <a:r>
              <a:rPr lang="en-US" altLang="ko-KR" b="1" dirty="0">
                <a:solidFill>
                  <a:schemeClr val="bg1"/>
                </a:solidFill>
                <a:latin typeface="+mj-ea"/>
                <a:ea typeface="+mj-ea"/>
              </a:rPr>
              <a:t>?  </a:t>
            </a:r>
            <a:r>
              <a:rPr lang="ko-KR" altLang="en-US" b="1" dirty="0">
                <a:solidFill>
                  <a:schemeClr val="bg1"/>
                </a:solidFill>
                <a:latin typeface="+mj-ea"/>
                <a:ea typeface="+mj-ea"/>
              </a:rPr>
              <a:t> 환경분석</a:t>
            </a:r>
            <a:r>
              <a:rPr lang="en-US" altLang="ko-KR" b="1" dirty="0">
                <a:solidFill>
                  <a:schemeClr val="bg1"/>
                </a:solidFill>
                <a:latin typeface="+mj-ea"/>
                <a:ea typeface="+mj-ea"/>
              </a:rPr>
              <a:t>/ </a:t>
            </a:r>
            <a:r>
              <a:rPr lang="ko-KR" altLang="en-US" b="1" dirty="0">
                <a:solidFill>
                  <a:schemeClr val="bg1"/>
                </a:solidFill>
                <a:latin typeface="+mj-ea"/>
                <a:ea typeface="+mj-ea"/>
              </a:rPr>
              <a:t>전략</a:t>
            </a:r>
            <a:r>
              <a:rPr lang="en-US" altLang="ko-KR" b="1" dirty="0">
                <a:solidFill>
                  <a:schemeClr val="bg1"/>
                </a:solidFill>
                <a:latin typeface="+mj-ea"/>
                <a:ea typeface="+mj-ea"/>
              </a:rPr>
              <a:t>/ </a:t>
            </a:r>
            <a:r>
              <a:rPr lang="ko-KR" altLang="en-US" b="1" dirty="0">
                <a:solidFill>
                  <a:schemeClr val="bg1"/>
                </a:solidFill>
                <a:latin typeface="+mj-ea"/>
                <a:ea typeface="+mj-ea"/>
              </a:rPr>
              <a:t>전술</a:t>
            </a:r>
            <a:r>
              <a:rPr lang="ko-KR" altLang="en-US" b="1" dirty="0">
                <a:latin typeface="+mj-ea"/>
                <a:ea typeface="+mj-ea"/>
              </a:rPr>
              <a:t> </a:t>
            </a:r>
          </a:p>
        </p:txBody>
      </p:sp>
      <p:sp>
        <p:nvSpPr>
          <p:cNvPr id="29" name="正方形/長方形 2">
            <a:extLst>
              <a:ext uri="{FF2B5EF4-FFF2-40B4-BE49-F238E27FC236}">
                <a16:creationId xmlns:a16="http://schemas.microsoft.com/office/drawing/2014/main" id="{593D35F5-80E9-8286-41E6-C9EAE153A084}"/>
              </a:ext>
            </a:extLst>
          </p:cNvPr>
          <p:cNvSpPr/>
          <p:nvPr/>
        </p:nvSpPr>
        <p:spPr>
          <a:xfrm>
            <a:off x="3934036" y="1682165"/>
            <a:ext cx="451454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44083" latinLnBrk="0">
              <a:buSzPct val="120000"/>
              <a:defRPr lang="ko-KR" altLang="en-US"/>
            </a:pPr>
            <a:r>
              <a:rPr lang="ko-KR" altLang="en-US" sz="2800" b="1" spc="5" dirty="0">
                <a:latin typeface="+mj-ea"/>
              </a:rPr>
              <a:t>환경조사</a:t>
            </a:r>
            <a:r>
              <a:rPr lang="en-US" altLang="ko-KR" b="1" spc="5" dirty="0">
                <a:latin typeface="+mj-ea"/>
              </a:rPr>
              <a:t>(3C,SWOT</a:t>
            </a:r>
            <a:r>
              <a:rPr lang="ko-KR" altLang="en-US" b="1" spc="5" dirty="0">
                <a:latin typeface="+mj-ea"/>
              </a:rPr>
              <a:t>분석 </a:t>
            </a:r>
            <a:r>
              <a:rPr lang="en-US" altLang="ko-KR" b="1" spc="5" dirty="0">
                <a:latin typeface="+mj-ea"/>
              </a:rPr>
              <a:t>PEST</a:t>
            </a:r>
            <a:r>
              <a:rPr lang="ko-KR" altLang="en-US" b="1" spc="5" dirty="0">
                <a:latin typeface="+mj-ea"/>
              </a:rPr>
              <a:t>등</a:t>
            </a:r>
            <a:r>
              <a:rPr lang="en-US" altLang="ko-KR" b="1" spc="5" dirty="0">
                <a:latin typeface="+mj-ea"/>
              </a:rPr>
              <a:t>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3BDE413-6BF5-AF9C-FD86-13A21896E2CE}"/>
              </a:ext>
            </a:extLst>
          </p:cNvPr>
          <p:cNvSpPr txBox="1"/>
          <p:nvPr/>
        </p:nvSpPr>
        <p:spPr>
          <a:xfrm>
            <a:off x="4552806" y="2270676"/>
            <a:ext cx="24532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Company (</a:t>
            </a: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자사분석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br>
              <a:rPr lang="ko-KR" altLang="en-US" sz="1200" b="1" dirty="0"/>
            </a:b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Competitor (</a:t>
            </a: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경쟁자분석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br>
              <a:rPr lang="ko-KR" altLang="en-US" sz="1200" b="1" dirty="0"/>
            </a:b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Customer (</a:t>
            </a: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고객분석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12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86FE60C-F670-B822-32E7-E3E7C61FCF99}"/>
              </a:ext>
            </a:extLst>
          </p:cNvPr>
          <p:cNvSpPr txBox="1"/>
          <p:nvPr/>
        </p:nvSpPr>
        <p:spPr>
          <a:xfrm>
            <a:off x="6559559" y="2209510"/>
            <a:ext cx="17391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Strength</a:t>
            </a:r>
            <a:br>
              <a:rPr lang="en-US" altLang="ko-KR" sz="1200" b="1" dirty="0"/>
            </a:b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Weakness</a:t>
            </a:r>
            <a:br>
              <a:rPr lang="en-US" altLang="ko-KR" sz="1200" b="1" dirty="0"/>
            </a:b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Opportunity</a:t>
            </a:r>
            <a:br>
              <a:rPr lang="en-US" altLang="ko-KR" sz="1200" b="1" dirty="0"/>
            </a:b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(4) Threat</a:t>
            </a:r>
            <a:endParaRPr lang="ko-KR" altLang="en-US" sz="12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F3BF4A2-3DC0-98EC-A2CE-6D2E595E808C}"/>
              </a:ext>
            </a:extLst>
          </p:cNvPr>
          <p:cNvSpPr txBox="1"/>
          <p:nvPr/>
        </p:nvSpPr>
        <p:spPr>
          <a:xfrm>
            <a:off x="7926951" y="2191977"/>
            <a:ext cx="289621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solidFill>
                  <a:srgbClr val="202122"/>
                </a:solidFill>
                <a:latin typeface="Arial" panose="020B0604020202020204" pitchFamily="34" charset="0"/>
              </a:rPr>
              <a:t>거시환경분석</a:t>
            </a:r>
            <a:r>
              <a:rPr lang="en-US" altLang="ko-KR" sz="1200" b="1" dirty="0">
                <a:solidFill>
                  <a:srgbClr val="202122"/>
                </a:solidFill>
                <a:latin typeface="Arial" panose="020B0604020202020204" pitchFamily="34" charset="0"/>
              </a:rPr>
              <a:t>(PEST)</a:t>
            </a:r>
          </a:p>
          <a:p>
            <a:r>
              <a:rPr lang="en-US" altLang="ko-KR" sz="1200" b="1" dirty="0">
                <a:solidFill>
                  <a:srgbClr val="202122"/>
                </a:solidFill>
                <a:latin typeface="Arial" panose="020B0604020202020204" pitchFamily="34" charset="0"/>
              </a:rPr>
              <a:t>(1) Political  </a:t>
            </a:r>
          </a:p>
          <a:p>
            <a:r>
              <a:rPr lang="en-US" altLang="ko-KR" sz="1200" b="1" dirty="0">
                <a:solidFill>
                  <a:srgbClr val="202122"/>
                </a:solidFill>
                <a:latin typeface="Arial" panose="020B0604020202020204" pitchFamily="34" charset="0"/>
              </a:rPr>
              <a:t>(2) Economic </a:t>
            </a:r>
          </a:p>
          <a:p>
            <a:r>
              <a:rPr lang="en-US" altLang="ko-KR" sz="1200" b="1" dirty="0">
                <a:solidFill>
                  <a:srgbClr val="202122"/>
                </a:solidFill>
                <a:latin typeface="Arial" panose="020B0604020202020204" pitchFamily="34" charset="0"/>
              </a:rPr>
              <a:t>(3) Social and Technological analysis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7959746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/>
          <p:cNvSpPr/>
          <p:nvPr/>
        </p:nvSpPr>
        <p:spPr>
          <a:xfrm>
            <a:off x="0" y="20680"/>
            <a:ext cx="12192000" cy="82296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440072" y="370442"/>
            <a:ext cx="11288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solidFill>
                  <a:schemeClr val="bg1"/>
                </a:solidFill>
              </a:rPr>
              <a:t>화이트보드</a:t>
            </a:r>
            <a:r>
              <a:rPr lang="en-US" altLang="ko-KR" sz="1400" b="1" dirty="0">
                <a:solidFill>
                  <a:schemeClr val="bg1"/>
                </a:solidFill>
              </a:rPr>
              <a:t>.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272" b="39044"/>
          <a:stretch/>
        </p:blipFill>
        <p:spPr>
          <a:xfrm>
            <a:off x="10823170" y="303768"/>
            <a:ext cx="1035682" cy="317816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8C8BCC-9B3C-436A-8B0B-0575A6F5C9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72207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F6AA6B2-6183-4738-8678-7A7A0DC3667B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9F4ACC3-E623-4002-B719-C0C3D6938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8334" y="292234"/>
            <a:ext cx="1191208" cy="362745"/>
          </a:xfrm>
          <a:prstGeom prst="rect">
            <a:avLst/>
          </a:prstGeom>
        </p:spPr>
      </p:pic>
      <p:grpSp>
        <p:nvGrpSpPr>
          <p:cNvPr id="10" name="グループ 17" descr="手順 1 を示す 1 の番号が振られた小さい円">
            <a:extLst>
              <a:ext uri="{FF2B5EF4-FFF2-40B4-BE49-F238E27FC236}">
                <a16:creationId xmlns:a16="http://schemas.microsoft.com/office/drawing/2014/main" id="{E53F90F2-5615-4CFA-9B44-0252ED0E19B5}"/>
              </a:ext>
            </a:extLst>
          </p:cNvPr>
          <p:cNvGrpSpPr/>
          <p:nvPr/>
        </p:nvGrpSpPr>
        <p:grpSpPr bwMode="blackWhite">
          <a:xfrm>
            <a:off x="440072" y="1497786"/>
            <a:ext cx="555697" cy="409838"/>
            <a:chOff x="6953426" y="711274"/>
            <a:chExt cx="558179" cy="409838"/>
          </a:xfrm>
        </p:grpSpPr>
        <p:sp>
          <p:nvSpPr>
            <p:cNvPr id="11" name="円/楕円 18" descr="小さい円">
              <a:extLst>
                <a:ext uri="{FF2B5EF4-FFF2-40B4-BE49-F238E27FC236}">
                  <a16:creationId xmlns:a16="http://schemas.microsoft.com/office/drawing/2014/main" id="{0BC2953F-2C67-4761-BFF7-AD060ABABBCF}"/>
                </a:ext>
              </a:extLst>
            </p:cNvPr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2" name="テキスト ボックス 19" descr="番号 1">
              <a:extLst>
                <a:ext uri="{FF2B5EF4-FFF2-40B4-BE49-F238E27FC236}">
                  <a16:creationId xmlns:a16="http://schemas.microsoft.com/office/drawing/2014/main" id="{8803B0E4-D024-4CEC-9324-B0CF265B0325}"/>
                </a:ext>
              </a:extLst>
            </p:cNvPr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ja-JP">
                  <a:solidFill>
                    <a:schemeClr val="bg1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Segoe UI Semibold" panose="020B0702040204020203" pitchFamily="34" charset="0"/>
                </a:rPr>
                <a:t>1</a:t>
              </a:r>
              <a:endParaRPr lang="ja-JP" altLang="en-US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Segoe UI Semibold" panose="020B0702040204020203" pitchFamily="34" charset="0"/>
              </a:endParaRPr>
            </a:p>
          </p:txBody>
        </p:sp>
      </p:grpSp>
      <p:grpSp>
        <p:nvGrpSpPr>
          <p:cNvPr id="13" name="グループ 32" descr="手順 2 を示す 2 の番号が振られた小さい円">
            <a:extLst>
              <a:ext uri="{FF2B5EF4-FFF2-40B4-BE49-F238E27FC236}">
                <a16:creationId xmlns:a16="http://schemas.microsoft.com/office/drawing/2014/main" id="{DCD65CB6-1273-4C8E-9296-360474EFA201}"/>
              </a:ext>
            </a:extLst>
          </p:cNvPr>
          <p:cNvGrpSpPr/>
          <p:nvPr/>
        </p:nvGrpSpPr>
        <p:grpSpPr bwMode="blackWhite">
          <a:xfrm>
            <a:off x="440072" y="3085113"/>
            <a:ext cx="555697" cy="409838"/>
            <a:chOff x="6953426" y="711274"/>
            <a:chExt cx="558179" cy="409838"/>
          </a:xfrm>
        </p:grpSpPr>
        <p:sp>
          <p:nvSpPr>
            <p:cNvPr id="14" name="円/楕円 33" descr="小さい円">
              <a:extLst>
                <a:ext uri="{FF2B5EF4-FFF2-40B4-BE49-F238E27FC236}">
                  <a16:creationId xmlns:a16="http://schemas.microsoft.com/office/drawing/2014/main" id="{053D56F7-627C-46CA-A8EF-1936D21FBAD9}"/>
                </a:ext>
              </a:extLst>
            </p:cNvPr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5" name="テキスト ボックス 34" descr="番号 2">
              <a:extLst>
                <a:ext uri="{FF2B5EF4-FFF2-40B4-BE49-F238E27FC236}">
                  <a16:creationId xmlns:a16="http://schemas.microsoft.com/office/drawing/2014/main" id="{1EE532CF-DC38-4B17-863B-86110D71B3E1}"/>
                </a:ext>
              </a:extLst>
            </p:cNvPr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ja-JP" dirty="0">
                  <a:solidFill>
                    <a:schemeClr val="bg1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Segoe UI Semibold" panose="020B0702040204020203" pitchFamily="34" charset="0"/>
                </a:rPr>
                <a:t>2</a:t>
              </a:r>
              <a:endParaRPr lang="ja-JP" altLang="en-US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Segoe UI Semibold" panose="020B0702040204020203" pitchFamily="34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47CFCA8-10B8-8C49-E269-BBFB293E6D07}"/>
              </a:ext>
            </a:extLst>
          </p:cNvPr>
          <p:cNvSpPr txBox="1"/>
          <p:nvPr/>
        </p:nvSpPr>
        <p:spPr>
          <a:xfrm>
            <a:off x="1186250" y="1498630"/>
            <a:ext cx="8187842" cy="10567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b="1" dirty="0">
                <a:latin typeface="+mj-lt"/>
                <a:ea typeface="Meiryo UI" panose="020B0604030504040204" pitchFamily="50" charset="-128"/>
                <a:cs typeface="Segoe UI" panose="020B0502040204020203" pitchFamily="34" charset="0"/>
              </a:rPr>
              <a:t>-  </a:t>
            </a:r>
            <a:r>
              <a:rPr lang="ko-KR" altLang="en-US" b="1" dirty="0">
                <a:latin typeface="+mj-lt"/>
                <a:ea typeface="Meiryo UI" panose="020B0604030504040204" pitchFamily="50" charset="-128"/>
                <a:cs typeface="Segoe UI" panose="020B0502040204020203" pitchFamily="34" charset="0"/>
              </a:rPr>
              <a:t>마케팅전공의 필수과목 </a:t>
            </a:r>
            <a:r>
              <a:rPr lang="en-US" altLang="ko-KR" b="1" dirty="0">
                <a:latin typeface="+mj-lt"/>
                <a:ea typeface="Meiryo UI" panose="020B0604030504040204" pitchFamily="50" charset="-128"/>
                <a:cs typeface="Segoe UI" panose="020B0502040204020203" pitchFamily="34" charset="0"/>
              </a:rPr>
              <a:t>: 1) </a:t>
            </a:r>
            <a:r>
              <a:rPr lang="ko-KR" altLang="en-US" b="1" dirty="0">
                <a:latin typeface="+mj-lt"/>
                <a:ea typeface="Meiryo UI" panose="020B0604030504040204" pitchFamily="50" charset="-128"/>
                <a:cs typeface="Segoe UI" panose="020B0502040204020203" pitchFamily="34" charset="0"/>
              </a:rPr>
              <a:t>마케팅 관리론</a:t>
            </a:r>
            <a:r>
              <a:rPr lang="en-US" altLang="ko-KR" b="1" spc="-150" dirty="0">
                <a:solidFill>
                  <a:schemeClr val="tx2">
                    <a:lumMod val="50000"/>
                  </a:schemeClr>
                </a:solidFill>
                <a:latin typeface="+mj-lt"/>
                <a:ea typeface="+mj-ea"/>
              </a:rPr>
              <a:t>,</a:t>
            </a:r>
          </a:p>
          <a:p>
            <a:pPr>
              <a:lnSpc>
                <a:spcPct val="120000"/>
              </a:lnSpc>
            </a:pPr>
            <a:r>
              <a:rPr lang="en-US" altLang="ko-KR" b="1" spc="-150" dirty="0">
                <a:solidFill>
                  <a:schemeClr val="tx2">
                    <a:lumMod val="50000"/>
                  </a:schemeClr>
                </a:solidFill>
                <a:latin typeface="+mj-lt"/>
                <a:ea typeface="+mj-ea"/>
              </a:rPr>
              <a:t>                                              2) </a:t>
            </a:r>
            <a:r>
              <a:rPr lang="ko-KR" altLang="en-US" b="1" dirty="0">
                <a:latin typeface="+mj-lt"/>
                <a:ea typeface="Meiryo UI" panose="020B0604030504040204" pitchFamily="50" charset="-128"/>
                <a:cs typeface="Segoe UI" panose="020B0502040204020203" pitchFamily="34" charset="0"/>
              </a:rPr>
              <a:t>소비자 행동</a:t>
            </a:r>
            <a:r>
              <a:rPr lang="en-US" altLang="ko-KR" b="1" dirty="0">
                <a:latin typeface="+mj-lt"/>
                <a:ea typeface="Meiryo UI" panose="020B0604030504040204" pitchFamily="50" charset="-128"/>
                <a:cs typeface="Segoe UI" panose="020B0502040204020203" pitchFamily="34" charset="0"/>
              </a:rPr>
              <a:t>,</a:t>
            </a:r>
          </a:p>
          <a:p>
            <a:pPr>
              <a:lnSpc>
                <a:spcPct val="120000"/>
              </a:lnSpc>
            </a:pPr>
            <a:r>
              <a:rPr lang="en-US" altLang="ko-KR" b="1" dirty="0">
                <a:latin typeface="+mj-lt"/>
                <a:ea typeface="Meiryo UI" panose="020B0604030504040204" pitchFamily="50" charset="-128"/>
                <a:cs typeface="Segoe UI" panose="020B0502040204020203" pitchFamily="34" charset="0"/>
              </a:rPr>
              <a:t>                                   3) </a:t>
            </a:r>
            <a:r>
              <a:rPr lang="ko-KR" altLang="en-US" b="1" dirty="0">
                <a:latin typeface="+mj-lt"/>
                <a:ea typeface="Meiryo UI" panose="020B0604030504040204" pitchFamily="50" charset="-128"/>
                <a:cs typeface="Segoe UI" panose="020B0502040204020203" pitchFamily="34" charset="0"/>
              </a:rPr>
              <a:t>시장 조사론</a:t>
            </a:r>
            <a:endParaRPr lang="en-US" altLang="ko-KR" b="1" spc="-150" dirty="0">
              <a:solidFill>
                <a:schemeClr val="tx2">
                  <a:lumMod val="50000"/>
                </a:schemeClr>
              </a:solidFill>
              <a:latin typeface="+mj-lt"/>
              <a:ea typeface="+mj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71689A-3DA4-208F-096B-E5A6D0982668}"/>
              </a:ext>
            </a:extLst>
          </p:cNvPr>
          <p:cNvSpPr txBox="1"/>
          <p:nvPr/>
        </p:nvSpPr>
        <p:spPr>
          <a:xfrm>
            <a:off x="1186250" y="3055518"/>
            <a:ext cx="8187842" cy="724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Tx/>
              <a:buChar char="-"/>
            </a:pPr>
            <a:r>
              <a:rPr lang="ko-KR" altLang="en-US" b="1" dirty="0">
                <a:latin typeface="+mj-lt"/>
                <a:ea typeface="Meiryo UI" panose="020B0604030504040204" pitchFamily="50" charset="-128"/>
                <a:cs typeface="Segoe UI" panose="020B0502040204020203" pitchFamily="34" charset="0"/>
              </a:rPr>
              <a:t>환경조사 </a:t>
            </a:r>
            <a:r>
              <a:rPr lang="en-US" altLang="ko-KR" b="1" dirty="0">
                <a:latin typeface="+mj-lt"/>
                <a:ea typeface="Meiryo UI" panose="020B0604030504040204" pitchFamily="50" charset="-128"/>
                <a:cs typeface="Segoe UI" panose="020B0502040204020203" pitchFamily="34" charset="0"/>
              </a:rPr>
              <a:t>-&gt; </a:t>
            </a:r>
            <a:r>
              <a:rPr lang="ko-KR" altLang="en-US" b="1" dirty="0">
                <a:latin typeface="+mj-lt"/>
                <a:ea typeface="Meiryo UI" panose="020B0604030504040204" pitchFamily="50" charset="-128"/>
                <a:cs typeface="Segoe UI" panose="020B0502040204020203" pitchFamily="34" charset="0"/>
              </a:rPr>
              <a:t>기업의 </a:t>
            </a:r>
            <a:r>
              <a:rPr lang="en-US" altLang="ko-KR" b="1" dirty="0">
                <a:latin typeface="+mj-lt"/>
                <a:ea typeface="Meiryo UI" panose="020B0604030504040204" pitchFamily="50" charset="-128"/>
                <a:cs typeface="Segoe UI" panose="020B0502040204020203" pitchFamily="34" charset="0"/>
              </a:rPr>
              <a:t>[</a:t>
            </a:r>
            <a:r>
              <a:rPr lang="ko-KR" altLang="en-US" b="1" dirty="0">
                <a:latin typeface="+mj-lt"/>
                <a:ea typeface="Meiryo UI" panose="020B0604030504040204" pitchFamily="50" charset="-128"/>
                <a:cs typeface="Segoe UI" panose="020B0502040204020203" pitchFamily="34" charset="0"/>
              </a:rPr>
              <a:t>목표</a:t>
            </a:r>
            <a:r>
              <a:rPr lang="en-US" altLang="ko-KR" b="1" dirty="0">
                <a:latin typeface="+mj-lt"/>
                <a:ea typeface="Meiryo UI" panose="020B0604030504040204" pitchFamily="50" charset="-128"/>
                <a:cs typeface="Segoe UI" panose="020B0502040204020203" pitchFamily="34" charset="0"/>
              </a:rPr>
              <a:t>, Mission, Vision]</a:t>
            </a:r>
            <a:r>
              <a:rPr lang="ko-KR" altLang="en-US" b="1" dirty="0">
                <a:latin typeface="+mj-lt"/>
                <a:ea typeface="Meiryo UI" panose="020B0604030504040204" pitchFamily="50" charset="-128"/>
                <a:cs typeface="Segoe UI" panose="020B0502040204020203" pitchFamily="34" charset="0"/>
              </a:rPr>
              <a:t> </a:t>
            </a:r>
            <a:endParaRPr lang="en-US" altLang="ko-KR" b="1" dirty="0">
              <a:latin typeface="+mj-lt"/>
              <a:ea typeface="Meiryo UI" panose="020B0604030504040204" pitchFamily="50" charset="-128"/>
              <a:cs typeface="Segoe UI" panose="020B0502040204020203" pitchFamily="34" charset="0"/>
            </a:endParaRPr>
          </a:p>
          <a:p>
            <a:pPr marL="285750" indent="-285750">
              <a:lnSpc>
                <a:spcPct val="120000"/>
              </a:lnSpc>
              <a:buFontTx/>
              <a:buChar char="-"/>
            </a:pPr>
            <a:r>
              <a:rPr lang="en-US" altLang="ko-KR" b="1" spc="-150" dirty="0">
                <a:solidFill>
                  <a:schemeClr val="tx2">
                    <a:lumMod val="50000"/>
                  </a:schemeClr>
                </a:solidFill>
                <a:latin typeface="+mj-lt"/>
                <a:ea typeface="+mj-ea"/>
              </a:rPr>
              <a:t> SWOT,</a:t>
            </a:r>
            <a:r>
              <a:rPr lang="ko-KR" altLang="en-US" b="1" spc="-150" dirty="0">
                <a:solidFill>
                  <a:schemeClr val="tx2">
                    <a:lumMod val="50000"/>
                  </a:schemeClr>
                </a:solidFill>
                <a:latin typeface="+mj-lt"/>
                <a:ea typeface="+mj-ea"/>
              </a:rPr>
              <a:t> </a:t>
            </a:r>
            <a:r>
              <a:rPr lang="en-US" altLang="ko-KR" b="1" spc="-150" dirty="0">
                <a:solidFill>
                  <a:schemeClr val="tx2">
                    <a:lumMod val="50000"/>
                  </a:schemeClr>
                </a:solidFill>
                <a:latin typeface="+mj-lt"/>
                <a:ea typeface="+mj-ea"/>
              </a:rPr>
              <a:t>STP, 4P (7P)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C21FE2-BF4A-0D89-BA80-5365663AA0FC}"/>
              </a:ext>
            </a:extLst>
          </p:cNvPr>
          <p:cNvSpPr txBox="1"/>
          <p:nvPr/>
        </p:nvSpPr>
        <p:spPr>
          <a:xfrm>
            <a:off x="1245588" y="4582626"/>
            <a:ext cx="9361422" cy="391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b="1" dirty="0">
                <a:latin typeface="+mj-lt"/>
                <a:ea typeface="Meiryo UI" panose="020B0604030504040204" pitchFamily="50" charset="-128"/>
                <a:cs typeface="Segoe UI" panose="020B0502040204020203" pitchFamily="34" charset="0"/>
              </a:rPr>
              <a:t>1)Product, 2)Price, 3)Place, 4)Promotion, 5)People, 6)physical evidence, 7)Process</a:t>
            </a:r>
            <a:endParaRPr lang="en-US" altLang="ko-KR" b="1" spc="-150" dirty="0">
              <a:solidFill>
                <a:schemeClr val="tx2">
                  <a:lumMod val="50000"/>
                </a:schemeClr>
              </a:solidFill>
              <a:latin typeface="+mj-lt"/>
              <a:ea typeface="+mj-ea"/>
            </a:endParaRPr>
          </a:p>
        </p:txBody>
      </p:sp>
      <p:grpSp>
        <p:nvGrpSpPr>
          <p:cNvPr id="22" name="グループ 17" descr="手順 1 を示す 1 の番号が振られた小さい円">
            <a:extLst>
              <a:ext uri="{FF2B5EF4-FFF2-40B4-BE49-F238E27FC236}">
                <a16:creationId xmlns:a16="http://schemas.microsoft.com/office/drawing/2014/main" id="{09703A76-8705-C006-6C4A-E9D4F11A2405}"/>
              </a:ext>
            </a:extLst>
          </p:cNvPr>
          <p:cNvGrpSpPr/>
          <p:nvPr/>
        </p:nvGrpSpPr>
        <p:grpSpPr bwMode="blackWhite">
          <a:xfrm>
            <a:off x="440072" y="4630816"/>
            <a:ext cx="555697" cy="409838"/>
            <a:chOff x="6953426" y="711274"/>
            <a:chExt cx="558179" cy="409838"/>
          </a:xfrm>
        </p:grpSpPr>
        <p:sp>
          <p:nvSpPr>
            <p:cNvPr id="24" name="円/楕円 18" descr="小さい円">
              <a:extLst>
                <a:ext uri="{FF2B5EF4-FFF2-40B4-BE49-F238E27FC236}">
                  <a16:creationId xmlns:a16="http://schemas.microsoft.com/office/drawing/2014/main" id="{287D22D9-B864-18C5-D417-BFBDC792E817}"/>
                </a:ext>
              </a:extLst>
            </p:cNvPr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5" name="テキスト ボックス 19" descr="番号 1">
              <a:extLst>
                <a:ext uri="{FF2B5EF4-FFF2-40B4-BE49-F238E27FC236}">
                  <a16:creationId xmlns:a16="http://schemas.microsoft.com/office/drawing/2014/main" id="{F41211EB-EC42-7FC2-C99E-1BD20FB27C31}"/>
                </a:ext>
              </a:extLst>
            </p:cNvPr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en-US" altLang="ja-JP" dirty="0">
                  <a:solidFill>
                    <a:schemeClr val="bg1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Segoe UI Semibold" panose="020B0702040204020203" pitchFamily="34" charset="0"/>
                </a:rPr>
                <a:t>3</a:t>
              </a:r>
              <a:endParaRPr lang="ja-JP" altLang="en-US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Segoe UI Semibold" panose="020B07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5656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53"/>
    </mc:Choice>
    <mc:Fallback xmlns="">
      <p:transition spd="slow" advTm="1253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A2057525-CE22-4143-B1AE-8736EF0479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4065" y="492780"/>
            <a:ext cx="2286000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A4D347C7-E047-4373-B48B-B06F3E99FD6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4714274"/>
            <a:ext cx="10926337" cy="1638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1">
            <a:extLst>
              <a:ext uri="{FF2B5EF4-FFF2-40B4-BE49-F238E27FC236}">
                <a16:creationId xmlns:a16="http://schemas.microsoft.com/office/drawing/2014/main" id="{31BB2DAC-ECAC-4A35-A522-76426D891BD2}"/>
              </a:ext>
            </a:extLst>
          </p:cNvPr>
          <p:cNvSpPr txBox="1"/>
          <p:nvPr/>
        </p:nvSpPr>
        <p:spPr>
          <a:xfrm>
            <a:off x="4288204" y="3344929"/>
            <a:ext cx="327636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/>
              <a:t>감사합니다</a:t>
            </a:r>
            <a:endParaRPr lang="en-US" altLang="ko-KR" sz="4800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22962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2074</TotalTime>
  <Words>1840</Words>
  <Application>Microsoft Office PowerPoint</Application>
  <PresentationFormat>와이드스크린</PresentationFormat>
  <Paragraphs>237</Paragraphs>
  <Slides>24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7" baseType="lpstr">
      <vt:lpstr>Meiryo UI</vt:lpstr>
      <vt:lpstr>나눔고딕</vt:lpstr>
      <vt:lpstr>돋움</vt:lpstr>
      <vt:lpstr>돋움</vt:lpstr>
      <vt:lpstr>Malgun Gothic</vt:lpstr>
      <vt:lpstr>Malgun Gothic</vt:lpstr>
      <vt:lpstr>명조</vt:lpstr>
      <vt:lpstr>휴먼둥근헤드라인</vt:lpstr>
      <vt:lpstr>Arial</vt:lpstr>
      <vt:lpstr>Elephant</vt:lpstr>
      <vt:lpstr>Roboto</vt:lpstr>
      <vt:lpstr>Wingdings</vt:lpstr>
      <vt:lpstr>Office テーマ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강의 교재 </vt:lpstr>
      <vt:lpstr>강의 교재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과목명</vt:lpstr>
      <vt:lpstr>25년도 2학기 향후 강의 및 발표 일정 (11기 2번째학기)</vt:lpstr>
      <vt:lpstr> 강의 안내 종료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제8주차 [중간고사]</dc:title>
  <dc:creator>Park Heung-Jin</dc:creator>
  <cp:lastModifiedBy>박흥진</cp:lastModifiedBy>
  <cp:revision>67</cp:revision>
  <dcterms:created xsi:type="dcterms:W3CDTF">2020-05-08T23:52:06Z</dcterms:created>
  <dcterms:modified xsi:type="dcterms:W3CDTF">2025-09-06T07:15:33Z</dcterms:modified>
</cp:coreProperties>
</file>